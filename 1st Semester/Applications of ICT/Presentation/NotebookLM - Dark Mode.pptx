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72" r:id="rId3"/>
    <p:sldId id="268" r:id="rId4"/>
    <p:sldId id="259" r:id="rId5"/>
    <p:sldId id="260" r:id="rId6"/>
    <p:sldId id="271" r:id="rId7"/>
    <p:sldId id="269" r:id="rId8"/>
    <p:sldId id="270" r:id="rId9"/>
    <p:sldId id="262" r:id="rId10"/>
    <p:sldId id="273" r:id="rId11"/>
    <p:sldId id="258" r:id="rId12"/>
    <p:sldId id="274" r:id="rId13"/>
  </p:sldIdLst>
  <p:sldSz cx="12192000" cy="6858000"/>
  <p:notesSz cx="6858000" cy="9144000"/>
  <p:embeddedFontLst>
    <p:embeddedFont>
      <p:font typeface="Inter" panose="020B0604020202020204" charset="0"/>
      <p:regular r:id="rId15"/>
      <p:bold r:id="rId16"/>
      <p:italic r:id="rId17"/>
      <p:boldItalic r:id="rId18"/>
    </p:embeddedFont>
    <p:embeddedFont>
      <p:font typeface="Plus Jakarta San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AFC"/>
    <a:srgbClr val="1E293B"/>
    <a:srgbClr val="E9ECEF"/>
    <a:srgbClr val="122A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9FA4C2-6E9A-493B-A453-D5510C844055}">
  <a:tblStyle styleId="{009FA4C2-6E9A-493B-A453-D5510C84405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65" d="100"/>
          <a:sy n="65" d="100"/>
        </p:scale>
        <p:origin x="59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26BB5DB-F940-483B-4E1C-C975A5EB1954}"/>
            </a:ext>
          </a:extLst>
        </p:cNvPr>
        <p:cNvGrpSpPr/>
        <p:nvPr/>
      </p:nvGrpSpPr>
      <p:grpSpPr>
        <a:xfrm>
          <a:off x="0" y="0"/>
          <a:ext cx="0" cy="0"/>
          <a:chOff x="0" y="0"/>
          <a:chExt cx="0" cy="0"/>
        </a:xfrm>
      </p:grpSpPr>
      <p:sp>
        <p:nvSpPr>
          <p:cNvPr id="127" name="Google Shape;127;p4:notes">
            <a:extLst>
              <a:ext uri="{FF2B5EF4-FFF2-40B4-BE49-F238E27FC236}">
                <a16:creationId xmlns:a16="http://schemas.microsoft.com/office/drawing/2014/main" id="{71930D2B-4CCE-F565-60B9-F282C37A4E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8" name="Google Shape;128;p4:notes">
            <a:extLst>
              <a:ext uri="{FF2B5EF4-FFF2-40B4-BE49-F238E27FC236}">
                <a16:creationId xmlns:a16="http://schemas.microsoft.com/office/drawing/2014/main" id="{97305023-9509-70EA-2AE9-F52D423494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85063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000CE97-0640-AC81-4BC1-DE83A47726C2}"/>
            </a:ext>
          </a:extLst>
        </p:cNvPr>
        <p:cNvGrpSpPr/>
        <p:nvPr/>
      </p:nvGrpSpPr>
      <p:grpSpPr>
        <a:xfrm>
          <a:off x="0" y="0"/>
          <a:ext cx="0" cy="0"/>
          <a:chOff x="0" y="0"/>
          <a:chExt cx="0" cy="0"/>
        </a:xfrm>
      </p:grpSpPr>
      <p:sp>
        <p:nvSpPr>
          <p:cNvPr id="127" name="Google Shape;127;p4:notes">
            <a:extLst>
              <a:ext uri="{FF2B5EF4-FFF2-40B4-BE49-F238E27FC236}">
                <a16:creationId xmlns:a16="http://schemas.microsoft.com/office/drawing/2014/main" id="{A1C44D72-3B67-9667-8066-4FC39DC812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8" name="Google Shape;128;p4:notes">
            <a:extLst>
              <a:ext uri="{FF2B5EF4-FFF2-40B4-BE49-F238E27FC236}">
                <a16:creationId xmlns:a16="http://schemas.microsoft.com/office/drawing/2014/main" id="{B3AACB05-6F48-8407-9984-CB8B81914F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06716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DD98E10C-E4AE-F546-02AE-AE355A577E22}"/>
            </a:ext>
          </a:extLst>
        </p:cNvPr>
        <p:cNvGrpSpPr/>
        <p:nvPr/>
      </p:nvGrpSpPr>
      <p:grpSpPr>
        <a:xfrm>
          <a:off x="0" y="0"/>
          <a:ext cx="0" cy="0"/>
          <a:chOff x="0" y="0"/>
          <a:chExt cx="0" cy="0"/>
        </a:xfrm>
      </p:grpSpPr>
      <p:sp>
        <p:nvSpPr>
          <p:cNvPr id="152" name="Google Shape;152;p5:notes">
            <a:extLst>
              <a:ext uri="{FF2B5EF4-FFF2-40B4-BE49-F238E27FC236}">
                <a16:creationId xmlns:a16="http://schemas.microsoft.com/office/drawing/2014/main" id="{22FAC181-24BB-B9F2-9B5E-A9635291F6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a:extLst>
              <a:ext uri="{FF2B5EF4-FFF2-40B4-BE49-F238E27FC236}">
                <a16:creationId xmlns:a16="http://schemas.microsoft.com/office/drawing/2014/main" id="{99C5BB5B-D8CA-AD1E-5444-5A366C1F8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79299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1E3290AD-35C6-6989-D01E-2114C87DEAF5}"/>
            </a:ext>
          </a:extLst>
        </p:cNvPr>
        <p:cNvGrpSpPr/>
        <p:nvPr/>
      </p:nvGrpSpPr>
      <p:grpSpPr>
        <a:xfrm>
          <a:off x="0" y="0"/>
          <a:ext cx="0" cy="0"/>
          <a:chOff x="0" y="0"/>
          <a:chExt cx="0" cy="0"/>
        </a:xfrm>
      </p:grpSpPr>
      <p:sp>
        <p:nvSpPr>
          <p:cNvPr id="152" name="Google Shape;152;p5:notes">
            <a:extLst>
              <a:ext uri="{FF2B5EF4-FFF2-40B4-BE49-F238E27FC236}">
                <a16:creationId xmlns:a16="http://schemas.microsoft.com/office/drawing/2014/main" id="{A93454AD-8759-3602-3DD9-352283058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a:extLst>
              <a:ext uri="{FF2B5EF4-FFF2-40B4-BE49-F238E27FC236}">
                <a16:creationId xmlns:a16="http://schemas.microsoft.com/office/drawing/2014/main" id="{C54A2968-59B2-A363-4356-59FBF65C59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698880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4FD3DD69-0BEA-D70F-E468-CA902834C628}"/>
            </a:ext>
          </a:extLst>
        </p:cNvPr>
        <p:cNvGrpSpPr/>
        <p:nvPr/>
      </p:nvGrpSpPr>
      <p:grpSpPr>
        <a:xfrm>
          <a:off x="0" y="0"/>
          <a:ext cx="0" cy="0"/>
          <a:chOff x="0" y="0"/>
          <a:chExt cx="0" cy="0"/>
        </a:xfrm>
      </p:grpSpPr>
      <p:sp>
        <p:nvSpPr>
          <p:cNvPr id="152" name="Google Shape;152;p5:notes">
            <a:extLst>
              <a:ext uri="{FF2B5EF4-FFF2-40B4-BE49-F238E27FC236}">
                <a16:creationId xmlns:a16="http://schemas.microsoft.com/office/drawing/2014/main" id="{2D50610D-76A4-D6B3-C90F-A5CDF3EAD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a:extLst>
              <a:ext uri="{FF2B5EF4-FFF2-40B4-BE49-F238E27FC236}">
                <a16:creationId xmlns:a16="http://schemas.microsoft.com/office/drawing/2014/main" id="{C380971D-EF62-98BC-3E0D-D37C38D36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04122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F8210003-47E1-04F7-CA09-1DFAA65D4466}"/>
            </a:ext>
          </a:extLst>
        </p:cNvPr>
        <p:cNvGrpSpPr/>
        <p:nvPr/>
      </p:nvGrpSpPr>
      <p:grpSpPr>
        <a:xfrm>
          <a:off x="0" y="0"/>
          <a:ext cx="0" cy="0"/>
          <a:chOff x="0" y="0"/>
          <a:chExt cx="0" cy="0"/>
        </a:xfrm>
      </p:grpSpPr>
      <p:sp>
        <p:nvSpPr>
          <p:cNvPr id="191" name="Google Shape;191;p7:notes">
            <a:extLst>
              <a:ext uri="{FF2B5EF4-FFF2-40B4-BE49-F238E27FC236}">
                <a16:creationId xmlns:a16="http://schemas.microsoft.com/office/drawing/2014/main" id="{FF1A0A80-0B89-2F76-1638-81F8F08EF7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a:extLst>
              <a:ext uri="{FF2B5EF4-FFF2-40B4-BE49-F238E27FC236}">
                <a16:creationId xmlns:a16="http://schemas.microsoft.com/office/drawing/2014/main" id="{6DD89305-D4EE-C9B4-749E-29961B98DB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22914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3E280995-4FF0-C182-7A5A-87553E656365}"/>
            </a:ext>
          </a:extLst>
        </p:cNvPr>
        <p:cNvGrpSpPr/>
        <p:nvPr/>
      </p:nvGrpSpPr>
      <p:grpSpPr>
        <a:xfrm>
          <a:off x="0" y="0"/>
          <a:ext cx="0" cy="0"/>
          <a:chOff x="0" y="0"/>
          <a:chExt cx="0" cy="0"/>
        </a:xfrm>
      </p:grpSpPr>
      <p:sp>
        <p:nvSpPr>
          <p:cNvPr id="108" name="Google Shape;108;p3:notes">
            <a:extLst>
              <a:ext uri="{FF2B5EF4-FFF2-40B4-BE49-F238E27FC236}">
                <a16:creationId xmlns:a16="http://schemas.microsoft.com/office/drawing/2014/main" id="{481E2DD2-1B27-4483-8E6E-DB83A85DCE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9" name="Google Shape;109;p3:notes">
            <a:extLst>
              <a:ext uri="{FF2B5EF4-FFF2-40B4-BE49-F238E27FC236}">
                <a16:creationId xmlns:a16="http://schemas.microsoft.com/office/drawing/2014/main" id="{FCB83261-830A-8887-0F0F-6FD6C8FB83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6654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9.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grpSp>
        <p:nvGrpSpPr>
          <p:cNvPr id="33" name="Group 32">
            <a:extLst>
              <a:ext uri="{FF2B5EF4-FFF2-40B4-BE49-F238E27FC236}">
                <a16:creationId xmlns:a16="http://schemas.microsoft.com/office/drawing/2014/main" id="{FC76267D-B5FD-3D45-CEA8-BE96E31B8D0A}"/>
              </a:ext>
            </a:extLst>
          </p:cNvPr>
          <p:cNvGrpSpPr/>
          <p:nvPr/>
        </p:nvGrpSpPr>
        <p:grpSpPr>
          <a:xfrm>
            <a:off x="390524" y="390525"/>
            <a:ext cx="5591177" cy="5112627"/>
            <a:chOff x="390524" y="390526"/>
            <a:chExt cx="5591177" cy="3200412"/>
          </a:xfrm>
        </p:grpSpPr>
        <p:sp>
          <p:nvSpPr>
            <p:cNvPr id="4" name="Rectangle: Rounded Corners 3">
              <a:extLst>
                <a:ext uri="{FF2B5EF4-FFF2-40B4-BE49-F238E27FC236}">
                  <a16:creationId xmlns:a16="http://schemas.microsoft.com/office/drawing/2014/main" id="{1EF7C30F-5BE8-8114-387C-8DDE3D9B199A}"/>
                </a:ext>
              </a:extLst>
            </p:cNvPr>
            <p:cNvSpPr/>
            <p:nvPr/>
          </p:nvSpPr>
          <p:spPr>
            <a:xfrm>
              <a:off x="390524" y="390526"/>
              <a:ext cx="5591177" cy="3200412"/>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87" name="Google Shape;87;p13"/>
            <p:cNvSpPr txBox="1"/>
            <p:nvPr/>
          </p:nvSpPr>
          <p:spPr>
            <a:xfrm>
              <a:off x="931071" y="1626374"/>
              <a:ext cx="4421766" cy="4623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NotebookLM</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88" name="Google Shape;88;p13"/>
            <p:cNvSpPr txBox="1"/>
            <p:nvPr/>
          </p:nvSpPr>
          <p:spPr>
            <a:xfrm>
              <a:off x="931070" y="2125066"/>
              <a:ext cx="5050631" cy="4765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94A3B8"/>
                  </a:solidFill>
                  <a:latin typeface="Calibri" panose="020F0502020204030204" pitchFamily="34" charset="0"/>
                  <a:ea typeface="Calibri" panose="020F0502020204030204" pitchFamily="34" charset="0"/>
                  <a:cs typeface="Calibri" panose="020F0502020204030204" pitchFamily="34" charset="0"/>
                  <a:sym typeface="Plus Jakarta Sans"/>
                </a:rPr>
                <a:t>The Future of Study</a:t>
              </a:r>
              <a:endParaRPr>
                <a:latin typeface="Calibri" panose="020F0502020204030204" pitchFamily="34" charset="0"/>
                <a:ea typeface="Calibri" panose="020F0502020204030204" pitchFamily="34" charset="0"/>
                <a:cs typeface="Calibri" panose="020F0502020204030204" pitchFamily="34" charset="0"/>
              </a:endParaRPr>
            </a:p>
          </p:txBody>
        </p:sp>
        <p:pic>
          <p:nvPicPr>
            <p:cNvPr id="90" name="Google Shape;90;p13" descr="image.png"/>
            <p:cNvPicPr preferRelativeResize="0"/>
            <p:nvPr/>
          </p:nvPicPr>
          <p:blipFill rotWithShape="1">
            <a:blip r:embed="rId3">
              <a:alphaModFix/>
            </a:blip>
            <a:srcRect/>
            <a:stretch/>
          </p:blipFill>
          <p:spPr>
            <a:xfrm>
              <a:off x="931070" y="1007249"/>
              <a:ext cx="731520" cy="471915"/>
            </a:xfrm>
            <a:prstGeom prst="rect">
              <a:avLst/>
            </a:prstGeom>
            <a:noFill/>
            <a:ln>
              <a:noFill/>
            </a:ln>
          </p:spPr>
        </p:pic>
      </p:grpSp>
      <p:sp>
        <p:nvSpPr>
          <p:cNvPr id="5" name="Rectangle: Rounded Corners 4">
            <a:extLst>
              <a:ext uri="{FF2B5EF4-FFF2-40B4-BE49-F238E27FC236}">
                <a16:creationId xmlns:a16="http://schemas.microsoft.com/office/drawing/2014/main" id="{F5E9E35F-009A-4CBD-B981-627C5A0AEDE8}"/>
              </a:ext>
            </a:extLst>
          </p:cNvPr>
          <p:cNvSpPr/>
          <p:nvPr/>
        </p:nvSpPr>
        <p:spPr>
          <a:xfrm>
            <a:off x="6372227" y="453329"/>
            <a:ext cx="5591177" cy="91440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Calibri" panose="020F0502020204030204" pitchFamily="34" charset="0"/>
                <a:ea typeface="Calibri" panose="020F0502020204030204" pitchFamily="34" charset="0"/>
                <a:cs typeface="Calibri" panose="020F0502020204030204" pitchFamily="34" charset="0"/>
              </a:rPr>
              <a:t>Muhammad Aliyan</a:t>
            </a:r>
          </a:p>
          <a:p>
            <a:pPr algn="ctr"/>
            <a:r>
              <a:rPr lang="en-US" sz="1800" dirty="0">
                <a:latin typeface="Calibri" panose="020F0502020204030204" pitchFamily="34" charset="0"/>
                <a:ea typeface="Calibri" panose="020F0502020204030204" pitchFamily="34" charset="0"/>
                <a:cs typeface="Calibri" panose="020F0502020204030204" pitchFamily="34" charset="0"/>
              </a:rPr>
              <a:t>25021598-245</a:t>
            </a:r>
          </a:p>
        </p:txBody>
      </p:sp>
      <p:sp>
        <p:nvSpPr>
          <p:cNvPr id="8" name="Rectangle: Rounded Corners 7">
            <a:extLst>
              <a:ext uri="{FF2B5EF4-FFF2-40B4-BE49-F238E27FC236}">
                <a16:creationId xmlns:a16="http://schemas.microsoft.com/office/drawing/2014/main" id="{5865D2D3-83B3-8CAD-6972-205B9D0E40A2}"/>
              </a:ext>
            </a:extLst>
          </p:cNvPr>
          <p:cNvSpPr/>
          <p:nvPr/>
        </p:nvSpPr>
        <p:spPr>
          <a:xfrm>
            <a:off x="6372226" y="1467723"/>
            <a:ext cx="5591177" cy="91440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Calibri" panose="020F0502020204030204" pitchFamily="34" charset="0"/>
                <a:ea typeface="Calibri" panose="020F0502020204030204" pitchFamily="34" charset="0"/>
                <a:cs typeface="Calibri" panose="020F0502020204030204" pitchFamily="34" charset="0"/>
              </a:rPr>
              <a:t>Abdul Mateen</a:t>
            </a:r>
          </a:p>
          <a:p>
            <a:pPr algn="ctr"/>
            <a:r>
              <a:rPr lang="en-US" sz="1800" dirty="0">
                <a:latin typeface="Calibri" panose="020F0502020204030204" pitchFamily="34" charset="0"/>
                <a:ea typeface="Calibri" panose="020F0502020204030204" pitchFamily="34" charset="0"/>
                <a:cs typeface="Calibri" panose="020F0502020204030204" pitchFamily="34" charset="0"/>
              </a:rPr>
              <a:t>25021598-259</a:t>
            </a:r>
          </a:p>
        </p:txBody>
      </p:sp>
      <p:sp>
        <p:nvSpPr>
          <p:cNvPr id="9" name="Rectangle: Rounded Corners 8">
            <a:extLst>
              <a:ext uri="{FF2B5EF4-FFF2-40B4-BE49-F238E27FC236}">
                <a16:creationId xmlns:a16="http://schemas.microsoft.com/office/drawing/2014/main" id="{B35E0BAA-FDE0-E9F3-2974-0B1862F6F13B}"/>
              </a:ext>
            </a:extLst>
          </p:cNvPr>
          <p:cNvSpPr/>
          <p:nvPr/>
        </p:nvSpPr>
        <p:spPr>
          <a:xfrm>
            <a:off x="6357933" y="2482117"/>
            <a:ext cx="5591177" cy="91440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Calibri" panose="020F0502020204030204" pitchFamily="34" charset="0"/>
                <a:ea typeface="Calibri" panose="020F0502020204030204" pitchFamily="34" charset="0"/>
                <a:cs typeface="Calibri" panose="020F0502020204030204" pitchFamily="34" charset="0"/>
              </a:rPr>
              <a:t>Ghulam Meeran</a:t>
            </a:r>
          </a:p>
          <a:p>
            <a:pPr algn="ctr"/>
            <a:r>
              <a:rPr lang="en-US" sz="1800" dirty="0">
                <a:latin typeface="Calibri" panose="020F0502020204030204" pitchFamily="34" charset="0"/>
                <a:ea typeface="Calibri" panose="020F0502020204030204" pitchFamily="34" charset="0"/>
                <a:cs typeface="Calibri" panose="020F0502020204030204" pitchFamily="34" charset="0"/>
              </a:rPr>
              <a:t>25021598-191</a:t>
            </a:r>
          </a:p>
        </p:txBody>
      </p:sp>
      <p:sp>
        <p:nvSpPr>
          <p:cNvPr id="31" name="Rectangle: Rounded Corners 30">
            <a:extLst>
              <a:ext uri="{FF2B5EF4-FFF2-40B4-BE49-F238E27FC236}">
                <a16:creationId xmlns:a16="http://schemas.microsoft.com/office/drawing/2014/main" id="{42E8A4B9-E258-D16A-8F01-219CBD1FF5A5}"/>
              </a:ext>
            </a:extLst>
          </p:cNvPr>
          <p:cNvSpPr/>
          <p:nvPr/>
        </p:nvSpPr>
        <p:spPr>
          <a:xfrm>
            <a:off x="6357932" y="3535435"/>
            <a:ext cx="5591177" cy="91440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Calibri" panose="020F0502020204030204" pitchFamily="34" charset="0"/>
                <a:ea typeface="Calibri" panose="020F0502020204030204" pitchFamily="34" charset="0"/>
                <a:cs typeface="Calibri" panose="020F0502020204030204" pitchFamily="34" charset="0"/>
              </a:rPr>
              <a:t>Mobeen Hashmi</a:t>
            </a:r>
          </a:p>
          <a:p>
            <a:pPr algn="ctr"/>
            <a:r>
              <a:rPr lang="en-US" sz="1800" dirty="0">
                <a:latin typeface="Calibri" panose="020F0502020204030204" pitchFamily="34" charset="0"/>
                <a:ea typeface="Calibri" panose="020F0502020204030204" pitchFamily="34" charset="0"/>
                <a:cs typeface="Calibri" panose="020F0502020204030204" pitchFamily="34" charset="0"/>
              </a:rPr>
              <a:t>25021598-226</a:t>
            </a:r>
          </a:p>
        </p:txBody>
      </p:sp>
      <p:sp>
        <p:nvSpPr>
          <p:cNvPr id="3" name="Rectangle: Rounded Corners 2">
            <a:extLst>
              <a:ext uri="{FF2B5EF4-FFF2-40B4-BE49-F238E27FC236}">
                <a16:creationId xmlns:a16="http://schemas.microsoft.com/office/drawing/2014/main" id="{7F5B3042-0B4D-D71A-A689-BED044B75EA9}"/>
              </a:ext>
            </a:extLst>
          </p:cNvPr>
          <p:cNvSpPr/>
          <p:nvPr/>
        </p:nvSpPr>
        <p:spPr>
          <a:xfrm>
            <a:off x="6357932" y="4588753"/>
            <a:ext cx="5591177" cy="91440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Calibri" panose="020F0502020204030204" pitchFamily="34" charset="0"/>
                <a:ea typeface="Calibri" panose="020F0502020204030204" pitchFamily="34" charset="0"/>
                <a:cs typeface="Calibri" panose="020F0502020204030204" pitchFamily="34" charset="0"/>
              </a:rPr>
              <a:t>Section:</a:t>
            </a:r>
          </a:p>
          <a:p>
            <a:pPr algn="ctr"/>
            <a:r>
              <a:rPr lang="en-US" sz="1800" dirty="0">
                <a:latin typeface="Calibri" panose="020F0502020204030204" pitchFamily="34" charset="0"/>
                <a:ea typeface="Calibri" panose="020F0502020204030204" pitchFamily="34" charset="0"/>
                <a:cs typeface="Calibri" panose="020F0502020204030204" pitchFamily="34" charset="0"/>
              </a:rPr>
              <a:t>AB</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a:extLst>
            <a:ext uri="{FF2B5EF4-FFF2-40B4-BE49-F238E27FC236}">
              <a16:creationId xmlns:a16="http://schemas.microsoft.com/office/drawing/2014/main" id="{ADB6E1E9-A0FA-E749-3CA2-9AE070A1BC1A}"/>
            </a:ext>
          </a:extLst>
        </p:cNvPr>
        <p:cNvGrpSpPr/>
        <p:nvPr/>
      </p:nvGrpSpPr>
      <p:grpSpPr>
        <a:xfrm>
          <a:off x="0" y="0"/>
          <a:ext cx="0" cy="0"/>
          <a:chOff x="0" y="0"/>
          <a:chExt cx="0" cy="0"/>
        </a:xfrm>
      </p:grpSpPr>
      <p:sp>
        <p:nvSpPr>
          <p:cNvPr id="134" name="Google Shape;134;p16">
            <a:extLst>
              <a:ext uri="{FF2B5EF4-FFF2-40B4-BE49-F238E27FC236}">
                <a16:creationId xmlns:a16="http://schemas.microsoft.com/office/drawing/2014/main" id="{D0A3E1C1-F78C-1254-EB9C-2170CFA34D3B}"/>
              </a:ext>
            </a:extLst>
          </p:cNvPr>
          <p:cNvSpPr txBox="1"/>
          <p:nvPr/>
        </p:nvSpPr>
        <p:spPr>
          <a:xfrm>
            <a:off x="485775" y="332482"/>
            <a:ext cx="11706225" cy="553998"/>
          </a:xfrm>
          <a:prstGeom prst="rect">
            <a:avLst/>
          </a:prstGeom>
          <a:noFill/>
          <a:ln>
            <a:noFill/>
          </a:ln>
        </p:spPr>
        <p:txBody>
          <a:bodyPr spcFirstLastPara="1" wrap="square" lIns="0" tIns="0" rIns="0" bIns="0" anchor="t" anchorCtr="0">
            <a:spAutoFit/>
          </a:bodyPr>
          <a:lstStyle/>
          <a:p>
            <a:pPr lvl="0"/>
            <a:r>
              <a:rPr lang="en-US" sz="3600" b="1"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Meet NotebookLM</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grpSp>
        <p:nvGrpSpPr>
          <p:cNvPr id="31" name="Group 30">
            <a:extLst>
              <a:ext uri="{FF2B5EF4-FFF2-40B4-BE49-F238E27FC236}">
                <a16:creationId xmlns:a16="http://schemas.microsoft.com/office/drawing/2014/main" id="{728852E1-9E08-3D4E-66E6-BF046C4E3345}"/>
              </a:ext>
            </a:extLst>
          </p:cNvPr>
          <p:cNvGrpSpPr/>
          <p:nvPr/>
        </p:nvGrpSpPr>
        <p:grpSpPr>
          <a:xfrm>
            <a:off x="6332318" y="-2718413"/>
            <a:ext cx="5591175" cy="2548830"/>
            <a:chOff x="6189662" y="1199257"/>
            <a:chExt cx="5591175" cy="2548830"/>
          </a:xfrm>
        </p:grpSpPr>
        <p:sp>
          <p:nvSpPr>
            <p:cNvPr id="32" name="Rectangle: Rounded Corners 31">
              <a:extLst>
                <a:ext uri="{FF2B5EF4-FFF2-40B4-BE49-F238E27FC236}">
                  <a16:creationId xmlns:a16="http://schemas.microsoft.com/office/drawing/2014/main" id="{31319FA5-7898-FE51-6569-EECAE7D0F21E}"/>
                </a:ext>
              </a:extLst>
            </p:cNvPr>
            <p:cNvSpPr/>
            <p:nvPr/>
          </p:nvSpPr>
          <p:spPr>
            <a:xfrm>
              <a:off x="6189662"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33" name="Group 32">
              <a:extLst>
                <a:ext uri="{FF2B5EF4-FFF2-40B4-BE49-F238E27FC236}">
                  <a16:creationId xmlns:a16="http://schemas.microsoft.com/office/drawing/2014/main" id="{36647074-0721-EBA7-21B3-2B0D72BEDA6A}"/>
                </a:ext>
              </a:extLst>
            </p:cNvPr>
            <p:cNvGrpSpPr/>
            <p:nvPr/>
          </p:nvGrpSpPr>
          <p:grpSpPr>
            <a:xfrm>
              <a:off x="6505575" y="1618357"/>
              <a:ext cx="5000625" cy="1779222"/>
              <a:chOff x="6505575" y="1618357"/>
              <a:chExt cx="5000625" cy="1779222"/>
            </a:xfrm>
          </p:grpSpPr>
          <p:sp>
            <p:nvSpPr>
              <p:cNvPr id="35" name="Google Shape;139;p16">
                <a:extLst>
                  <a:ext uri="{FF2B5EF4-FFF2-40B4-BE49-F238E27FC236}">
                    <a16:creationId xmlns:a16="http://schemas.microsoft.com/office/drawing/2014/main" id="{CA9016C2-143C-A05F-806A-02F2EE804CF7}"/>
                  </a:ext>
                </a:extLst>
              </p:cNvPr>
              <p:cNvSpPr txBox="1"/>
              <p:nvPr/>
            </p:nvSpPr>
            <p:spPr>
              <a:xfrm>
                <a:off x="6505575" y="2161282"/>
                <a:ext cx="190836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Audio Overviews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6" name="Google Shape;140;p16">
                <a:extLst>
                  <a:ext uri="{FF2B5EF4-FFF2-40B4-BE49-F238E27FC236}">
                    <a16:creationId xmlns:a16="http://schemas.microsoft.com/office/drawing/2014/main" id="{88250ECC-550A-B261-2459-14395D966490}"/>
                  </a:ext>
                </a:extLst>
              </p:cNvPr>
              <p:cNvSpPr txBox="1"/>
              <p:nvPr/>
            </p:nvSpPr>
            <p:spPr>
              <a:xfrm>
                <a:off x="6505575" y="2732782"/>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CBD5E1"/>
                    </a:solidFill>
                    <a:latin typeface="Calibri" panose="020F0502020204030204" pitchFamily="34" charset="0"/>
                    <a:ea typeface="Calibri" panose="020F0502020204030204" pitchFamily="34" charset="0"/>
                    <a:cs typeface="Calibri" panose="020F0502020204030204" pitchFamily="34" charset="0"/>
                    <a:sym typeface="Inter"/>
                  </a:rPr>
                  <a:t>Generates a realistic "podcast" discussion between two AI hosts about your specific notes.</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37" name="Google Shape;148;p16" descr="image.png">
                <a:extLst>
                  <a:ext uri="{FF2B5EF4-FFF2-40B4-BE49-F238E27FC236}">
                    <a16:creationId xmlns:a16="http://schemas.microsoft.com/office/drawing/2014/main" id="{601F2320-944B-C602-115F-C1A14542AD25}"/>
                  </a:ext>
                </a:extLst>
              </p:cNvPr>
              <p:cNvPicPr preferRelativeResize="0"/>
              <p:nvPr/>
            </p:nvPicPr>
            <p:blipFill rotWithShape="1">
              <a:blip r:embed="rId3">
                <a:alphaModFix/>
              </a:blip>
              <a:srcRect/>
              <a:stretch/>
            </p:blipFill>
            <p:spPr>
              <a:xfrm>
                <a:off x="6629400" y="1618357"/>
                <a:ext cx="228600" cy="228600"/>
              </a:xfrm>
              <a:prstGeom prst="rect">
                <a:avLst/>
              </a:prstGeom>
              <a:noFill/>
              <a:ln>
                <a:noFill/>
              </a:ln>
            </p:spPr>
          </p:pic>
        </p:grpSp>
      </p:grpSp>
      <p:grpSp>
        <p:nvGrpSpPr>
          <p:cNvPr id="45" name="Group 44">
            <a:extLst>
              <a:ext uri="{FF2B5EF4-FFF2-40B4-BE49-F238E27FC236}">
                <a16:creationId xmlns:a16="http://schemas.microsoft.com/office/drawing/2014/main" id="{9AD3FBE5-7BB7-8484-90FF-41DD5B4FC79E}"/>
              </a:ext>
            </a:extLst>
          </p:cNvPr>
          <p:cNvGrpSpPr/>
          <p:nvPr/>
        </p:nvGrpSpPr>
        <p:grpSpPr>
          <a:xfrm>
            <a:off x="390523" y="-6288519"/>
            <a:ext cx="5591177" cy="6067425"/>
            <a:chOff x="390524" y="390525"/>
            <a:chExt cx="5591177" cy="6067425"/>
          </a:xfrm>
        </p:grpSpPr>
        <p:sp>
          <p:nvSpPr>
            <p:cNvPr id="46" name="Rectangle: Rounded Corners 45">
              <a:extLst>
                <a:ext uri="{FF2B5EF4-FFF2-40B4-BE49-F238E27FC236}">
                  <a16:creationId xmlns:a16="http://schemas.microsoft.com/office/drawing/2014/main" id="{08D89BA6-0B5D-0289-8DC8-2CB798C03977}"/>
                </a:ext>
              </a:extLst>
            </p:cNvPr>
            <p:cNvSpPr/>
            <p:nvPr/>
          </p:nvSpPr>
          <p:spPr>
            <a:xfrm>
              <a:off x="390524" y="390525"/>
              <a:ext cx="5591177" cy="6067425"/>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7" name="Google Shape;87;p13">
              <a:extLst>
                <a:ext uri="{FF2B5EF4-FFF2-40B4-BE49-F238E27FC236}">
                  <a16:creationId xmlns:a16="http://schemas.microsoft.com/office/drawing/2014/main" id="{E89C3A09-4C26-0915-5607-64985553D785}"/>
                </a:ext>
              </a:extLst>
            </p:cNvPr>
            <p:cNvSpPr txBox="1"/>
            <p:nvPr/>
          </p:nvSpPr>
          <p:spPr>
            <a:xfrm>
              <a:off x="781050" y="2629792"/>
              <a:ext cx="5050631"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NotebookLM</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48" name="Google Shape;88;p13">
              <a:extLst>
                <a:ext uri="{FF2B5EF4-FFF2-40B4-BE49-F238E27FC236}">
                  <a16:creationId xmlns:a16="http://schemas.microsoft.com/office/drawing/2014/main" id="{4BD712D9-608F-0691-1D19-639FF1F37044}"/>
                </a:ext>
              </a:extLst>
            </p:cNvPr>
            <p:cNvSpPr txBox="1"/>
            <p:nvPr/>
          </p:nvSpPr>
          <p:spPr>
            <a:xfrm>
              <a:off x="781050" y="3487042"/>
              <a:ext cx="505063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94A3B8"/>
                  </a:solidFill>
                  <a:latin typeface="Calibri" panose="020F0502020204030204" pitchFamily="34" charset="0"/>
                  <a:ea typeface="Calibri" panose="020F0502020204030204" pitchFamily="34" charset="0"/>
                  <a:cs typeface="Calibri" panose="020F0502020204030204" pitchFamily="34" charset="0"/>
                  <a:sym typeface="Plus Jakarta Sans"/>
                </a:rPr>
                <a:t>The Future of Study</a:t>
              </a:r>
              <a:endParaRPr>
                <a:latin typeface="Calibri" panose="020F0502020204030204" pitchFamily="34" charset="0"/>
                <a:ea typeface="Calibri" panose="020F0502020204030204" pitchFamily="34" charset="0"/>
                <a:cs typeface="Calibri" panose="020F0502020204030204" pitchFamily="34" charset="0"/>
              </a:endParaRPr>
            </a:p>
          </p:txBody>
        </p:sp>
        <p:pic>
          <p:nvPicPr>
            <p:cNvPr id="49" name="Google Shape;90;p13" descr="image.png">
              <a:extLst>
                <a:ext uri="{FF2B5EF4-FFF2-40B4-BE49-F238E27FC236}">
                  <a16:creationId xmlns:a16="http://schemas.microsoft.com/office/drawing/2014/main" id="{3464D18C-D543-5879-98E2-89D3FBDE7B46}"/>
                </a:ext>
              </a:extLst>
            </p:cNvPr>
            <p:cNvPicPr preferRelativeResize="0"/>
            <p:nvPr/>
          </p:nvPicPr>
          <p:blipFill rotWithShape="1">
            <a:blip r:embed="rId4">
              <a:alphaModFix/>
            </a:blip>
            <a:srcRect/>
            <a:stretch/>
          </p:blipFill>
          <p:spPr>
            <a:xfrm>
              <a:off x="781050" y="2010667"/>
              <a:ext cx="381000" cy="381000"/>
            </a:xfrm>
            <a:prstGeom prst="rect">
              <a:avLst/>
            </a:prstGeom>
            <a:noFill/>
            <a:ln>
              <a:noFill/>
            </a:ln>
          </p:spPr>
        </p:pic>
      </p:grpSp>
      <p:grpSp>
        <p:nvGrpSpPr>
          <p:cNvPr id="7" name="Group 6">
            <a:extLst>
              <a:ext uri="{FF2B5EF4-FFF2-40B4-BE49-F238E27FC236}">
                <a16:creationId xmlns:a16="http://schemas.microsoft.com/office/drawing/2014/main" id="{04E844F9-8CCD-8714-BD08-9512C238F7E4}"/>
              </a:ext>
            </a:extLst>
          </p:cNvPr>
          <p:cNvGrpSpPr/>
          <p:nvPr/>
        </p:nvGrpSpPr>
        <p:grpSpPr>
          <a:xfrm>
            <a:off x="390525" y="1199257"/>
            <a:ext cx="5591175" cy="2548830"/>
            <a:chOff x="390525" y="1199257"/>
            <a:chExt cx="5591175" cy="2548830"/>
          </a:xfrm>
        </p:grpSpPr>
        <p:grpSp>
          <p:nvGrpSpPr>
            <p:cNvPr id="13" name="Group 12">
              <a:extLst>
                <a:ext uri="{FF2B5EF4-FFF2-40B4-BE49-F238E27FC236}">
                  <a16:creationId xmlns:a16="http://schemas.microsoft.com/office/drawing/2014/main" id="{4DD6F1F5-896C-609E-2922-F8C7ABFC328F}"/>
                </a:ext>
              </a:extLst>
            </p:cNvPr>
            <p:cNvGrpSpPr/>
            <p:nvPr/>
          </p:nvGrpSpPr>
          <p:grpSpPr>
            <a:xfrm>
              <a:off x="390525" y="1199257"/>
              <a:ext cx="5591175" cy="2548830"/>
              <a:chOff x="390525" y="1199257"/>
              <a:chExt cx="5591175" cy="2548830"/>
            </a:xfrm>
          </p:grpSpPr>
          <p:sp>
            <p:nvSpPr>
              <p:cNvPr id="12" name="Rectangle: Rounded Corners 11">
                <a:extLst>
                  <a:ext uri="{FF2B5EF4-FFF2-40B4-BE49-F238E27FC236}">
                    <a16:creationId xmlns:a16="http://schemas.microsoft.com/office/drawing/2014/main" id="{B2A88421-4BA6-3E1A-CF55-9654F722C265}"/>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7" name="Google Shape;137;p16">
                <a:extLst>
                  <a:ext uri="{FF2B5EF4-FFF2-40B4-BE49-F238E27FC236}">
                    <a16:creationId xmlns:a16="http://schemas.microsoft.com/office/drawing/2014/main" id="{574F3C00-2D87-6FAE-3E03-96DC65B760E3}"/>
                  </a:ext>
                </a:extLst>
              </p:cNvPr>
              <p:cNvSpPr txBox="1"/>
              <p:nvPr/>
            </p:nvSpPr>
            <p:spPr>
              <a:xfrm>
                <a:off x="781049" y="1650988"/>
                <a:ext cx="5000625" cy="20682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GB"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NotebookLM is an AI-powered research and note-taking assistant developed by Google.</a:t>
                </a:r>
              </a:p>
              <a:p>
                <a:pPr marL="0" marR="0" lvl="0" indent="0" algn="l" rtl="0">
                  <a:lnSpc>
                    <a:spcPct val="160000"/>
                  </a:lnSpc>
                  <a:spcBef>
                    <a:spcPts val="0"/>
                  </a:spcBef>
                  <a:spcAft>
                    <a:spcPts val="0"/>
                  </a:spcAft>
                  <a:buNone/>
                </a:pPr>
                <a:r>
                  <a:rPr lang="en-GB"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The Core Tech: </a:t>
                </a:r>
                <a:r>
                  <a:rPr lang="en-GB"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Unlike standard ChatGPT (which looks at the whole internet), NotebookLM uses RAG (Retrieval-Augmented Generation). This means it creates a "closed" AI model that only knows the information you upload to it</a:t>
                </a:r>
              </a:p>
            </p:txBody>
          </p:sp>
        </p:grpSp>
        <p:sp>
          <p:nvSpPr>
            <p:cNvPr id="6" name="Google Shape;139;p16">
              <a:extLst>
                <a:ext uri="{FF2B5EF4-FFF2-40B4-BE49-F238E27FC236}">
                  <a16:creationId xmlns:a16="http://schemas.microsoft.com/office/drawing/2014/main" id="{B42CB254-92BB-E872-7810-E51B6ED3AF01}"/>
                </a:ext>
              </a:extLst>
            </p:cNvPr>
            <p:cNvSpPr txBox="1"/>
            <p:nvPr/>
          </p:nvSpPr>
          <p:spPr>
            <a:xfrm>
              <a:off x="781049" y="1335478"/>
              <a:ext cx="190836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What is the tool?</a:t>
              </a:r>
              <a:endParaRPr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41" name="Group 40">
            <a:extLst>
              <a:ext uri="{FF2B5EF4-FFF2-40B4-BE49-F238E27FC236}">
                <a16:creationId xmlns:a16="http://schemas.microsoft.com/office/drawing/2014/main" id="{7E3D106A-63A1-9C4F-DC4F-F62F8C576A99}"/>
              </a:ext>
            </a:extLst>
          </p:cNvPr>
          <p:cNvGrpSpPr/>
          <p:nvPr/>
        </p:nvGrpSpPr>
        <p:grpSpPr>
          <a:xfrm>
            <a:off x="6233030" y="1199257"/>
            <a:ext cx="5591175" cy="2548830"/>
            <a:chOff x="390525" y="1199257"/>
            <a:chExt cx="5591175" cy="2548830"/>
          </a:xfrm>
        </p:grpSpPr>
        <p:grpSp>
          <p:nvGrpSpPr>
            <p:cNvPr id="42" name="Group 41">
              <a:extLst>
                <a:ext uri="{FF2B5EF4-FFF2-40B4-BE49-F238E27FC236}">
                  <a16:creationId xmlns:a16="http://schemas.microsoft.com/office/drawing/2014/main" id="{716C6B09-ED16-EA61-514C-ABF25E31B454}"/>
                </a:ext>
              </a:extLst>
            </p:cNvPr>
            <p:cNvGrpSpPr/>
            <p:nvPr/>
          </p:nvGrpSpPr>
          <p:grpSpPr>
            <a:xfrm>
              <a:off x="390525" y="1199257"/>
              <a:ext cx="5591175" cy="2548830"/>
              <a:chOff x="390525" y="1199257"/>
              <a:chExt cx="5591175" cy="2548830"/>
            </a:xfrm>
          </p:grpSpPr>
          <p:sp>
            <p:nvSpPr>
              <p:cNvPr id="44" name="Rectangle: Rounded Corners 43">
                <a:extLst>
                  <a:ext uri="{FF2B5EF4-FFF2-40B4-BE49-F238E27FC236}">
                    <a16:creationId xmlns:a16="http://schemas.microsoft.com/office/drawing/2014/main" id="{FBF49CD7-54E2-CF13-5262-78682532C05F}"/>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0" name="Google Shape;137;p16">
                <a:extLst>
                  <a:ext uri="{FF2B5EF4-FFF2-40B4-BE49-F238E27FC236}">
                    <a16:creationId xmlns:a16="http://schemas.microsoft.com/office/drawing/2014/main" id="{7DD95F9B-19B0-CA6D-B855-FC6856F7C47F}"/>
                  </a:ext>
                </a:extLst>
              </p:cNvPr>
              <p:cNvSpPr txBox="1"/>
              <p:nvPr/>
            </p:nvSpPr>
            <p:spPr>
              <a:xfrm>
                <a:off x="781049" y="1650988"/>
                <a:ext cx="500062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GB"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It was created by Google Labs, the experimental arm of Google responsible for testing forward-thinking AI ideas.</a:t>
                </a:r>
              </a:p>
            </p:txBody>
          </p:sp>
        </p:grpSp>
        <p:sp>
          <p:nvSpPr>
            <p:cNvPr id="43" name="Google Shape;139;p16">
              <a:extLst>
                <a:ext uri="{FF2B5EF4-FFF2-40B4-BE49-F238E27FC236}">
                  <a16:creationId xmlns:a16="http://schemas.microsoft.com/office/drawing/2014/main" id="{8358CD43-0FCA-960B-E9E5-CA2649D6C85A}"/>
                </a:ext>
              </a:extLst>
            </p:cNvPr>
            <p:cNvSpPr txBox="1"/>
            <p:nvPr/>
          </p:nvSpPr>
          <p:spPr>
            <a:xfrm>
              <a:off x="781049" y="1335478"/>
              <a:ext cx="190836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Who Created It?</a:t>
              </a:r>
              <a:endParaRPr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51" name="Group 50">
            <a:extLst>
              <a:ext uri="{FF2B5EF4-FFF2-40B4-BE49-F238E27FC236}">
                <a16:creationId xmlns:a16="http://schemas.microsoft.com/office/drawing/2014/main" id="{763CFB3B-1C37-7508-8562-3E4125DC3900}"/>
              </a:ext>
            </a:extLst>
          </p:cNvPr>
          <p:cNvGrpSpPr/>
          <p:nvPr/>
        </p:nvGrpSpPr>
        <p:grpSpPr>
          <a:xfrm>
            <a:off x="390525" y="3983652"/>
            <a:ext cx="11433680" cy="2656490"/>
            <a:chOff x="390525" y="1199257"/>
            <a:chExt cx="5591175" cy="2548830"/>
          </a:xfrm>
        </p:grpSpPr>
        <p:sp>
          <p:nvSpPr>
            <p:cNvPr id="54" name="Rectangle: Rounded Corners 53">
              <a:extLst>
                <a:ext uri="{FF2B5EF4-FFF2-40B4-BE49-F238E27FC236}">
                  <a16:creationId xmlns:a16="http://schemas.microsoft.com/office/drawing/2014/main" id="{4668EC35-CD4A-59D3-62AC-1F2A938DAEA3}"/>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3" name="Google Shape;139;p16">
              <a:extLst>
                <a:ext uri="{FF2B5EF4-FFF2-40B4-BE49-F238E27FC236}">
                  <a16:creationId xmlns:a16="http://schemas.microsoft.com/office/drawing/2014/main" id="{4D6A03CA-B958-05CB-5E29-331A39D31DB0}"/>
                </a:ext>
              </a:extLst>
            </p:cNvPr>
            <p:cNvSpPr txBox="1"/>
            <p:nvPr/>
          </p:nvSpPr>
          <p:spPr>
            <a:xfrm>
              <a:off x="560520" y="1321640"/>
              <a:ext cx="1908363" cy="26577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What Problem Does </a:t>
              </a:r>
              <a:r>
                <a:rPr lang="en-US" sz="1800" b="1"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It Solve?</a:t>
              </a:r>
              <a:endParaRPr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132" name="Group 131">
            <a:extLst>
              <a:ext uri="{FF2B5EF4-FFF2-40B4-BE49-F238E27FC236}">
                <a16:creationId xmlns:a16="http://schemas.microsoft.com/office/drawing/2014/main" id="{5EBC9779-2EBE-8288-60C8-8DDFBD092AAE}"/>
              </a:ext>
            </a:extLst>
          </p:cNvPr>
          <p:cNvGrpSpPr/>
          <p:nvPr/>
        </p:nvGrpSpPr>
        <p:grpSpPr>
          <a:xfrm>
            <a:off x="390523" y="6954467"/>
            <a:ext cx="5591175" cy="2548830"/>
            <a:chOff x="390525" y="1199257"/>
            <a:chExt cx="5591175" cy="2548830"/>
          </a:xfrm>
        </p:grpSpPr>
        <p:grpSp>
          <p:nvGrpSpPr>
            <p:cNvPr id="133" name="Group 132">
              <a:extLst>
                <a:ext uri="{FF2B5EF4-FFF2-40B4-BE49-F238E27FC236}">
                  <a16:creationId xmlns:a16="http://schemas.microsoft.com/office/drawing/2014/main" id="{4FBC1078-AD72-75D6-BC02-49C573C1FE8F}"/>
                </a:ext>
              </a:extLst>
            </p:cNvPr>
            <p:cNvGrpSpPr/>
            <p:nvPr/>
          </p:nvGrpSpPr>
          <p:grpSpPr>
            <a:xfrm>
              <a:off x="390525" y="1199257"/>
              <a:ext cx="5591175" cy="2548830"/>
              <a:chOff x="390525" y="1199257"/>
              <a:chExt cx="5591175" cy="2548830"/>
            </a:xfrm>
          </p:grpSpPr>
          <p:sp>
            <p:nvSpPr>
              <p:cNvPr id="138" name="Rectangle: Rounded Corners 137">
                <a:extLst>
                  <a:ext uri="{FF2B5EF4-FFF2-40B4-BE49-F238E27FC236}">
                    <a16:creationId xmlns:a16="http://schemas.microsoft.com/office/drawing/2014/main" id="{B068CB6D-17B0-03FD-A20B-0449309DD70C}"/>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1" name="Google Shape;136;p16">
                <a:extLst>
                  <a:ext uri="{FF2B5EF4-FFF2-40B4-BE49-F238E27FC236}">
                    <a16:creationId xmlns:a16="http://schemas.microsoft.com/office/drawing/2014/main" id="{82E506F1-00D0-7904-98D1-879A636AB862}"/>
                  </a:ext>
                </a:extLst>
              </p:cNvPr>
              <p:cNvSpPr txBox="1"/>
              <p:nvPr/>
            </p:nvSpPr>
            <p:spPr>
              <a:xfrm>
                <a:off x="685800" y="2161282"/>
                <a:ext cx="454660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Cognitive Gap</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2" name="Google Shape;137;p16">
                <a:extLst>
                  <a:ext uri="{FF2B5EF4-FFF2-40B4-BE49-F238E27FC236}">
                    <a16:creationId xmlns:a16="http://schemas.microsoft.com/office/drawing/2014/main" id="{D9115C76-8140-A664-9738-CD2A285AE24F}"/>
                  </a:ext>
                </a:extLst>
              </p:cNvPr>
              <p:cNvSpPr txBox="1"/>
              <p:nvPr/>
            </p:nvSpPr>
            <p:spPr>
              <a:xfrm>
                <a:off x="685800" y="2439118"/>
                <a:ext cx="5000625"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CBD5E1"/>
                    </a:solidFill>
                    <a:latin typeface="Calibri" panose="020F0502020204030204" pitchFamily="34" charset="0"/>
                    <a:ea typeface="Calibri" panose="020F0502020204030204" pitchFamily="34" charset="0"/>
                    <a:cs typeface="Calibri" panose="020F0502020204030204" pitchFamily="34" charset="0"/>
                    <a:sym typeface="Inter"/>
                  </a:rPr>
                  <a:t>Every Student have their own way of understanding; Some can understand what is said by just hearing while some need some type of visual aid to understand.</a:t>
                </a:r>
                <a:endParaRPr dirty="0">
                  <a:latin typeface="Calibri" panose="020F0502020204030204" pitchFamily="34" charset="0"/>
                  <a:ea typeface="Calibri" panose="020F0502020204030204" pitchFamily="34" charset="0"/>
                  <a:cs typeface="Calibri" panose="020F0502020204030204" pitchFamily="34" charset="0"/>
                </a:endParaRPr>
              </a:p>
            </p:txBody>
          </p:sp>
        </p:grpSp>
        <p:pic>
          <p:nvPicPr>
            <p:cNvPr id="135" name="Google Shape;147;p16" descr="image.png">
              <a:extLst>
                <a:ext uri="{FF2B5EF4-FFF2-40B4-BE49-F238E27FC236}">
                  <a16:creationId xmlns:a16="http://schemas.microsoft.com/office/drawing/2014/main" id="{0739D6C1-EF13-690D-8087-C3D57AE63DF2}"/>
                </a:ext>
              </a:extLst>
            </p:cNvPr>
            <p:cNvPicPr preferRelativeResize="0"/>
            <p:nvPr/>
          </p:nvPicPr>
          <p:blipFill rotWithShape="1">
            <a:blip r:embed="rId5">
              <a:alphaModFix/>
            </a:blip>
            <a:srcRect/>
            <a:stretch/>
          </p:blipFill>
          <p:spPr>
            <a:xfrm>
              <a:off x="823912" y="1618357"/>
              <a:ext cx="200025" cy="228600"/>
            </a:xfrm>
            <a:prstGeom prst="rect">
              <a:avLst/>
            </a:prstGeom>
            <a:noFill/>
            <a:ln>
              <a:noFill/>
            </a:ln>
          </p:spPr>
        </p:pic>
      </p:grpSp>
      <p:sp>
        <p:nvSpPr>
          <p:cNvPr id="158" name="Google Shape;136;p16">
            <a:extLst>
              <a:ext uri="{FF2B5EF4-FFF2-40B4-BE49-F238E27FC236}">
                <a16:creationId xmlns:a16="http://schemas.microsoft.com/office/drawing/2014/main" id="{3D5D656F-43D5-DD0E-B073-A5495755A4A1}"/>
              </a:ext>
            </a:extLst>
          </p:cNvPr>
          <p:cNvSpPr txBox="1"/>
          <p:nvPr/>
        </p:nvSpPr>
        <p:spPr>
          <a:xfrm>
            <a:off x="681931" y="5094050"/>
            <a:ext cx="226065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Lots of </a:t>
            </a:r>
            <a:r>
              <a:rPr lang="en-US" sz="1800" b="1"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Information</a:t>
            </a: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 </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159" name="Google Shape;147;p16" descr="image.png">
            <a:extLst>
              <a:ext uri="{FF2B5EF4-FFF2-40B4-BE49-F238E27FC236}">
                <a16:creationId xmlns:a16="http://schemas.microsoft.com/office/drawing/2014/main" id="{0B958E9D-F729-9C32-7FAF-013F1436A014}"/>
              </a:ext>
            </a:extLst>
          </p:cNvPr>
          <p:cNvPicPr preferRelativeResize="0"/>
          <p:nvPr/>
        </p:nvPicPr>
        <p:blipFill rotWithShape="1">
          <a:blip r:embed="rId5">
            <a:alphaModFix/>
          </a:blip>
          <a:srcRect/>
          <a:stretch/>
        </p:blipFill>
        <p:spPr>
          <a:xfrm>
            <a:off x="820043" y="4551125"/>
            <a:ext cx="200025" cy="228600"/>
          </a:xfrm>
          <a:prstGeom prst="rect">
            <a:avLst/>
          </a:prstGeom>
          <a:noFill/>
          <a:ln>
            <a:noFill/>
          </a:ln>
        </p:spPr>
      </p:pic>
      <p:sp>
        <p:nvSpPr>
          <p:cNvPr id="169" name="Google Shape;139;p16">
            <a:extLst>
              <a:ext uri="{FF2B5EF4-FFF2-40B4-BE49-F238E27FC236}">
                <a16:creationId xmlns:a16="http://schemas.microsoft.com/office/drawing/2014/main" id="{120D59DB-69C6-183C-9671-759AAF4DCB78}"/>
              </a:ext>
            </a:extLst>
          </p:cNvPr>
          <p:cNvSpPr txBox="1"/>
          <p:nvPr/>
        </p:nvSpPr>
        <p:spPr>
          <a:xfrm>
            <a:off x="8452729" y="5115177"/>
            <a:ext cx="190836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Scattered Notes</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170" name="Google Shape;148;p16" descr="image.png">
            <a:extLst>
              <a:ext uri="{FF2B5EF4-FFF2-40B4-BE49-F238E27FC236}">
                <a16:creationId xmlns:a16="http://schemas.microsoft.com/office/drawing/2014/main" id="{70325061-A38B-27CA-EBCF-DF80BB11D680}"/>
              </a:ext>
            </a:extLst>
          </p:cNvPr>
          <p:cNvPicPr preferRelativeResize="0"/>
          <p:nvPr/>
        </p:nvPicPr>
        <p:blipFill rotWithShape="1">
          <a:blip r:embed="rId3">
            <a:alphaModFix/>
          </a:blip>
          <a:srcRect/>
          <a:stretch/>
        </p:blipFill>
        <p:spPr>
          <a:xfrm>
            <a:off x="8578231" y="4731383"/>
            <a:ext cx="201168" cy="228600"/>
          </a:xfrm>
          <a:prstGeom prst="rect">
            <a:avLst/>
          </a:prstGeom>
          <a:noFill/>
          <a:ln>
            <a:noFill/>
          </a:ln>
        </p:spPr>
      </p:pic>
      <p:sp>
        <p:nvSpPr>
          <p:cNvPr id="173" name="Google Shape;136;p16">
            <a:extLst>
              <a:ext uri="{FF2B5EF4-FFF2-40B4-BE49-F238E27FC236}">
                <a16:creationId xmlns:a16="http://schemas.microsoft.com/office/drawing/2014/main" id="{39D5F311-BF42-F6BC-8E17-31172C2D7143}"/>
              </a:ext>
            </a:extLst>
          </p:cNvPr>
          <p:cNvSpPr txBox="1"/>
          <p:nvPr/>
        </p:nvSpPr>
        <p:spPr>
          <a:xfrm>
            <a:off x="629202" y="6170984"/>
            <a:ext cx="454660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Cognitive Gap</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174" name="Google Shape;147;p16">
            <a:extLst>
              <a:ext uri="{FF2B5EF4-FFF2-40B4-BE49-F238E27FC236}">
                <a16:creationId xmlns:a16="http://schemas.microsoft.com/office/drawing/2014/main" id="{E43D0835-71EB-E153-B095-169A484D8AF0}"/>
              </a:ext>
            </a:extLst>
          </p:cNvPr>
          <p:cNvPicPr preferRelativeResize="0"/>
          <p:nvPr/>
        </p:nvPicPr>
        <p:blipFill rotWithShape="1">
          <a:blip r:embed="rId6"/>
          <a:srcRect/>
          <a:stretch/>
        </p:blipFill>
        <p:spPr>
          <a:xfrm>
            <a:off x="767314" y="5633774"/>
            <a:ext cx="200025" cy="217170"/>
          </a:xfrm>
          <a:prstGeom prst="rect">
            <a:avLst/>
          </a:prstGeom>
          <a:noFill/>
          <a:ln>
            <a:noFill/>
          </a:ln>
        </p:spPr>
      </p:pic>
      <p:sp>
        <p:nvSpPr>
          <p:cNvPr id="177" name="Google Shape;145;p16">
            <a:extLst>
              <a:ext uri="{FF2B5EF4-FFF2-40B4-BE49-F238E27FC236}">
                <a16:creationId xmlns:a16="http://schemas.microsoft.com/office/drawing/2014/main" id="{2216EE1C-F4BC-06FB-B3F9-E67247AC9969}"/>
              </a:ext>
            </a:extLst>
          </p:cNvPr>
          <p:cNvSpPr txBox="1"/>
          <p:nvPr/>
        </p:nvSpPr>
        <p:spPr>
          <a:xfrm>
            <a:off x="8495551" y="6123971"/>
            <a:ext cx="2825238" cy="2785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Inconsistent Information</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178" name="Google Shape;150;p16" descr="image.png">
            <a:extLst>
              <a:ext uri="{FF2B5EF4-FFF2-40B4-BE49-F238E27FC236}">
                <a16:creationId xmlns:a16="http://schemas.microsoft.com/office/drawing/2014/main" id="{0DAEF4BC-A1BB-00B6-EA97-36AE6D31E890}"/>
              </a:ext>
            </a:extLst>
          </p:cNvPr>
          <p:cNvPicPr preferRelativeResize="0"/>
          <p:nvPr/>
        </p:nvPicPr>
        <p:blipFill rotWithShape="1">
          <a:blip r:embed="rId7">
            <a:alphaModFix/>
          </a:blip>
          <a:srcRect/>
          <a:stretch/>
        </p:blipFill>
        <p:spPr>
          <a:xfrm>
            <a:off x="8590801" y="5577973"/>
            <a:ext cx="285750" cy="229894"/>
          </a:xfrm>
          <a:prstGeom prst="rect">
            <a:avLst/>
          </a:prstGeom>
          <a:noFill/>
          <a:ln>
            <a:noFill/>
          </a:ln>
        </p:spPr>
      </p:pic>
    </p:spTree>
    <p:extLst>
      <p:ext uri="{BB962C8B-B14F-4D97-AF65-F5344CB8AC3E}">
        <p14:creationId xmlns:p14="http://schemas.microsoft.com/office/powerpoint/2010/main" val="1357044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a:extLst>
            <a:ext uri="{FF2B5EF4-FFF2-40B4-BE49-F238E27FC236}">
              <a16:creationId xmlns:a16="http://schemas.microsoft.com/office/drawing/2014/main" id="{E8D6C2F1-6CC6-09A6-4CCE-B6FAA085D57C}"/>
            </a:ext>
          </a:extLst>
        </p:cNvPr>
        <p:cNvGrpSpPr/>
        <p:nvPr/>
      </p:nvGrpSpPr>
      <p:grpSpPr>
        <a:xfrm>
          <a:off x="0" y="0"/>
          <a:ext cx="0" cy="0"/>
          <a:chOff x="0" y="0"/>
          <a:chExt cx="0" cy="0"/>
        </a:xfrm>
      </p:grpSpPr>
      <p:sp>
        <p:nvSpPr>
          <p:cNvPr id="134" name="Google Shape;134;p16">
            <a:extLst>
              <a:ext uri="{FF2B5EF4-FFF2-40B4-BE49-F238E27FC236}">
                <a16:creationId xmlns:a16="http://schemas.microsoft.com/office/drawing/2014/main" id="{7A138E5B-2740-B6BB-0A75-B337979B232C}"/>
              </a:ext>
            </a:extLst>
          </p:cNvPr>
          <p:cNvSpPr txBox="1"/>
          <p:nvPr/>
        </p:nvSpPr>
        <p:spPr>
          <a:xfrm>
            <a:off x="485775" y="332482"/>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Issues Faced by Students</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D7F42A34-7A57-0CCE-9A45-A686A734D789}"/>
              </a:ext>
            </a:extLst>
          </p:cNvPr>
          <p:cNvGrpSpPr/>
          <p:nvPr/>
        </p:nvGrpSpPr>
        <p:grpSpPr>
          <a:xfrm>
            <a:off x="390525" y="1199257"/>
            <a:ext cx="5591175" cy="2548830"/>
            <a:chOff x="390525" y="1199257"/>
            <a:chExt cx="5591175" cy="2548830"/>
          </a:xfrm>
        </p:grpSpPr>
        <p:grpSp>
          <p:nvGrpSpPr>
            <p:cNvPr id="13" name="Group 12">
              <a:extLst>
                <a:ext uri="{FF2B5EF4-FFF2-40B4-BE49-F238E27FC236}">
                  <a16:creationId xmlns:a16="http://schemas.microsoft.com/office/drawing/2014/main" id="{8F33FE90-59DE-76B2-9DBB-A701FBFB7286}"/>
                </a:ext>
              </a:extLst>
            </p:cNvPr>
            <p:cNvGrpSpPr/>
            <p:nvPr/>
          </p:nvGrpSpPr>
          <p:grpSpPr>
            <a:xfrm>
              <a:off x="390525" y="1199257"/>
              <a:ext cx="5591175" cy="2548830"/>
              <a:chOff x="390525" y="1199257"/>
              <a:chExt cx="5591175" cy="2548830"/>
            </a:xfrm>
          </p:grpSpPr>
          <p:sp>
            <p:nvSpPr>
              <p:cNvPr id="12" name="Rectangle: Rounded Corners 11">
                <a:extLst>
                  <a:ext uri="{FF2B5EF4-FFF2-40B4-BE49-F238E27FC236}">
                    <a16:creationId xmlns:a16="http://schemas.microsoft.com/office/drawing/2014/main" id="{36D1F2A2-8856-16DB-F910-1A5A9AF23751}"/>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6" name="Google Shape;136;p16">
                <a:extLst>
                  <a:ext uri="{FF2B5EF4-FFF2-40B4-BE49-F238E27FC236}">
                    <a16:creationId xmlns:a16="http://schemas.microsoft.com/office/drawing/2014/main" id="{930FB2D4-6E5C-F237-A5BE-3D8BEC6B5B74}"/>
                  </a:ext>
                </a:extLst>
              </p:cNvPr>
              <p:cNvSpPr txBox="1"/>
              <p:nvPr/>
            </p:nvSpPr>
            <p:spPr>
              <a:xfrm>
                <a:off x="685800" y="2161282"/>
                <a:ext cx="226065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Lots of </a:t>
                </a:r>
                <a:r>
                  <a:rPr lang="en-US" sz="1800" b="1"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Information</a:t>
                </a: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37" name="Google Shape;137;p16">
                <a:extLst>
                  <a:ext uri="{FF2B5EF4-FFF2-40B4-BE49-F238E27FC236}">
                    <a16:creationId xmlns:a16="http://schemas.microsoft.com/office/drawing/2014/main" id="{BD1356E3-E452-5F02-CC7D-EB3403219057}"/>
                  </a:ext>
                </a:extLst>
              </p:cNvPr>
              <p:cNvSpPr txBox="1"/>
              <p:nvPr/>
            </p:nvSpPr>
            <p:spPr>
              <a:xfrm>
                <a:off x="642416" y="2441908"/>
                <a:ext cx="5000625"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Every Student have a lot of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information,</a:t>
                </a: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 and it is extremely difficult and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clunky to manage all of them and study them which leads to constant fatigue.</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147" name="Google Shape;147;p16" descr="image.png">
              <a:extLst>
                <a:ext uri="{FF2B5EF4-FFF2-40B4-BE49-F238E27FC236}">
                  <a16:creationId xmlns:a16="http://schemas.microsoft.com/office/drawing/2014/main" id="{0A64C052-7FA9-4558-BDCA-4C558BA2325F}"/>
                </a:ext>
              </a:extLst>
            </p:cNvPr>
            <p:cNvPicPr preferRelativeResize="0"/>
            <p:nvPr/>
          </p:nvPicPr>
          <p:blipFill rotWithShape="1">
            <a:blip r:embed="rId3">
              <a:alphaModFix/>
            </a:blip>
            <a:srcRect/>
            <a:stretch/>
          </p:blipFill>
          <p:spPr>
            <a:xfrm>
              <a:off x="823912" y="1618357"/>
              <a:ext cx="200025" cy="228600"/>
            </a:xfrm>
            <a:prstGeom prst="rect">
              <a:avLst/>
            </a:prstGeom>
            <a:noFill/>
            <a:ln>
              <a:noFill/>
            </a:ln>
          </p:spPr>
        </p:pic>
      </p:grpSp>
      <p:grpSp>
        <p:nvGrpSpPr>
          <p:cNvPr id="38" name="Group 37">
            <a:extLst>
              <a:ext uri="{FF2B5EF4-FFF2-40B4-BE49-F238E27FC236}">
                <a16:creationId xmlns:a16="http://schemas.microsoft.com/office/drawing/2014/main" id="{C7626945-25C3-4446-0028-43614461B6D8}"/>
              </a:ext>
            </a:extLst>
          </p:cNvPr>
          <p:cNvGrpSpPr/>
          <p:nvPr/>
        </p:nvGrpSpPr>
        <p:grpSpPr>
          <a:xfrm>
            <a:off x="6233030" y="1193855"/>
            <a:ext cx="5591177" cy="2530721"/>
            <a:chOff x="6109334" y="1085858"/>
            <a:chExt cx="5591177" cy="2530721"/>
          </a:xfrm>
        </p:grpSpPr>
        <p:sp>
          <p:nvSpPr>
            <p:cNvPr id="24" name="Rectangle: Rounded Corners 23">
              <a:extLst>
                <a:ext uri="{FF2B5EF4-FFF2-40B4-BE49-F238E27FC236}">
                  <a16:creationId xmlns:a16="http://schemas.microsoft.com/office/drawing/2014/main" id="{740033F0-CFFA-2915-217B-91B9669C7879}"/>
                </a:ext>
              </a:extLst>
            </p:cNvPr>
            <p:cNvSpPr/>
            <p:nvPr/>
          </p:nvSpPr>
          <p:spPr>
            <a:xfrm>
              <a:off x="6109334" y="1085858"/>
              <a:ext cx="5591177" cy="253072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9" name="Google Shape;139;p16">
              <a:extLst>
                <a:ext uri="{FF2B5EF4-FFF2-40B4-BE49-F238E27FC236}">
                  <a16:creationId xmlns:a16="http://schemas.microsoft.com/office/drawing/2014/main" id="{83D13CE5-6069-916B-C9AF-7170DBB59975}"/>
                </a:ext>
              </a:extLst>
            </p:cNvPr>
            <p:cNvSpPr txBox="1"/>
            <p:nvPr/>
          </p:nvSpPr>
          <p:spPr>
            <a:xfrm>
              <a:off x="6503898" y="2002151"/>
              <a:ext cx="190836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Scattered Notes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0" name="Google Shape;140;p16">
              <a:extLst>
                <a:ext uri="{FF2B5EF4-FFF2-40B4-BE49-F238E27FC236}">
                  <a16:creationId xmlns:a16="http://schemas.microsoft.com/office/drawing/2014/main" id="{FF8A5AE0-7879-52B3-E28E-CD7B50189953}"/>
                </a:ext>
              </a:extLst>
            </p:cNvPr>
            <p:cNvSpPr txBox="1"/>
            <p:nvPr/>
          </p:nvSpPr>
          <p:spPr>
            <a:xfrm>
              <a:off x="6503898" y="2285793"/>
              <a:ext cx="5000625"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Students might take notes during class, but they are scattered across notebooks and mobile devices making to harder to organize information.</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48" name="Google Shape;148;p16" descr="image.png">
              <a:extLst>
                <a:ext uri="{FF2B5EF4-FFF2-40B4-BE49-F238E27FC236}">
                  <a16:creationId xmlns:a16="http://schemas.microsoft.com/office/drawing/2014/main" id="{33C7BE3B-4752-8C06-B4C2-716AAEC1BAD0}"/>
                </a:ext>
              </a:extLst>
            </p:cNvPr>
            <p:cNvPicPr preferRelativeResize="0"/>
            <p:nvPr/>
          </p:nvPicPr>
          <p:blipFill rotWithShape="1">
            <a:blip r:embed="rId4">
              <a:alphaModFix/>
            </a:blip>
            <a:srcRect/>
            <a:stretch/>
          </p:blipFill>
          <p:spPr>
            <a:xfrm>
              <a:off x="6629400" y="1618357"/>
              <a:ext cx="201168" cy="228600"/>
            </a:xfrm>
            <a:prstGeom prst="rect">
              <a:avLst/>
            </a:prstGeom>
            <a:noFill/>
            <a:ln>
              <a:noFill/>
            </a:ln>
          </p:spPr>
        </p:pic>
        <p:sp>
          <p:nvSpPr>
            <p:cNvPr id="59" name="Google Shape;139;p16">
              <a:extLst>
                <a:ext uri="{FF2B5EF4-FFF2-40B4-BE49-F238E27FC236}">
                  <a16:creationId xmlns:a16="http://schemas.microsoft.com/office/drawing/2014/main" id="{70F47862-0DE0-9A4D-E04A-D0F2237A01A8}"/>
                </a:ext>
              </a:extLst>
            </p:cNvPr>
            <p:cNvSpPr txBox="1"/>
            <p:nvPr/>
          </p:nvSpPr>
          <p:spPr>
            <a:xfrm>
              <a:off x="6503898" y="2000043"/>
              <a:ext cx="190836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Scattered Notes</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60" name="Google Shape;148;p16" descr="image.png">
              <a:extLst>
                <a:ext uri="{FF2B5EF4-FFF2-40B4-BE49-F238E27FC236}">
                  <a16:creationId xmlns:a16="http://schemas.microsoft.com/office/drawing/2014/main" id="{ABC3729C-0346-24C5-9C77-C89C3F7BE29B}"/>
                </a:ext>
              </a:extLst>
            </p:cNvPr>
            <p:cNvPicPr preferRelativeResize="0"/>
            <p:nvPr/>
          </p:nvPicPr>
          <p:blipFill rotWithShape="1">
            <a:blip r:embed="rId4">
              <a:alphaModFix/>
            </a:blip>
            <a:srcRect/>
            <a:stretch/>
          </p:blipFill>
          <p:spPr>
            <a:xfrm>
              <a:off x="6629400" y="1616249"/>
              <a:ext cx="201168" cy="228600"/>
            </a:xfrm>
            <a:prstGeom prst="rect">
              <a:avLst/>
            </a:prstGeom>
            <a:noFill/>
            <a:ln>
              <a:noFill/>
            </a:ln>
          </p:spPr>
        </p:pic>
      </p:grpSp>
      <p:grpSp>
        <p:nvGrpSpPr>
          <p:cNvPr id="168" name="Group 167">
            <a:extLst>
              <a:ext uri="{FF2B5EF4-FFF2-40B4-BE49-F238E27FC236}">
                <a16:creationId xmlns:a16="http://schemas.microsoft.com/office/drawing/2014/main" id="{491DC312-A24A-1E5B-47CF-EA23D2B13E22}"/>
              </a:ext>
            </a:extLst>
          </p:cNvPr>
          <p:cNvGrpSpPr/>
          <p:nvPr/>
        </p:nvGrpSpPr>
        <p:grpSpPr>
          <a:xfrm>
            <a:off x="6233030" y="4008217"/>
            <a:ext cx="5591175" cy="2563257"/>
            <a:chOff x="6276977" y="4022645"/>
            <a:chExt cx="5591175" cy="2548830"/>
          </a:xfrm>
        </p:grpSpPr>
        <p:sp>
          <p:nvSpPr>
            <p:cNvPr id="34" name="Rectangle: Rounded Corners 33">
              <a:extLst>
                <a:ext uri="{FF2B5EF4-FFF2-40B4-BE49-F238E27FC236}">
                  <a16:creationId xmlns:a16="http://schemas.microsoft.com/office/drawing/2014/main" id="{3DA45F04-D03C-F3F1-B568-B02DAB05B6D6}"/>
                </a:ext>
              </a:extLst>
            </p:cNvPr>
            <p:cNvSpPr/>
            <p:nvPr/>
          </p:nvSpPr>
          <p:spPr>
            <a:xfrm>
              <a:off x="6276977" y="4022645"/>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5" name="Google Shape;145;p16">
              <a:extLst>
                <a:ext uri="{FF2B5EF4-FFF2-40B4-BE49-F238E27FC236}">
                  <a16:creationId xmlns:a16="http://schemas.microsoft.com/office/drawing/2014/main" id="{6AC4699A-3A44-3BD4-DEF1-1B986E1BBDEC}"/>
                </a:ext>
              </a:extLst>
            </p:cNvPr>
            <p:cNvSpPr txBox="1"/>
            <p:nvPr/>
          </p:nvSpPr>
          <p:spPr>
            <a:xfrm>
              <a:off x="6505575" y="4938712"/>
              <a:ext cx="2825238"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Inconsistent Information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6" name="Google Shape;146;p16">
              <a:extLst>
                <a:ext uri="{FF2B5EF4-FFF2-40B4-BE49-F238E27FC236}">
                  <a16:creationId xmlns:a16="http://schemas.microsoft.com/office/drawing/2014/main" id="{5E05DD51-5F1D-C94B-6FBC-6D65DC54BF28}"/>
                </a:ext>
              </a:extLst>
            </p:cNvPr>
            <p:cNvSpPr txBox="1"/>
            <p:nvPr/>
          </p:nvSpPr>
          <p:spPr>
            <a:xfrm>
              <a:off x="6517846" y="5241880"/>
              <a:ext cx="5000625" cy="78347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A student might take notes, but they are prone to making a lot of mistakes which can affect their learning negatively. </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50" name="Google Shape;150;p16" descr="image.png">
              <a:extLst>
                <a:ext uri="{FF2B5EF4-FFF2-40B4-BE49-F238E27FC236}">
                  <a16:creationId xmlns:a16="http://schemas.microsoft.com/office/drawing/2014/main" id="{8C8C180B-A5BB-8CF6-4EAD-968F1B7B0084}"/>
                </a:ext>
              </a:extLst>
            </p:cNvPr>
            <p:cNvPicPr preferRelativeResize="0"/>
            <p:nvPr/>
          </p:nvPicPr>
          <p:blipFill rotWithShape="1">
            <a:blip r:embed="rId5">
              <a:alphaModFix/>
            </a:blip>
            <a:srcRect/>
            <a:stretch/>
          </p:blipFill>
          <p:spPr>
            <a:xfrm>
              <a:off x="6600825" y="4395787"/>
              <a:ext cx="285750" cy="228600"/>
            </a:xfrm>
            <a:prstGeom prst="rect">
              <a:avLst/>
            </a:prstGeom>
            <a:noFill/>
            <a:ln>
              <a:noFill/>
            </a:ln>
          </p:spPr>
        </p:pic>
      </p:grpSp>
      <p:grpSp>
        <p:nvGrpSpPr>
          <p:cNvPr id="161" name="Group 160">
            <a:extLst>
              <a:ext uri="{FF2B5EF4-FFF2-40B4-BE49-F238E27FC236}">
                <a16:creationId xmlns:a16="http://schemas.microsoft.com/office/drawing/2014/main" id="{1A2FFDE8-8F43-09C3-ACD7-20031E705CCF}"/>
              </a:ext>
            </a:extLst>
          </p:cNvPr>
          <p:cNvGrpSpPr/>
          <p:nvPr/>
        </p:nvGrpSpPr>
        <p:grpSpPr>
          <a:xfrm>
            <a:off x="390525" y="4022645"/>
            <a:ext cx="5591175" cy="2548830"/>
            <a:chOff x="390525" y="1199257"/>
            <a:chExt cx="5591175" cy="2548830"/>
          </a:xfrm>
        </p:grpSpPr>
        <p:grpSp>
          <p:nvGrpSpPr>
            <p:cNvPr id="162" name="Group 161">
              <a:extLst>
                <a:ext uri="{FF2B5EF4-FFF2-40B4-BE49-F238E27FC236}">
                  <a16:creationId xmlns:a16="http://schemas.microsoft.com/office/drawing/2014/main" id="{A6D3490D-E6E0-644C-7A3F-86D3E6264231}"/>
                </a:ext>
              </a:extLst>
            </p:cNvPr>
            <p:cNvGrpSpPr/>
            <p:nvPr/>
          </p:nvGrpSpPr>
          <p:grpSpPr>
            <a:xfrm>
              <a:off x="390525" y="1199257"/>
              <a:ext cx="5591175" cy="2548830"/>
              <a:chOff x="390525" y="1199257"/>
              <a:chExt cx="5591175" cy="2548830"/>
            </a:xfrm>
          </p:grpSpPr>
          <p:sp>
            <p:nvSpPr>
              <p:cNvPr id="164" name="Rectangle: Rounded Corners 163">
                <a:extLst>
                  <a:ext uri="{FF2B5EF4-FFF2-40B4-BE49-F238E27FC236}">
                    <a16:creationId xmlns:a16="http://schemas.microsoft.com/office/drawing/2014/main" id="{CF1E760A-E549-89C4-7AA0-ADBC3A008A52}"/>
                  </a:ext>
                </a:extLst>
              </p:cNvPr>
              <p:cNvSpPr/>
              <p:nvPr/>
            </p:nvSpPr>
            <p:spPr>
              <a:xfrm>
                <a:off x="390525"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5" name="Google Shape;136;p16">
                <a:extLst>
                  <a:ext uri="{FF2B5EF4-FFF2-40B4-BE49-F238E27FC236}">
                    <a16:creationId xmlns:a16="http://schemas.microsoft.com/office/drawing/2014/main" id="{51184F30-6831-25D7-F89F-D57334D00E63}"/>
                  </a:ext>
                </a:extLst>
              </p:cNvPr>
              <p:cNvSpPr txBox="1"/>
              <p:nvPr/>
            </p:nvSpPr>
            <p:spPr>
              <a:xfrm>
                <a:off x="685800" y="2161282"/>
                <a:ext cx="454660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Cognitive Gap</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66" name="Google Shape;137;p16">
                <a:extLst>
                  <a:ext uri="{FF2B5EF4-FFF2-40B4-BE49-F238E27FC236}">
                    <a16:creationId xmlns:a16="http://schemas.microsoft.com/office/drawing/2014/main" id="{4AB98951-4433-7F0C-7398-5D3BB2793E88}"/>
                  </a:ext>
                </a:extLst>
              </p:cNvPr>
              <p:cNvSpPr txBox="1"/>
              <p:nvPr/>
            </p:nvSpPr>
            <p:spPr>
              <a:xfrm>
                <a:off x="685800" y="2439118"/>
                <a:ext cx="5000625"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Every Student have their own way of understanding; Some can understand what is said by just hearing while some need some type of visual aid to understand.</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163" name="Google Shape;147;p16">
              <a:extLst>
                <a:ext uri="{FF2B5EF4-FFF2-40B4-BE49-F238E27FC236}">
                  <a16:creationId xmlns:a16="http://schemas.microsoft.com/office/drawing/2014/main" id="{B25C1304-D5F1-C826-D7E3-647CFE69FDC1}"/>
                </a:ext>
              </a:extLst>
            </p:cNvPr>
            <p:cNvPicPr preferRelativeResize="0"/>
            <p:nvPr/>
          </p:nvPicPr>
          <p:blipFill rotWithShape="1">
            <a:blip r:embed="rId6"/>
            <a:srcRect/>
            <a:stretch/>
          </p:blipFill>
          <p:spPr>
            <a:xfrm>
              <a:off x="823912" y="1624072"/>
              <a:ext cx="200025" cy="217170"/>
            </a:xfrm>
            <a:prstGeom prst="rect">
              <a:avLst/>
            </a:prstGeom>
            <a:noFill/>
            <a:ln>
              <a:noFill/>
            </a:ln>
          </p:spPr>
        </p:pic>
      </p:grpSp>
      <p:grpSp>
        <p:nvGrpSpPr>
          <p:cNvPr id="11" name="Group 10">
            <a:extLst>
              <a:ext uri="{FF2B5EF4-FFF2-40B4-BE49-F238E27FC236}">
                <a16:creationId xmlns:a16="http://schemas.microsoft.com/office/drawing/2014/main" id="{22BF5851-0D41-C175-2EA8-232422FE41D7}"/>
              </a:ext>
            </a:extLst>
          </p:cNvPr>
          <p:cNvGrpSpPr/>
          <p:nvPr/>
        </p:nvGrpSpPr>
        <p:grpSpPr>
          <a:xfrm>
            <a:off x="51866" y="-2761267"/>
            <a:ext cx="5591175" cy="2548830"/>
            <a:chOff x="390524" y="1199257"/>
            <a:chExt cx="5591175" cy="2548830"/>
          </a:xfrm>
        </p:grpSpPr>
        <p:sp>
          <p:nvSpPr>
            <p:cNvPr id="15" name="Rectangle: Rounded Corners 14">
              <a:extLst>
                <a:ext uri="{FF2B5EF4-FFF2-40B4-BE49-F238E27FC236}">
                  <a16:creationId xmlns:a16="http://schemas.microsoft.com/office/drawing/2014/main" id="{DCE2FE96-CB29-C349-338D-4D74084C4251}"/>
                </a:ext>
              </a:extLst>
            </p:cNvPr>
            <p:cNvSpPr/>
            <p:nvPr/>
          </p:nvSpPr>
          <p:spPr>
            <a:xfrm>
              <a:off x="390524"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16" name="Group 15">
              <a:extLst>
                <a:ext uri="{FF2B5EF4-FFF2-40B4-BE49-F238E27FC236}">
                  <a16:creationId xmlns:a16="http://schemas.microsoft.com/office/drawing/2014/main" id="{2E25E8FA-9F0D-ABB1-B292-A0497838F614}"/>
                </a:ext>
              </a:extLst>
            </p:cNvPr>
            <p:cNvGrpSpPr/>
            <p:nvPr/>
          </p:nvGrpSpPr>
          <p:grpSpPr>
            <a:xfrm>
              <a:off x="685800" y="1618357"/>
              <a:ext cx="5000625" cy="1779222"/>
              <a:chOff x="685800" y="1618357"/>
              <a:chExt cx="5000625" cy="1779222"/>
            </a:xfrm>
          </p:grpSpPr>
          <p:sp>
            <p:nvSpPr>
              <p:cNvPr id="17" name="Google Shape;136;p16">
                <a:extLst>
                  <a:ext uri="{FF2B5EF4-FFF2-40B4-BE49-F238E27FC236}">
                    <a16:creationId xmlns:a16="http://schemas.microsoft.com/office/drawing/2014/main" id="{2AF4106A-2723-2F21-942F-28DD8B890B4A}"/>
                  </a:ext>
                </a:extLst>
              </p:cNvPr>
              <p:cNvSpPr txBox="1"/>
              <p:nvPr/>
            </p:nvSpPr>
            <p:spPr>
              <a:xfrm>
                <a:off x="685800" y="2161282"/>
                <a:ext cx="2063539"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Source Grounding</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8" name="Google Shape;137;p16">
                <a:extLst>
                  <a:ext uri="{FF2B5EF4-FFF2-40B4-BE49-F238E27FC236}">
                    <a16:creationId xmlns:a16="http://schemas.microsoft.com/office/drawing/2014/main" id="{FE8A1552-4955-7538-B18F-C49FA50F38C0}"/>
                  </a:ext>
                </a:extLst>
              </p:cNvPr>
              <p:cNvSpPr txBox="1"/>
              <p:nvPr/>
            </p:nvSpPr>
            <p:spPr>
              <a:xfrm>
                <a:off x="685800" y="2732782"/>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Calibri" panose="020F0502020204030204" pitchFamily="34" charset="0"/>
                    <a:ea typeface="Calibri" panose="020F0502020204030204" pitchFamily="34" charset="0"/>
                    <a:cs typeface="Calibri" panose="020F0502020204030204" pitchFamily="34" charset="0"/>
                    <a:sym typeface="Inter"/>
                  </a:rPr>
                  <a:t>Upload PDFs, Google Slides, and text files. The AI effectively "reads" only what you give it.</a:t>
                </a:r>
                <a:endParaRPr>
                  <a:latin typeface="Calibri" panose="020F0502020204030204" pitchFamily="34" charset="0"/>
                  <a:ea typeface="Calibri" panose="020F0502020204030204" pitchFamily="34" charset="0"/>
                  <a:cs typeface="Calibri" panose="020F0502020204030204" pitchFamily="34" charset="0"/>
                </a:endParaRPr>
              </a:p>
            </p:txBody>
          </p:sp>
          <p:pic>
            <p:nvPicPr>
              <p:cNvPr id="19" name="Google Shape;147;p16" descr="image.png">
                <a:extLst>
                  <a:ext uri="{FF2B5EF4-FFF2-40B4-BE49-F238E27FC236}">
                    <a16:creationId xmlns:a16="http://schemas.microsoft.com/office/drawing/2014/main" id="{057BABAC-3E95-19C0-2D3A-AA38132BE546}"/>
                  </a:ext>
                </a:extLst>
              </p:cNvPr>
              <p:cNvPicPr preferRelativeResize="0"/>
              <p:nvPr/>
            </p:nvPicPr>
            <p:blipFill rotWithShape="1">
              <a:blip r:embed="rId3">
                <a:alphaModFix/>
              </a:blip>
              <a:srcRect/>
              <a:stretch/>
            </p:blipFill>
            <p:spPr>
              <a:xfrm>
                <a:off x="823912" y="1618357"/>
                <a:ext cx="200025" cy="228600"/>
              </a:xfrm>
              <a:prstGeom prst="rect">
                <a:avLst/>
              </a:prstGeom>
              <a:noFill/>
              <a:ln>
                <a:noFill/>
              </a:ln>
            </p:spPr>
          </p:pic>
        </p:grpSp>
      </p:grpSp>
      <p:grpSp>
        <p:nvGrpSpPr>
          <p:cNvPr id="45" name="Group 44">
            <a:extLst>
              <a:ext uri="{FF2B5EF4-FFF2-40B4-BE49-F238E27FC236}">
                <a16:creationId xmlns:a16="http://schemas.microsoft.com/office/drawing/2014/main" id="{7F987CE3-F8C7-50BA-4E80-2ED75EB71EAF}"/>
              </a:ext>
            </a:extLst>
          </p:cNvPr>
          <p:cNvGrpSpPr/>
          <p:nvPr/>
        </p:nvGrpSpPr>
        <p:grpSpPr>
          <a:xfrm>
            <a:off x="390523" y="-6288519"/>
            <a:ext cx="5591177" cy="6067425"/>
            <a:chOff x="390524" y="390525"/>
            <a:chExt cx="5591177" cy="6067425"/>
          </a:xfrm>
        </p:grpSpPr>
        <p:sp>
          <p:nvSpPr>
            <p:cNvPr id="46" name="Rectangle: Rounded Corners 45">
              <a:extLst>
                <a:ext uri="{FF2B5EF4-FFF2-40B4-BE49-F238E27FC236}">
                  <a16:creationId xmlns:a16="http://schemas.microsoft.com/office/drawing/2014/main" id="{0553592F-2E3E-8B53-B9B8-A0CA93F183EB}"/>
                </a:ext>
              </a:extLst>
            </p:cNvPr>
            <p:cNvSpPr/>
            <p:nvPr/>
          </p:nvSpPr>
          <p:spPr>
            <a:xfrm>
              <a:off x="390524" y="390525"/>
              <a:ext cx="5591177" cy="6067425"/>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7" name="Google Shape;87;p13">
              <a:extLst>
                <a:ext uri="{FF2B5EF4-FFF2-40B4-BE49-F238E27FC236}">
                  <a16:creationId xmlns:a16="http://schemas.microsoft.com/office/drawing/2014/main" id="{FF37B81C-265E-8600-63FA-5D102157BD2B}"/>
                </a:ext>
              </a:extLst>
            </p:cNvPr>
            <p:cNvSpPr txBox="1"/>
            <p:nvPr/>
          </p:nvSpPr>
          <p:spPr>
            <a:xfrm>
              <a:off x="781050" y="2629792"/>
              <a:ext cx="5050631"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NotebookLM</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48" name="Google Shape;88;p13">
              <a:extLst>
                <a:ext uri="{FF2B5EF4-FFF2-40B4-BE49-F238E27FC236}">
                  <a16:creationId xmlns:a16="http://schemas.microsoft.com/office/drawing/2014/main" id="{BFEF9815-6812-1778-C245-8BA06CD3FAFF}"/>
                </a:ext>
              </a:extLst>
            </p:cNvPr>
            <p:cNvSpPr txBox="1"/>
            <p:nvPr/>
          </p:nvSpPr>
          <p:spPr>
            <a:xfrm>
              <a:off x="781050" y="3487042"/>
              <a:ext cx="505063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94A3B8"/>
                  </a:solidFill>
                  <a:latin typeface="Calibri" panose="020F0502020204030204" pitchFamily="34" charset="0"/>
                  <a:ea typeface="Calibri" panose="020F0502020204030204" pitchFamily="34" charset="0"/>
                  <a:cs typeface="Calibri" panose="020F0502020204030204" pitchFamily="34" charset="0"/>
                  <a:sym typeface="Plus Jakarta Sans"/>
                </a:rPr>
                <a:t>The Future of Study</a:t>
              </a:r>
              <a:endParaRPr>
                <a:latin typeface="Calibri" panose="020F0502020204030204" pitchFamily="34" charset="0"/>
                <a:ea typeface="Calibri" panose="020F0502020204030204" pitchFamily="34" charset="0"/>
                <a:cs typeface="Calibri" panose="020F0502020204030204" pitchFamily="34" charset="0"/>
              </a:endParaRPr>
            </a:p>
          </p:txBody>
        </p:sp>
        <p:pic>
          <p:nvPicPr>
            <p:cNvPr id="49" name="Google Shape;90;p13" descr="image.png">
              <a:extLst>
                <a:ext uri="{FF2B5EF4-FFF2-40B4-BE49-F238E27FC236}">
                  <a16:creationId xmlns:a16="http://schemas.microsoft.com/office/drawing/2014/main" id="{7566FD57-C9C3-E4B8-EF53-BA61BDB3C2F5}"/>
                </a:ext>
              </a:extLst>
            </p:cNvPr>
            <p:cNvPicPr preferRelativeResize="0"/>
            <p:nvPr/>
          </p:nvPicPr>
          <p:blipFill rotWithShape="1">
            <a:blip r:embed="rId7">
              <a:alphaModFix/>
            </a:blip>
            <a:srcRect/>
            <a:stretch/>
          </p:blipFill>
          <p:spPr>
            <a:xfrm>
              <a:off x="781050" y="2010667"/>
              <a:ext cx="381000" cy="381000"/>
            </a:xfrm>
            <a:prstGeom prst="rect">
              <a:avLst/>
            </a:prstGeom>
            <a:noFill/>
            <a:ln>
              <a:noFill/>
            </a:ln>
          </p:spPr>
        </p:pic>
      </p:grpSp>
      <p:grpSp>
        <p:nvGrpSpPr>
          <p:cNvPr id="44" name="Group 43">
            <a:extLst>
              <a:ext uri="{FF2B5EF4-FFF2-40B4-BE49-F238E27FC236}">
                <a16:creationId xmlns:a16="http://schemas.microsoft.com/office/drawing/2014/main" id="{27C905EE-A0BD-380B-C441-5226E956669C}"/>
              </a:ext>
            </a:extLst>
          </p:cNvPr>
          <p:cNvGrpSpPr/>
          <p:nvPr/>
        </p:nvGrpSpPr>
        <p:grpSpPr>
          <a:xfrm>
            <a:off x="6280512" y="7012720"/>
            <a:ext cx="5591175" cy="2548830"/>
            <a:chOff x="6276975" y="3950047"/>
            <a:chExt cx="5591175" cy="2548830"/>
          </a:xfrm>
        </p:grpSpPr>
        <p:sp>
          <p:nvSpPr>
            <p:cNvPr id="50" name="Rectangle: Rounded Corners 49">
              <a:extLst>
                <a:ext uri="{FF2B5EF4-FFF2-40B4-BE49-F238E27FC236}">
                  <a16:creationId xmlns:a16="http://schemas.microsoft.com/office/drawing/2014/main" id="{579523C1-FEAF-7ECB-89A5-ED8702292357}"/>
                </a:ext>
              </a:extLst>
            </p:cNvPr>
            <p:cNvSpPr/>
            <p:nvPr/>
          </p:nvSpPr>
          <p:spPr>
            <a:xfrm>
              <a:off x="6276975" y="395004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1" name="Google Shape;145;p16">
              <a:extLst>
                <a:ext uri="{FF2B5EF4-FFF2-40B4-BE49-F238E27FC236}">
                  <a16:creationId xmlns:a16="http://schemas.microsoft.com/office/drawing/2014/main" id="{5CCCD9A8-B40E-1278-D491-46E712680BB3}"/>
                </a:ext>
              </a:extLst>
            </p:cNvPr>
            <p:cNvSpPr txBox="1"/>
            <p:nvPr/>
          </p:nvSpPr>
          <p:spPr>
            <a:xfrm>
              <a:off x="6505575" y="4938712"/>
              <a:ext cx="129750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Study Tools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52" name="Google Shape;146;p16">
              <a:extLst>
                <a:ext uri="{FF2B5EF4-FFF2-40B4-BE49-F238E27FC236}">
                  <a16:creationId xmlns:a16="http://schemas.microsoft.com/office/drawing/2014/main" id="{21D85399-0969-BF7F-988C-6A684B4179CB}"/>
                </a:ext>
              </a:extLst>
            </p:cNvPr>
            <p:cNvSpPr txBox="1"/>
            <p:nvPr/>
          </p:nvSpPr>
          <p:spPr>
            <a:xfrm>
              <a:off x="6505575" y="5510212"/>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Calibri" panose="020F0502020204030204" pitchFamily="34" charset="0"/>
                  <a:ea typeface="Calibri" panose="020F0502020204030204" pitchFamily="34" charset="0"/>
                  <a:cs typeface="Calibri" panose="020F0502020204030204" pitchFamily="34" charset="0"/>
                  <a:sym typeface="Inter"/>
                </a:rPr>
                <a:t>Automatically generates briefing docs, FAQs, and timelines from your messy lecture notes.</a:t>
              </a:r>
              <a:endParaRPr>
                <a:latin typeface="Calibri" panose="020F0502020204030204" pitchFamily="34" charset="0"/>
                <a:ea typeface="Calibri" panose="020F0502020204030204" pitchFamily="34" charset="0"/>
                <a:cs typeface="Calibri" panose="020F0502020204030204" pitchFamily="34" charset="0"/>
              </a:endParaRPr>
            </a:p>
          </p:txBody>
        </p:sp>
        <p:pic>
          <p:nvPicPr>
            <p:cNvPr id="53" name="Google Shape;150;p16" descr="image.png">
              <a:extLst>
                <a:ext uri="{FF2B5EF4-FFF2-40B4-BE49-F238E27FC236}">
                  <a16:creationId xmlns:a16="http://schemas.microsoft.com/office/drawing/2014/main" id="{3D403AA9-717E-22E6-6EAB-230886246F52}"/>
                </a:ext>
              </a:extLst>
            </p:cNvPr>
            <p:cNvPicPr preferRelativeResize="0"/>
            <p:nvPr/>
          </p:nvPicPr>
          <p:blipFill rotWithShape="1">
            <a:blip r:embed="rId5">
              <a:alphaModFix/>
            </a:blip>
            <a:srcRect/>
            <a:stretch/>
          </p:blipFill>
          <p:spPr>
            <a:xfrm>
              <a:off x="6600825" y="4395787"/>
              <a:ext cx="285750" cy="228600"/>
            </a:xfrm>
            <a:prstGeom prst="rect">
              <a:avLst/>
            </a:prstGeom>
            <a:noFill/>
            <a:ln>
              <a:noFill/>
            </a:ln>
          </p:spPr>
        </p:pic>
      </p:grpSp>
    </p:spTree>
    <p:extLst>
      <p:ext uri="{BB962C8B-B14F-4D97-AF65-F5344CB8AC3E}">
        <p14:creationId xmlns:p14="http://schemas.microsoft.com/office/powerpoint/2010/main" val="2645906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p:cNvGrpSpPr/>
        <p:nvPr/>
      </p:nvGrpSpPr>
      <p:grpSpPr>
        <a:xfrm>
          <a:off x="0" y="0"/>
          <a:ext cx="0" cy="0"/>
          <a:chOff x="0" y="0"/>
          <a:chExt cx="0" cy="0"/>
        </a:xfrm>
      </p:grpSpPr>
      <p:sp>
        <p:nvSpPr>
          <p:cNvPr id="134" name="Google Shape;134;p16"/>
          <p:cNvSpPr txBox="1"/>
          <p:nvPr/>
        </p:nvSpPr>
        <p:spPr>
          <a:xfrm>
            <a:off x="485775" y="332482"/>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Meet NotebookLM</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F0B35DDE-3142-EC97-B88F-A103AF34C5A5}"/>
              </a:ext>
            </a:extLst>
          </p:cNvPr>
          <p:cNvGrpSpPr/>
          <p:nvPr/>
        </p:nvGrpSpPr>
        <p:grpSpPr>
          <a:xfrm>
            <a:off x="390524" y="1199257"/>
            <a:ext cx="5591175" cy="2548830"/>
            <a:chOff x="390524" y="1199257"/>
            <a:chExt cx="5591175" cy="2548830"/>
          </a:xfrm>
        </p:grpSpPr>
        <p:sp>
          <p:nvSpPr>
            <p:cNvPr id="22" name="Rectangle: Rounded Corners 21">
              <a:extLst>
                <a:ext uri="{FF2B5EF4-FFF2-40B4-BE49-F238E27FC236}">
                  <a16:creationId xmlns:a16="http://schemas.microsoft.com/office/drawing/2014/main" id="{9B29491E-C029-A8C0-1FA4-3678B5A94E81}"/>
                </a:ext>
              </a:extLst>
            </p:cNvPr>
            <p:cNvSpPr/>
            <p:nvPr/>
          </p:nvSpPr>
          <p:spPr>
            <a:xfrm>
              <a:off x="390524"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3FEDA1A0-FC5E-8C5E-D86C-463DA4920D82}"/>
                </a:ext>
              </a:extLst>
            </p:cNvPr>
            <p:cNvGrpSpPr/>
            <p:nvPr/>
          </p:nvGrpSpPr>
          <p:grpSpPr>
            <a:xfrm>
              <a:off x="641519" y="1618357"/>
              <a:ext cx="5000625" cy="1584579"/>
              <a:chOff x="641519" y="1618357"/>
              <a:chExt cx="5000625" cy="1584579"/>
            </a:xfrm>
          </p:grpSpPr>
          <p:sp>
            <p:nvSpPr>
              <p:cNvPr id="136" name="Google Shape;136;p16"/>
              <p:cNvSpPr txBox="1"/>
              <p:nvPr/>
            </p:nvSpPr>
            <p:spPr>
              <a:xfrm>
                <a:off x="685800" y="2161282"/>
                <a:ext cx="2063539"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Source Grounding</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37" name="Google Shape;137;p16"/>
              <p:cNvSpPr txBox="1"/>
              <p:nvPr/>
            </p:nvSpPr>
            <p:spPr>
              <a:xfrm>
                <a:off x="641519" y="2415028"/>
                <a:ext cx="500062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Upload PDFs, Google Slides, and text files. The AI effectively "reads" only what you give it.</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47" name="Google Shape;147;p16" descr="image.png"/>
              <p:cNvPicPr preferRelativeResize="0"/>
              <p:nvPr/>
            </p:nvPicPr>
            <p:blipFill rotWithShape="1">
              <a:blip r:embed="rId3">
                <a:alphaModFix/>
              </a:blip>
              <a:srcRect/>
              <a:stretch/>
            </p:blipFill>
            <p:spPr>
              <a:xfrm>
                <a:off x="823912" y="1618357"/>
                <a:ext cx="200025" cy="228600"/>
              </a:xfrm>
              <a:prstGeom prst="rect">
                <a:avLst/>
              </a:prstGeom>
              <a:noFill/>
              <a:ln>
                <a:noFill/>
              </a:ln>
            </p:spPr>
          </p:pic>
        </p:grpSp>
      </p:grpSp>
      <p:grpSp>
        <p:nvGrpSpPr>
          <p:cNvPr id="29" name="Group 28">
            <a:extLst>
              <a:ext uri="{FF2B5EF4-FFF2-40B4-BE49-F238E27FC236}">
                <a16:creationId xmlns:a16="http://schemas.microsoft.com/office/drawing/2014/main" id="{923E59C2-31B3-C494-F378-B33F28662636}"/>
              </a:ext>
            </a:extLst>
          </p:cNvPr>
          <p:cNvGrpSpPr/>
          <p:nvPr/>
        </p:nvGrpSpPr>
        <p:grpSpPr>
          <a:xfrm>
            <a:off x="390522" y="3945018"/>
            <a:ext cx="5591175" cy="2548830"/>
            <a:chOff x="6189662" y="1199257"/>
            <a:chExt cx="5591175" cy="2548830"/>
          </a:xfrm>
        </p:grpSpPr>
        <p:sp>
          <p:nvSpPr>
            <p:cNvPr id="23" name="Rectangle: Rounded Corners 22">
              <a:extLst>
                <a:ext uri="{FF2B5EF4-FFF2-40B4-BE49-F238E27FC236}">
                  <a16:creationId xmlns:a16="http://schemas.microsoft.com/office/drawing/2014/main" id="{0F8C0EA9-F795-BF2F-DA9B-72F8020EE9F8}"/>
                </a:ext>
              </a:extLst>
            </p:cNvPr>
            <p:cNvSpPr/>
            <p:nvPr/>
          </p:nvSpPr>
          <p:spPr>
            <a:xfrm>
              <a:off x="6189662" y="119925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BB2FED36-A558-79F1-1C23-6DE06ED7AC32}"/>
                </a:ext>
              </a:extLst>
            </p:cNvPr>
            <p:cNvGrpSpPr/>
            <p:nvPr/>
          </p:nvGrpSpPr>
          <p:grpSpPr>
            <a:xfrm>
              <a:off x="6505575" y="1618357"/>
              <a:ext cx="5036261" cy="1604402"/>
              <a:chOff x="6505575" y="1618357"/>
              <a:chExt cx="5036261" cy="1604402"/>
            </a:xfrm>
          </p:grpSpPr>
          <p:sp>
            <p:nvSpPr>
              <p:cNvPr id="139" name="Google Shape;139;p16"/>
              <p:cNvSpPr txBox="1"/>
              <p:nvPr/>
            </p:nvSpPr>
            <p:spPr>
              <a:xfrm>
                <a:off x="6505575" y="2161282"/>
                <a:ext cx="190836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Audio Overviews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0" name="Google Shape;140;p16"/>
              <p:cNvSpPr txBox="1"/>
              <p:nvPr/>
            </p:nvSpPr>
            <p:spPr>
              <a:xfrm>
                <a:off x="6541211" y="2434851"/>
                <a:ext cx="500062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Generates a realistic "podcast" discussion between two AI hosts about your specific notes.</a:t>
                </a:r>
                <a:endParaRPr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48" name="Google Shape;148;p16" descr="image.png"/>
              <p:cNvPicPr preferRelativeResize="0"/>
              <p:nvPr/>
            </p:nvPicPr>
            <p:blipFill rotWithShape="1">
              <a:blip r:embed="rId4">
                <a:alphaModFix/>
              </a:blip>
              <a:srcRect/>
              <a:stretch/>
            </p:blipFill>
            <p:spPr>
              <a:xfrm>
                <a:off x="6629400" y="1618357"/>
                <a:ext cx="228600" cy="228600"/>
              </a:xfrm>
              <a:prstGeom prst="rect">
                <a:avLst/>
              </a:prstGeom>
              <a:noFill/>
              <a:ln>
                <a:noFill/>
              </a:ln>
            </p:spPr>
          </p:pic>
        </p:grpSp>
      </p:grpSp>
      <p:grpSp>
        <p:nvGrpSpPr>
          <p:cNvPr id="26" name="Group 25">
            <a:extLst>
              <a:ext uri="{FF2B5EF4-FFF2-40B4-BE49-F238E27FC236}">
                <a16:creationId xmlns:a16="http://schemas.microsoft.com/office/drawing/2014/main" id="{19AD079D-44F2-E4A0-CE4E-277E7228070D}"/>
              </a:ext>
            </a:extLst>
          </p:cNvPr>
          <p:cNvGrpSpPr/>
          <p:nvPr/>
        </p:nvGrpSpPr>
        <p:grpSpPr>
          <a:xfrm>
            <a:off x="6251504" y="1199257"/>
            <a:ext cx="5591175" cy="2548830"/>
            <a:chOff x="390524" y="3965228"/>
            <a:chExt cx="5591175" cy="2548830"/>
          </a:xfrm>
        </p:grpSpPr>
        <p:sp>
          <p:nvSpPr>
            <p:cNvPr id="24" name="Rectangle: Rounded Corners 23">
              <a:extLst>
                <a:ext uri="{FF2B5EF4-FFF2-40B4-BE49-F238E27FC236}">
                  <a16:creationId xmlns:a16="http://schemas.microsoft.com/office/drawing/2014/main" id="{DC8D4545-BD31-6B6E-2068-68976A4B3C18}"/>
                </a:ext>
              </a:extLst>
            </p:cNvPr>
            <p:cNvSpPr/>
            <p:nvPr/>
          </p:nvSpPr>
          <p:spPr>
            <a:xfrm>
              <a:off x="390524" y="3965228"/>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42" name="Google Shape;142;p16"/>
            <p:cNvSpPr txBox="1"/>
            <p:nvPr/>
          </p:nvSpPr>
          <p:spPr>
            <a:xfrm>
              <a:off x="685800" y="4938712"/>
              <a:ext cx="174834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Smart Citations</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43" name="Google Shape;143;p16"/>
            <p:cNvSpPr txBox="1"/>
            <p:nvPr/>
          </p:nvSpPr>
          <p:spPr>
            <a:xfrm>
              <a:off x="688876" y="5224462"/>
              <a:ext cx="500062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Click on any sentence in the answer to jump directly to the paragraph in your source PDF.</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49" name="Google Shape;149;p16" descr="image.png"/>
            <p:cNvPicPr preferRelativeResize="0"/>
            <p:nvPr/>
          </p:nvPicPr>
          <p:blipFill rotWithShape="1">
            <a:blip r:embed="rId5">
              <a:alphaModFix/>
            </a:blip>
            <a:srcRect/>
            <a:stretch/>
          </p:blipFill>
          <p:spPr>
            <a:xfrm>
              <a:off x="819150" y="4395787"/>
              <a:ext cx="209550" cy="228600"/>
            </a:xfrm>
            <a:prstGeom prst="rect">
              <a:avLst/>
            </a:prstGeom>
            <a:noFill/>
            <a:ln>
              <a:noFill/>
            </a:ln>
          </p:spPr>
        </p:pic>
      </p:grpSp>
      <p:grpSp>
        <p:nvGrpSpPr>
          <p:cNvPr id="27" name="Group 26">
            <a:extLst>
              <a:ext uri="{FF2B5EF4-FFF2-40B4-BE49-F238E27FC236}">
                <a16:creationId xmlns:a16="http://schemas.microsoft.com/office/drawing/2014/main" id="{7B5A36A3-5BD4-3849-F3EF-AF0E78356EC1}"/>
              </a:ext>
            </a:extLst>
          </p:cNvPr>
          <p:cNvGrpSpPr/>
          <p:nvPr/>
        </p:nvGrpSpPr>
        <p:grpSpPr>
          <a:xfrm>
            <a:off x="6276976" y="3953769"/>
            <a:ext cx="5591175" cy="2548830"/>
            <a:chOff x="6276975" y="3950047"/>
            <a:chExt cx="5591175" cy="2548830"/>
          </a:xfrm>
        </p:grpSpPr>
        <p:sp>
          <p:nvSpPr>
            <p:cNvPr id="25" name="Rectangle: Rounded Corners 24">
              <a:extLst>
                <a:ext uri="{FF2B5EF4-FFF2-40B4-BE49-F238E27FC236}">
                  <a16:creationId xmlns:a16="http://schemas.microsoft.com/office/drawing/2014/main" id="{9FFE0E91-9155-A5B7-86D2-8138D1AD0CF1}"/>
                </a:ext>
              </a:extLst>
            </p:cNvPr>
            <p:cNvSpPr/>
            <p:nvPr/>
          </p:nvSpPr>
          <p:spPr>
            <a:xfrm>
              <a:off x="6276975" y="3950047"/>
              <a:ext cx="5591175" cy="254883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45" name="Google Shape;145;p16"/>
            <p:cNvSpPr txBox="1"/>
            <p:nvPr/>
          </p:nvSpPr>
          <p:spPr>
            <a:xfrm>
              <a:off x="6505575" y="4938712"/>
              <a:ext cx="1989496"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Study Tools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6" name="Google Shape;146;p16"/>
            <p:cNvSpPr txBox="1"/>
            <p:nvPr/>
          </p:nvSpPr>
          <p:spPr>
            <a:xfrm>
              <a:off x="6484939" y="5180320"/>
              <a:ext cx="5000625"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Automatically generates briefing docs, FAQs, and timelines from your messy lecture notes. Ask it to point out the conflicts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i</a:t>
              </a:r>
              <a:r>
                <a:rPr lang="en-US" sz="16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n your sources and it will find them.</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50" name="Google Shape;150;p16" descr="image.png"/>
            <p:cNvPicPr preferRelativeResize="0"/>
            <p:nvPr/>
          </p:nvPicPr>
          <p:blipFill rotWithShape="1">
            <a:blip r:embed="rId6">
              <a:alphaModFix/>
            </a:blip>
            <a:srcRect/>
            <a:stretch/>
          </p:blipFill>
          <p:spPr>
            <a:xfrm>
              <a:off x="6600825" y="4395787"/>
              <a:ext cx="285750" cy="228600"/>
            </a:xfrm>
            <a:prstGeom prst="rect">
              <a:avLst/>
            </a:prstGeom>
            <a:noFill/>
            <a:ln>
              <a:noFill/>
            </a:ln>
          </p:spPr>
        </p:pic>
      </p:grpSp>
      <p:grpSp>
        <p:nvGrpSpPr>
          <p:cNvPr id="55" name="Group 54">
            <a:extLst>
              <a:ext uri="{FF2B5EF4-FFF2-40B4-BE49-F238E27FC236}">
                <a16:creationId xmlns:a16="http://schemas.microsoft.com/office/drawing/2014/main" id="{DA892013-4CE1-D04D-E44A-9525DC66C613}"/>
              </a:ext>
            </a:extLst>
          </p:cNvPr>
          <p:cNvGrpSpPr/>
          <p:nvPr/>
        </p:nvGrpSpPr>
        <p:grpSpPr>
          <a:xfrm>
            <a:off x="390523" y="6998927"/>
            <a:ext cx="5591175" cy="5210175"/>
            <a:chOff x="390525" y="1257300"/>
            <a:chExt cx="5591175" cy="5210175"/>
          </a:xfrm>
        </p:grpSpPr>
        <p:pic>
          <p:nvPicPr>
            <p:cNvPr id="56" name="Google Shape;155;p17" descr="image.png">
              <a:extLst>
                <a:ext uri="{FF2B5EF4-FFF2-40B4-BE49-F238E27FC236}">
                  <a16:creationId xmlns:a16="http://schemas.microsoft.com/office/drawing/2014/main" id="{3AA5993E-93CB-9B75-159E-64B37E6F9BEB}"/>
                </a:ext>
              </a:extLst>
            </p:cNvPr>
            <p:cNvPicPr preferRelativeResize="0"/>
            <p:nvPr/>
          </p:nvPicPr>
          <p:blipFill rotWithShape="1">
            <a:blip r:embed="rId7">
              <a:alphaModFix/>
            </a:blip>
            <a:srcRect/>
            <a:stretch/>
          </p:blipFill>
          <p:spPr>
            <a:xfrm>
              <a:off x="390525" y="1257300"/>
              <a:ext cx="5591175" cy="5210175"/>
            </a:xfrm>
            <a:prstGeom prst="rect">
              <a:avLst/>
            </a:prstGeom>
            <a:noFill/>
            <a:ln>
              <a:noFill/>
            </a:ln>
          </p:spPr>
        </p:pic>
        <p:pic>
          <p:nvPicPr>
            <p:cNvPr id="57" name="Google Shape;161;p17" descr="image.png">
              <a:extLst>
                <a:ext uri="{FF2B5EF4-FFF2-40B4-BE49-F238E27FC236}">
                  <a16:creationId xmlns:a16="http://schemas.microsoft.com/office/drawing/2014/main" id="{C7743485-DCAE-741F-2AFF-6489F8696C5C}"/>
                </a:ext>
              </a:extLst>
            </p:cNvPr>
            <p:cNvPicPr preferRelativeResize="0"/>
            <p:nvPr/>
          </p:nvPicPr>
          <p:blipFill rotWithShape="1">
            <a:blip r:embed="rId8">
              <a:alphaModFix/>
            </a:blip>
            <a:srcRect/>
            <a:stretch/>
          </p:blipFill>
          <p:spPr>
            <a:xfrm>
              <a:off x="781050" y="1647824"/>
              <a:ext cx="4810125" cy="4429125"/>
            </a:xfrm>
            <a:prstGeom prst="rect">
              <a:avLst/>
            </a:prstGeom>
            <a:noFill/>
            <a:ln>
              <a:noFill/>
            </a:ln>
          </p:spPr>
        </p:pic>
      </p:grpSp>
      <p:grpSp>
        <p:nvGrpSpPr>
          <p:cNvPr id="58" name="Group 57">
            <a:extLst>
              <a:ext uri="{FF2B5EF4-FFF2-40B4-BE49-F238E27FC236}">
                <a16:creationId xmlns:a16="http://schemas.microsoft.com/office/drawing/2014/main" id="{C3118BE8-4AF7-B3D9-2D47-E306179A2C6F}"/>
              </a:ext>
            </a:extLst>
          </p:cNvPr>
          <p:cNvGrpSpPr/>
          <p:nvPr/>
        </p:nvGrpSpPr>
        <p:grpSpPr>
          <a:xfrm>
            <a:off x="6398758" y="-5414314"/>
            <a:ext cx="5591175" cy="5210175"/>
            <a:chOff x="6207535" y="1257300"/>
            <a:chExt cx="5591175" cy="5210175"/>
          </a:xfrm>
        </p:grpSpPr>
        <p:pic>
          <p:nvPicPr>
            <p:cNvPr id="59" name="Google Shape;156;p17" descr="image.png">
              <a:extLst>
                <a:ext uri="{FF2B5EF4-FFF2-40B4-BE49-F238E27FC236}">
                  <a16:creationId xmlns:a16="http://schemas.microsoft.com/office/drawing/2014/main" id="{DA53B58B-568C-7729-635D-42E1D2CB4C72}"/>
                </a:ext>
              </a:extLst>
            </p:cNvPr>
            <p:cNvPicPr preferRelativeResize="0"/>
            <p:nvPr/>
          </p:nvPicPr>
          <p:blipFill rotWithShape="1">
            <a:blip r:embed="rId9">
              <a:alphaModFix/>
            </a:blip>
            <a:srcRect/>
            <a:stretch/>
          </p:blipFill>
          <p:spPr>
            <a:xfrm>
              <a:off x="6207535" y="1257300"/>
              <a:ext cx="5591175" cy="5210175"/>
            </a:xfrm>
            <a:prstGeom prst="rect">
              <a:avLst/>
            </a:prstGeom>
            <a:noFill/>
            <a:ln>
              <a:noFill/>
            </a:ln>
          </p:spPr>
        </p:pic>
        <p:sp>
          <p:nvSpPr>
            <p:cNvPr id="60" name="Google Shape;159;p17">
              <a:extLst>
                <a:ext uri="{FF2B5EF4-FFF2-40B4-BE49-F238E27FC236}">
                  <a16:creationId xmlns:a16="http://schemas.microsoft.com/office/drawing/2014/main" id="{F1723460-F2A5-F185-42C4-8A97935C79D9}"/>
                </a:ext>
              </a:extLst>
            </p:cNvPr>
            <p:cNvSpPr txBox="1"/>
            <p:nvPr/>
          </p:nvSpPr>
          <p:spPr>
            <a:xfrm>
              <a:off x="6600825" y="2308026"/>
              <a:ext cx="5050631" cy="21236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The "Deep Dive" feature. It generates a stunningly realistic conversation between two AI hosts</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GB" altLang="en-US" b="1" dirty="0">
                  <a:solidFill>
                    <a:srgbClr val="E9ECEF"/>
                  </a:solidFill>
                  <a:latin typeface="Calibri" panose="020F0502020204030204" pitchFamily="34" charset="0"/>
                  <a:ea typeface="Calibri" panose="020F0502020204030204" pitchFamily="34" charset="0"/>
                  <a:cs typeface="Calibri" panose="020F0502020204030204" pitchFamily="34" charset="0"/>
                </a:rPr>
                <a:t>Analogy: </a:t>
              </a:r>
              <a:r>
                <a:rPr lang="en-GB" altLang="en-US" dirty="0">
                  <a:solidFill>
                    <a:srgbClr val="E9ECEF"/>
                  </a:solidFill>
                  <a:latin typeface="Calibri" panose="020F0502020204030204" pitchFamily="34" charset="0"/>
                  <a:ea typeface="Calibri" panose="020F0502020204030204" pitchFamily="34" charset="0"/>
                  <a:cs typeface="Calibri" panose="020F0502020204030204" pitchFamily="34" charset="0"/>
                </a:rPr>
                <a:t>The hosts don't just read the text; they use metaphors, express surprise, and "joke" about the content to make it stick</a:t>
              </a:r>
              <a:r>
                <a:rPr lang="en-GB" altLang="en-US" b="1" dirty="0">
                  <a:solidFill>
                    <a:srgbClr val="E9ECEF"/>
                  </a:solidFill>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ClrTx/>
                <a:buFontTx/>
                <a:buChar char="•"/>
              </a:pPr>
              <a:r>
                <a:rPr lang="en-GB" altLang="en-US" b="1" dirty="0">
                  <a:solidFill>
                    <a:srgbClr val="E9ECEF"/>
                  </a:solidFill>
                  <a:latin typeface="Calibri" panose="020F0502020204030204" pitchFamily="34" charset="0"/>
                  <a:ea typeface="Calibri" panose="020F0502020204030204" pitchFamily="34" charset="0"/>
                  <a:cs typeface="Calibri" panose="020F0502020204030204" pitchFamily="34" charset="0"/>
                </a:rPr>
                <a:t>On-the-Go Learning: </a:t>
              </a:r>
              <a:r>
                <a:rPr lang="en-GB" altLang="en-US" dirty="0">
                  <a:solidFill>
                    <a:srgbClr val="E9ECEF"/>
                  </a:solidFill>
                  <a:latin typeface="Calibri" panose="020F0502020204030204" pitchFamily="34" charset="0"/>
                  <a:ea typeface="Calibri" panose="020F0502020204030204" pitchFamily="34" charset="0"/>
                  <a:cs typeface="Calibri" panose="020F0502020204030204" pitchFamily="34" charset="0"/>
                </a:rPr>
                <a:t>You can download the audio file and listen to it while commuting, cooking, or at the gym.</a:t>
              </a:r>
            </a:p>
            <a:p>
              <a:pPr lvl="0" eaLnBrk="0" fontAlgn="base" hangingPunct="0">
                <a:spcBef>
                  <a:spcPct val="0"/>
                </a:spcBef>
                <a:spcAft>
                  <a:spcPct val="0"/>
                </a:spcAft>
                <a:buClrTx/>
                <a:buFontTx/>
                <a:buChar char="•"/>
              </a:pPr>
              <a:r>
                <a:rPr lang="en-GB" altLang="en-US" b="1" dirty="0">
                  <a:solidFill>
                    <a:srgbClr val="E9ECEF"/>
                  </a:solidFill>
                  <a:latin typeface="Calibri" panose="020F0502020204030204" pitchFamily="34" charset="0"/>
                  <a:ea typeface="Calibri" panose="020F0502020204030204" pitchFamily="34" charset="0"/>
                  <a:cs typeface="Calibri" panose="020F0502020204030204" pitchFamily="34" charset="0"/>
                </a:rPr>
                <a:t>Steerability: </a:t>
              </a:r>
              <a:r>
                <a:rPr lang="en-GB" altLang="en-US" dirty="0">
                  <a:solidFill>
                    <a:srgbClr val="E9ECEF"/>
                  </a:solidFill>
                  <a:latin typeface="Calibri" panose="020F0502020204030204" pitchFamily="34" charset="0"/>
                  <a:ea typeface="Calibri" panose="020F0502020204030204" pitchFamily="34" charset="0"/>
                  <a:cs typeface="Calibri" panose="020F0502020204030204" pitchFamily="34" charset="0"/>
                </a:rPr>
                <a:t>You can now "direct" the conversation (e.g., "Focus on the final chapter and explain it to a 5-year-old").</a:t>
              </a:r>
              <a:endParaRPr lang="en-GB" dirty="0">
                <a:latin typeface="Calibri" panose="020F0502020204030204" pitchFamily="34" charset="0"/>
                <a:ea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4"/>
        <p:cNvGrpSpPr/>
        <p:nvPr/>
      </p:nvGrpSpPr>
      <p:grpSpPr>
        <a:xfrm>
          <a:off x="0" y="0"/>
          <a:ext cx="0" cy="0"/>
          <a:chOff x="0" y="0"/>
          <a:chExt cx="0" cy="0"/>
        </a:xfrm>
      </p:grpSpPr>
      <p:sp>
        <p:nvSpPr>
          <p:cNvPr id="158" name="Google Shape;158;p17"/>
          <p:cNvSpPr txBox="1"/>
          <p:nvPr/>
        </p:nvSpPr>
        <p:spPr>
          <a:xfrm>
            <a:off x="485775" y="39052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Plus Jakarta Sans"/>
                <a:ea typeface="Plus Jakarta Sans"/>
                <a:cs typeface="Plus Jakarta Sans"/>
                <a:sym typeface="Plus Jakarta Sans"/>
              </a:rPr>
              <a:t>Features: Audio Overviews</a:t>
            </a:r>
            <a:endParaRPr/>
          </a:p>
        </p:txBody>
      </p:sp>
      <p:grpSp>
        <p:nvGrpSpPr>
          <p:cNvPr id="6" name="Group 5">
            <a:extLst>
              <a:ext uri="{FF2B5EF4-FFF2-40B4-BE49-F238E27FC236}">
                <a16:creationId xmlns:a16="http://schemas.microsoft.com/office/drawing/2014/main" id="{3D940396-0530-17CE-C374-E8A85E137DF1}"/>
              </a:ext>
            </a:extLst>
          </p:cNvPr>
          <p:cNvGrpSpPr/>
          <p:nvPr/>
        </p:nvGrpSpPr>
        <p:grpSpPr>
          <a:xfrm>
            <a:off x="390525" y="1257301"/>
            <a:ext cx="5591175" cy="5210172"/>
            <a:chOff x="390525" y="1257300"/>
            <a:chExt cx="5591175" cy="5210175"/>
          </a:xfrm>
        </p:grpSpPr>
        <p:pic>
          <p:nvPicPr>
            <p:cNvPr id="155" name="Google Shape;155;p17" descr="image.png"/>
            <p:cNvPicPr preferRelativeResize="0"/>
            <p:nvPr/>
          </p:nvPicPr>
          <p:blipFill rotWithShape="1">
            <a:blip r:embed="rId3">
              <a:alphaModFix/>
            </a:blip>
            <a:srcRect/>
            <a:stretch/>
          </p:blipFill>
          <p:spPr>
            <a:xfrm>
              <a:off x="390525" y="1257300"/>
              <a:ext cx="5591175" cy="5210175"/>
            </a:xfrm>
            <a:prstGeom prst="rect">
              <a:avLst/>
            </a:prstGeom>
            <a:noFill/>
            <a:ln>
              <a:noFill/>
            </a:ln>
          </p:spPr>
        </p:pic>
        <p:pic>
          <p:nvPicPr>
            <p:cNvPr id="161" name="Google Shape;161;p17" descr="image.png"/>
            <p:cNvPicPr preferRelativeResize="0"/>
            <p:nvPr/>
          </p:nvPicPr>
          <p:blipFill rotWithShape="1">
            <a:blip r:embed="rId4">
              <a:alphaModFix/>
            </a:blip>
            <a:srcRect/>
            <a:stretch/>
          </p:blipFill>
          <p:spPr>
            <a:xfrm>
              <a:off x="781050" y="1647824"/>
              <a:ext cx="4810125" cy="4429125"/>
            </a:xfrm>
            <a:prstGeom prst="rect">
              <a:avLst/>
            </a:prstGeom>
            <a:noFill/>
            <a:ln>
              <a:noFill/>
            </a:ln>
          </p:spPr>
        </p:pic>
      </p:grpSp>
      <p:grpSp>
        <p:nvGrpSpPr>
          <p:cNvPr id="7" name="Group 6">
            <a:extLst>
              <a:ext uri="{FF2B5EF4-FFF2-40B4-BE49-F238E27FC236}">
                <a16:creationId xmlns:a16="http://schemas.microsoft.com/office/drawing/2014/main" id="{A5A5DF50-3E3E-EACD-C65C-E789EB54B872}"/>
              </a:ext>
            </a:extLst>
          </p:cNvPr>
          <p:cNvGrpSpPr/>
          <p:nvPr/>
        </p:nvGrpSpPr>
        <p:grpSpPr>
          <a:xfrm>
            <a:off x="6207535" y="1257300"/>
            <a:ext cx="5591175" cy="5210175"/>
            <a:chOff x="6207535" y="1257300"/>
            <a:chExt cx="5591175" cy="5210175"/>
          </a:xfrm>
        </p:grpSpPr>
        <p:pic>
          <p:nvPicPr>
            <p:cNvPr id="156" name="Google Shape;156;p17" descr="image.png"/>
            <p:cNvPicPr preferRelativeResize="0"/>
            <p:nvPr/>
          </p:nvPicPr>
          <p:blipFill rotWithShape="1">
            <a:blip r:embed="rId5">
              <a:alphaModFix/>
            </a:blip>
            <a:srcRect/>
            <a:stretch/>
          </p:blipFill>
          <p:spPr>
            <a:xfrm>
              <a:off x="6207535" y="1257300"/>
              <a:ext cx="5591175" cy="5210175"/>
            </a:xfrm>
            <a:prstGeom prst="rect">
              <a:avLst/>
            </a:prstGeom>
            <a:noFill/>
            <a:ln>
              <a:noFill/>
            </a:ln>
          </p:spPr>
        </p:pic>
        <p:sp>
          <p:nvSpPr>
            <p:cNvPr id="5" name="Google Shape;159;p17">
              <a:extLst>
                <a:ext uri="{FF2B5EF4-FFF2-40B4-BE49-F238E27FC236}">
                  <a16:creationId xmlns:a16="http://schemas.microsoft.com/office/drawing/2014/main" id="{02B1099C-B40D-BD93-CEC4-CB513DE2DAB6}"/>
                </a:ext>
              </a:extLst>
            </p:cNvPr>
            <p:cNvSpPr txBox="1"/>
            <p:nvPr/>
          </p:nvSpPr>
          <p:spPr>
            <a:xfrm>
              <a:off x="6600825" y="2308026"/>
              <a:ext cx="5050631" cy="25545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The "Deep Dive" feature. It generates a stunningly realistic conversation between two AI hosts</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Analogy: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The hosts don't just read the text; they use metaphors, express surprise, and "joke" about the content to make it stick</a:t>
              </a: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On-the-Go Learning: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You can download the audio file and listen to it while commuting, cooking, or at the gym.</a:t>
              </a: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Steerability: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You can now "direct" the conversation (e.g., "Focus on the final chapter and explain it to a 5-year-old").</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4">
          <a:extLst>
            <a:ext uri="{FF2B5EF4-FFF2-40B4-BE49-F238E27FC236}">
              <a16:creationId xmlns:a16="http://schemas.microsoft.com/office/drawing/2014/main" id="{6A749B6A-7F3B-0F35-24A7-66A4264592E6}"/>
            </a:ext>
          </a:extLst>
        </p:cNvPr>
        <p:cNvGrpSpPr/>
        <p:nvPr/>
      </p:nvGrpSpPr>
      <p:grpSpPr>
        <a:xfrm>
          <a:off x="0" y="0"/>
          <a:ext cx="0" cy="0"/>
          <a:chOff x="0" y="0"/>
          <a:chExt cx="0" cy="0"/>
        </a:xfrm>
      </p:grpSpPr>
      <p:sp>
        <p:nvSpPr>
          <p:cNvPr id="158" name="Google Shape;158;p17">
            <a:extLst>
              <a:ext uri="{FF2B5EF4-FFF2-40B4-BE49-F238E27FC236}">
                <a16:creationId xmlns:a16="http://schemas.microsoft.com/office/drawing/2014/main" id="{0EC5BF1A-824F-3E8E-BFC1-9FC93DD7FF16}"/>
              </a:ext>
            </a:extLst>
          </p:cNvPr>
          <p:cNvSpPr txBox="1"/>
          <p:nvPr/>
        </p:nvSpPr>
        <p:spPr>
          <a:xfrm>
            <a:off x="485775" y="39052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Plus Jakarta Sans"/>
                <a:ea typeface="Plus Jakarta Sans"/>
                <a:cs typeface="Plus Jakarta Sans"/>
                <a:sym typeface="Plus Jakarta Sans"/>
              </a:rPr>
              <a:t>Features: Video Overviews</a:t>
            </a:r>
            <a:endParaRPr dirty="0"/>
          </a:p>
        </p:txBody>
      </p:sp>
      <p:grpSp>
        <p:nvGrpSpPr>
          <p:cNvPr id="4" name="Group 3">
            <a:extLst>
              <a:ext uri="{FF2B5EF4-FFF2-40B4-BE49-F238E27FC236}">
                <a16:creationId xmlns:a16="http://schemas.microsoft.com/office/drawing/2014/main" id="{8F2C2F60-B6C5-33B2-97F0-598A2A1DF651}"/>
              </a:ext>
            </a:extLst>
          </p:cNvPr>
          <p:cNvGrpSpPr/>
          <p:nvPr/>
        </p:nvGrpSpPr>
        <p:grpSpPr>
          <a:xfrm>
            <a:off x="390525" y="1257301"/>
            <a:ext cx="5591175" cy="2132905"/>
            <a:chOff x="390525" y="1257300"/>
            <a:chExt cx="5591175" cy="5210175"/>
          </a:xfrm>
        </p:grpSpPr>
        <p:pic>
          <p:nvPicPr>
            <p:cNvPr id="155" name="Google Shape;155;p17" descr="image.png">
              <a:extLst>
                <a:ext uri="{FF2B5EF4-FFF2-40B4-BE49-F238E27FC236}">
                  <a16:creationId xmlns:a16="http://schemas.microsoft.com/office/drawing/2014/main" id="{FC9B4CE6-78D0-8A4B-9420-6898C210EB91}"/>
                </a:ext>
              </a:extLst>
            </p:cNvPr>
            <p:cNvPicPr preferRelativeResize="0"/>
            <p:nvPr/>
          </p:nvPicPr>
          <p:blipFill rotWithShape="1">
            <a:blip r:embed="rId3">
              <a:alphaModFix/>
            </a:blip>
            <a:srcRect/>
            <a:stretch/>
          </p:blipFill>
          <p:spPr>
            <a:xfrm>
              <a:off x="390525" y="1257300"/>
              <a:ext cx="5591175" cy="5210175"/>
            </a:xfrm>
            <a:prstGeom prst="rect">
              <a:avLst/>
            </a:prstGeom>
            <a:noFill/>
            <a:ln>
              <a:noFill/>
            </a:ln>
          </p:spPr>
        </p:pic>
        <p:pic>
          <p:nvPicPr>
            <p:cNvPr id="161" name="Google Shape;161;p17">
              <a:extLst>
                <a:ext uri="{FF2B5EF4-FFF2-40B4-BE49-F238E27FC236}">
                  <a16:creationId xmlns:a16="http://schemas.microsoft.com/office/drawing/2014/main" id="{AA9CDEAC-C71E-4CD4-5542-97C13AA55186}"/>
                </a:ext>
              </a:extLst>
            </p:cNvPr>
            <p:cNvPicPr preferRelativeResize="0"/>
            <p:nvPr/>
          </p:nvPicPr>
          <p:blipFill>
            <a:blip r:embed="rId4"/>
            <a:srcRect/>
            <a:stretch/>
          </p:blipFill>
          <p:spPr>
            <a:xfrm>
              <a:off x="2076448" y="1647824"/>
              <a:ext cx="2286000" cy="4429124"/>
            </a:xfrm>
            <a:prstGeom prst="rect">
              <a:avLst/>
            </a:prstGeom>
            <a:noFill/>
            <a:ln>
              <a:noFill/>
            </a:ln>
          </p:spPr>
        </p:pic>
      </p:grpSp>
      <p:grpSp>
        <p:nvGrpSpPr>
          <p:cNvPr id="5" name="Group 4">
            <a:extLst>
              <a:ext uri="{FF2B5EF4-FFF2-40B4-BE49-F238E27FC236}">
                <a16:creationId xmlns:a16="http://schemas.microsoft.com/office/drawing/2014/main" id="{77B50889-DC62-6E4E-03BF-34ECEC59B04A}"/>
              </a:ext>
            </a:extLst>
          </p:cNvPr>
          <p:cNvGrpSpPr/>
          <p:nvPr/>
        </p:nvGrpSpPr>
        <p:grpSpPr>
          <a:xfrm>
            <a:off x="6210300" y="1257300"/>
            <a:ext cx="5591175" cy="5210175"/>
            <a:chOff x="6210300" y="1257300"/>
            <a:chExt cx="5591175" cy="5210175"/>
          </a:xfrm>
        </p:grpSpPr>
        <p:pic>
          <p:nvPicPr>
            <p:cNvPr id="156" name="Google Shape;156;p17" descr="image.png">
              <a:extLst>
                <a:ext uri="{FF2B5EF4-FFF2-40B4-BE49-F238E27FC236}">
                  <a16:creationId xmlns:a16="http://schemas.microsoft.com/office/drawing/2014/main" id="{FEC56EA5-9F99-DF25-DDF0-4EE6E0422E69}"/>
                </a:ext>
              </a:extLst>
            </p:cNvPr>
            <p:cNvPicPr preferRelativeResize="0"/>
            <p:nvPr/>
          </p:nvPicPr>
          <p:blipFill rotWithShape="1">
            <a:blip r:embed="rId5">
              <a:alphaModFix/>
            </a:blip>
            <a:srcRect/>
            <a:stretch/>
          </p:blipFill>
          <p:spPr>
            <a:xfrm>
              <a:off x="6210300" y="1257300"/>
              <a:ext cx="5591175" cy="5210175"/>
            </a:xfrm>
            <a:prstGeom prst="rect">
              <a:avLst/>
            </a:prstGeom>
            <a:noFill/>
            <a:ln>
              <a:noFill/>
            </a:ln>
          </p:spPr>
        </p:pic>
        <p:sp>
          <p:nvSpPr>
            <p:cNvPr id="2" name="Google Shape;159;p17">
              <a:extLst>
                <a:ext uri="{FF2B5EF4-FFF2-40B4-BE49-F238E27FC236}">
                  <a16:creationId xmlns:a16="http://schemas.microsoft.com/office/drawing/2014/main" id="{616475AB-9270-2325-5346-E36E98FD7421}"/>
                </a:ext>
              </a:extLst>
            </p:cNvPr>
            <p:cNvSpPr txBox="1"/>
            <p:nvPr/>
          </p:nvSpPr>
          <p:spPr>
            <a:xfrm>
              <a:off x="6600825" y="2308026"/>
              <a:ext cx="5050631" cy="18158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A newer experimental feature that generates a visual presentation of your content.</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Visual Synthesis: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It creates a video summary that might include slides or visual aids along with an audio narration.</a:t>
              </a: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Rapid Review: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Great for a quick refresher before a class when you don't have time to read the full text.</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9" name="Group 8">
            <a:extLst>
              <a:ext uri="{FF2B5EF4-FFF2-40B4-BE49-F238E27FC236}">
                <a16:creationId xmlns:a16="http://schemas.microsoft.com/office/drawing/2014/main" id="{08D4EEA9-2AA6-88CB-A99D-FEB2E4B90A71}"/>
              </a:ext>
            </a:extLst>
          </p:cNvPr>
          <p:cNvGrpSpPr/>
          <p:nvPr/>
        </p:nvGrpSpPr>
        <p:grpSpPr>
          <a:xfrm>
            <a:off x="390524" y="7032288"/>
            <a:ext cx="5591175" cy="5210175"/>
            <a:chOff x="390525" y="1257300"/>
            <a:chExt cx="5591175" cy="5210175"/>
          </a:xfrm>
        </p:grpSpPr>
        <p:pic>
          <p:nvPicPr>
            <p:cNvPr id="10" name="Google Shape;155;p17" descr="image.png">
              <a:extLst>
                <a:ext uri="{FF2B5EF4-FFF2-40B4-BE49-F238E27FC236}">
                  <a16:creationId xmlns:a16="http://schemas.microsoft.com/office/drawing/2014/main" id="{92934C89-5C59-F33B-54DA-AFCB99232E49}"/>
                </a:ext>
              </a:extLst>
            </p:cNvPr>
            <p:cNvPicPr preferRelativeResize="0"/>
            <p:nvPr/>
          </p:nvPicPr>
          <p:blipFill rotWithShape="1">
            <a:blip r:embed="rId3">
              <a:alphaModFix/>
            </a:blip>
            <a:srcRect/>
            <a:stretch/>
          </p:blipFill>
          <p:spPr>
            <a:xfrm>
              <a:off x="390525" y="1257300"/>
              <a:ext cx="5591175" cy="5210175"/>
            </a:xfrm>
            <a:prstGeom prst="rect">
              <a:avLst/>
            </a:prstGeom>
            <a:noFill/>
            <a:ln>
              <a:noFill/>
            </a:ln>
          </p:spPr>
        </p:pic>
        <p:pic>
          <p:nvPicPr>
            <p:cNvPr id="11" name="Google Shape;161;p17">
              <a:extLst>
                <a:ext uri="{FF2B5EF4-FFF2-40B4-BE49-F238E27FC236}">
                  <a16:creationId xmlns:a16="http://schemas.microsoft.com/office/drawing/2014/main" id="{417BD622-448A-AF91-5A85-CD8644CC3ADA}"/>
                </a:ext>
              </a:extLst>
            </p:cNvPr>
            <p:cNvPicPr preferRelativeResize="0"/>
            <p:nvPr/>
          </p:nvPicPr>
          <p:blipFill>
            <a:blip r:embed="rId6"/>
            <a:srcRect/>
            <a:stretch/>
          </p:blipFill>
          <p:spPr>
            <a:xfrm>
              <a:off x="781240" y="1596668"/>
              <a:ext cx="4809744" cy="4429125"/>
            </a:xfrm>
            <a:prstGeom prst="rect">
              <a:avLst/>
            </a:prstGeom>
            <a:noFill/>
            <a:ln>
              <a:noFill/>
            </a:ln>
          </p:spPr>
        </p:pic>
      </p:grpSp>
      <p:grpSp>
        <p:nvGrpSpPr>
          <p:cNvPr id="12" name="Group 11">
            <a:extLst>
              <a:ext uri="{FF2B5EF4-FFF2-40B4-BE49-F238E27FC236}">
                <a16:creationId xmlns:a16="http://schemas.microsoft.com/office/drawing/2014/main" id="{7BDDA73C-0F1B-AFFF-717B-09DAE400A201}"/>
              </a:ext>
            </a:extLst>
          </p:cNvPr>
          <p:cNvGrpSpPr/>
          <p:nvPr/>
        </p:nvGrpSpPr>
        <p:grpSpPr>
          <a:xfrm>
            <a:off x="6338887" y="-5637400"/>
            <a:ext cx="5591175" cy="5210175"/>
            <a:chOff x="6210300" y="1257300"/>
            <a:chExt cx="5591175" cy="5210175"/>
          </a:xfrm>
        </p:grpSpPr>
        <p:pic>
          <p:nvPicPr>
            <p:cNvPr id="13" name="Google Shape;156;p17" descr="image.png">
              <a:extLst>
                <a:ext uri="{FF2B5EF4-FFF2-40B4-BE49-F238E27FC236}">
                  <a16:creationId xmlns:a16="http://schemas.microsoft.com/office/drawing/2014/main" id="{52F0A679-5A1F-74EC-3C71-E1F96B4A67F2}"/>
                </a:ext>
              </a:extLst>
            </p:cNvPr>
            <p:cNvPicPr preferRelativeResize="0"/>
            <p:nvPr/>
          </p:nvPicPr>
          <p:blipFill rotWithShape="1">
            <a:blip r:embed="rId5">
              <a:alphaModFix/>
            </a:blip>
            <a:srcRect/>
            <a:stretch/>
          </p:blipFill>
          <p:spPr>
            <a:xfrm>
              <a:off x="6210300" y="1257300"/>
              <a:ext cx="5591175" cy="5210175"/>
            </a:xfrm>
            <a:prstGeom prst="rect">
              <a:avLst/>
            </a:prstGeom>
            <a:noFill/>
            <a:ln>
              <a:noFill/>
            </a:ln>
          </p:spPr>
        </p:pic>
        <p:sp>
          <p:nvSpPr>
            <p:cNvPr id="14" name="Google Shape;159;p17">
              <a:extLst>
                <a:ext uri="{FF2B5EF4-FFF2-40B4-BE49-F238E27FC236}">
                  <a16:creationId xmlns:a16="http://schemas.microsoft.com/office/drawing/2014/main" id="{BC9F4ABF-0CFF-EE3F-FF0D-1431947520E5}"/>
                </a:ext>
              </a:extLst>
            </p:cNvPr>
            <p:cNvSpPr txBox="1"/>
            <p:nvPr/>
          </p:nvSpPr>
          <p:spPr>
            <a:xfrm>
              <a:off x="6600825" y="2308026"/>
              <a:ext cx="5050631" cy="21236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Digital study cards created instantly from your notes, focusing on definitions, dates, and key concepts</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GB" altLang="en-US" b="1" dirty="0">
                  <a:solidFill>
                    <a:srgbClr val="E9ECEF"/>
                  </a:solidFill>
                  <a:latin typeface="Arial" panose="020B0604020202020204" pitchFamily="34" charset="0"/>
                </a:rPr>
                <a:t>Active Recall: </a:t>
              </a:r>
              <a:r>
                <a:rPr lang="en-GB" altLang="en-US" dirty="0">
                  <a:solidFill>
                    <a:srgbClr val="E9ECEF"/>
                  </a:solidFill>
                  <a:latin typeface="Arial" panose="020B0604020202020204" pitchFamily="34" charset="0"/>
                </a:rPr>
                <a:t>You can test yourself by trying to define a term before flipping the card.</a:t>
              </a:r>
            </a:p>
            <a:p>
              <a:pPr lvl="0" eaLnBrk="0" fontAlgn="base" hangingPunct="0">
                <a:spcBef>
                  <a:spcPct val="0"/>
                </a:spcBef>
                <a:spcAft>
                  <a:spcPct val="0"/>
                </a:spcAft>
                <a:buClrTx/>
                <a:buFontTx/>
                <a:buChar char="•"/>
              </a:pPr>
              <a:r>
                <a:rPr lang="en-GB" altLang="en-US" b="1" dirty="0">
                  <a:solidFill>
                    <a:srgbClr val="E9ECEF"/>
                  </a:solidFill>
                  <a:latin typeface="Arial" panose="020B0604020202020204" pitchFamily="34" charset="0"/>
                </a:rPr>
                <a:t>Customization: Y</a:t>
              </a:r>
              <a:r>
                <a:rPr lang="en-GB" altLang="en-US" dirty="0">
                  <a:solidFill>
                    <a:srgbClr val="E9ECEF"/>
                  </a:solidFill>
                  <a:latin typeface="Arial" panose="020B0604020202020204" pitchFamily="34" charset="0"/>
                </a:rPr>
                <a:t>ou can generally guide what topics the flashcards should focus on (e.g., "Focus on the LMS section of notes").</a:t>
              </a:r>
            </a:p>
            <a:p>
              <a:pPr marL="0" marR="0" lvl="0" indent="0" algn="l" rtl="0">
                <a:spcBef>
                  <a:spcPts val="0"/>
                </a:spcBef>
                <a:spcAft>
                  <a:spcPts val="0"/>
                </a:spcAft>
                <a:buNone/>
              </a:pPr>
              <a:endParaRPr lang="en-GB" dirty="0">
                <a:latin typeface="Calibri" panose="020F0502020204030204" pitchFamily="34" charset="0"/>
                <a:ea typeface="Calibri" panose="020F0502020204030204" pitchFamily="34" charset="0"/>
                <a:cs typeface="Calibri" panose="020F0502020204030204" pitchFamily="34" charset="0"/>
              </a:endParaRPr>
            </a:p>
          </p:txBody>
        </p:sp>
      </p:grpSp>
      <p:pic>
        <p:nvPicPr>
          <p:cNvPr id="6" name="Google Shape;155;p17" descr="image.png">
            <a:extLst>
              <a:ext uri="{FF2B5EF4-FFF2-40B4-BE49-F238E27FC236}">
                <a16:creationId xmlns:a16="http://schemas.microsoft.com/office/drawing/2014/main" id="{8433EF47-1F4B-3B1A-B658-066D2836BB89}"/>
              </a:ext>
            </a:extLst>
          </p:cNvPr>
          <p:cNvPicPr preferRelativeResize="0"/>
          <p:nvPr/>
        </p:nvPicPr>
        <p:blipFill rotWithShape="1">
          <a:blip r:embed="rId3">
            <a:alphaModFix/>
          </a:blip>
          <a:srcRect/>
          <a:stretch/>
        </p:blipFill>
        <p:spPr>
          <a:xfrm>
            <a:off x="423862" y="3591779"/>
            <a:ext cx="5591175" cy="2998827"/>
          </a:xfrm>
          <a:prstGeom prst="rect">
            <a:avLst/>
          </a:prstGeom>
          <a:noFill/>
          <a:ln>
            <a:noFill/>
          </a:ln>
        </p:spPr>
      </p:pic>
      <p:pic>
        <p:nvPicPr>
          <p:cNvPr id="15" name="Picture 14">
            <a:extLst>
              <a:ext uri="{FF2B5EF4-FFF2-40B4-BE49-F238E27FC236}">
                <a16:creationId xmlns:a16="http://schemas.microsoft.com/office/drawing/2014/main" id="{E0EE2018-3162-6D2C-174A-6E0F3DF5E2F8}"/>
              </a:ext>
            </a:extLst>
          </p:cNvPr>
          <p:cNvPicPr>
            <a:picLocks noChangeAspect="1"/>
          </p:cNvPicPr>
          <p:nvPr/>
        </p:nvPicPr>
        <p:blipFill>
          <a:blip r:embed="rId7"/>
          <a:stretch>
            <a:fillRect/>
          </a:stretch>
        </p:blipFill>
        <p:spPr>
          <a:xfrm>
            <a:off x="804180" y="3729574"/>
            <a:ext cx="4763862" cy="2743200"/>
          </a:xfrm>
          <a:prstGeom prst="rect">
            <a:avLst/>
          </a:prstGeom>
        </p:spPr>
      </p:pic>
    </p:spTree>
    <p:extLst>
      <p:ext uri="{BB962C8B-B14F-4D97-AF65-F5344CB8AC3E}">
        <p14:creationId xmlns:p14="http://schemas.microsoft.com/office/powerpoint/2010/main" val="2937382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4">
          <a:extLst>
            <a:ext uri="{FF2B5EF4-FFF2-40B4-BE49-F238E27FC236}">
              <a16:creationId xmlns:a16="http://schemas.microsoft.com/office/drawing/2014/main" id="{95FFFA33-14E0-8FAC-E952-EAB45726A81B}"/>
            </a:ext>
          </a:extLst>
        </p:cNvPr>
        <p:cNvGrpSpPr/>
        <p:nvPr/>
      </p:nvGrpSpPr>
      <p:grpSpPr>
        <a:xfrm>
          <a:off x="0" y="0"/>
          <a:ext cx="0" cy="0"/>
          <a:chOff x="0" y="0"/>
          <a:chExt cx="0" cy="0"/>
        </a:xfrm>
      </p:grpSpPr>
      <p:pic>
        <p:nvPicPr>
          <p:cNvPr id="16" name="Google Shape;155;p17" descr="image.png">
            <a:extLst>
              <a:ext uri="{FF2B5EF4-FFF2-40B4-BE49-F238E27FC236}">
                <a16:creationId xmlns:a16="http://schemas.microsoft.com/office/drawing/2014/main" id="{5D1DA812-6D3E-2E79-A99F-7FEB5AEC6619}"/>
              </a:ext>
            </a:extLst>
          </p:cNvPr>
          <p:cNvPicPr preferRelativeResize="0"/>
          <p:nvPr/>
        </p:nvPicPr>
        <p:blipFill rotWithShape="1">
          <a:blip r:embed="rId3">
            <a:alphaModFix/>
          </a:blip>
          <a:srcRect/>
          <a:stretch/>
        </p:blipFill>
        <p:spPr>
          <a:xfrm>
            <a:off x="348932" y="3928248"/>
            <a:ext cx="5747068" cy="2562859"/>
          </a:xfrm>
          <a:prstGeom prst="rect">
            <a:avLst/>
          </a:prstGeom>
          <a:noFill/>
          <a:ln>
            <a:noFill/>
          </a:ln>
        </p:spPr>
      </p:pic>
      <p:sp>
        <p:nvSpPr>
          <p:cNvPr id="158" name="Google Shape;158;p17">
            <a:extLst>
              <a:ext uri="{FF2B5EF4-FFF2-40B4-BE49-F238E27FC236}">
                <a16:creationId xmlns:a16="http://schemas.microsoft.com/office/drawing/2014/main" id="{76E8B904-9416-5ED0-F82C-0A7C72DE8850}"/>
              </a:ext>
            </a:extLst>
          </p:cNvPr>
          <p:cNvSpPr txBox="1"/>
          <p:nvPr/>
        </p:nvSpPr>
        <p:spPr>
          <a:xfrm>
            <a:off x="485775" y="39052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Plus Jakarta Sans"/>
                <a:ea typeface="Plus Jakarta Sans"/>
                <a:cs typeface="Plus Jakarta Sans"/>
                <a:sym typeface="Plus Jakarta Sans"/>
              </a:rPr>
              <a:t>Features: Flashcards</a:t>
            </a:r>
            <a:endParaRPr dirty="0"/>
          </a:p>
        </p:txBody>
      </p:sp>
      <p:grpSp>
        <p:nvGrpSpPr>
          <p:cNvPr id="5" name="Group 4">
            <a:extLst>
              <a:ext uri="{FF2B5EF4-FFF2-40B4-BE49-F238E27FC236}">
                <a16:creationId xmlns:a16="http://schemas.microsoft.com/office/drawing/2014/main" id="{444816F8-AF08-3129-10C2-2C1E94CB2742}"/>
              </a:ext>
            </a:extLst>
          </p:cNvPr>
          <p:cNvGrpSpPr/>
          <p:nvPr/>
        </p:nvGrpSpPr>
        <p:grpSpPr>
          <a:xfrm>
            <a:off x="390525" y="1257301"/>
            <a:ext cx="5591175" cy="2562859"/>
            <a:chOff x="390525" y="1257300"/>
            <a:chExt cx="5591175" cy="5210175"/>
          </a:xfrm>
        </p:grpSpPr>
        <p:pic>
          <p:nvPicPr>
            <p:cNvPr id="155" name="Google Shape;155;p17" descr="image.png">
              <a:extLst>
                <a:ext uri="{FF2B5EF4-FFF2-40B4-BE49-F238E27FC236}">
                  <a16:creationId xmlns:a16="http://schemas.microsoft.com/office/drawing/2014/main" id="{36ED2F15-FFC8-960C-BAAA-22ABAECFE52C}"/>
                </a:ext>
              </a:extLst>
            </p:cNvPr>
            <p:cNvPicPr preferRelativeResize="0"/>
            <p:nvPr/>
          </p:nvPicPr>
          <p:blipFill rotWithShape="1">
            <a:blip r:embed="rId3">
              <a:alphaModFix/>
            </a:blip>
            <a:srcRect/>
            <a:stretch/>
          </p:blipFill>
          <p:spPr>
            <a:xfrm>
              <a:off x="390525" y="1257300"/>
              <a:ext cx="5591175" cy="5210175"/>
            </a:xfrm>
            <a:prstGeom prst="rect">
              <a:avLst/>
            </a:prstGeom>
            <a:noFill/>
            <a:ln>
              <a:noFill/>
            </a:ln>
          </p:spPr>
        </p:pic>
        <p:pic>
          <p:nvPicPr>
            <p:cNvPr id="161" name="Google Shape;161;p17">
              <a:extLst>
                <a:ext uri="{FF2B5EF4-FFF2-40B4-BE49-F238E27FC236}">
                  <a16:creationId xmlns:a16="http://schemas.microsoft.com/office/drawing/2014/main" id="{1A1ECAF0-544E-468B-85DC-34B3A8B63488}"/>
                </a:ext>
              </a:extLst>
            </p:cNvPr>
            <p:cNvPicPr preferRelativeResize="0"/>
            <p:nvPr/>
          </p:nvPicPr>
          <p:blipFill>
            <a:blip r:embed="rId4"/>
            <a:srcRect/>
            <a:stretch/>
          </p:blipFill>
          <p:spPr>
            <a:xfrm>
              <a:off x="1929320" y="1947218"/>
              <a:ext cx="2926080" cy="3903758"/>
            </a:xfrm>
            <a:prstGeom prst="rect">
              <a:avLst/>
            </a:prstGeom>
            <a:noFill/>
            <a:ln>
              <a:noFill/>
            </a:ln>
          </p:spPr>
        </p:pic>
      </p:grpSp>
      <p:grpSp>
        <p:nvGrpSpPr>
          <p:cNvPr id="6" name="Group 5">
            <a:extLst>
              <a:ext uri="{FF2B5EF4-FFF2-40B4-BE49-F238E27FC236}">
                <a16:creationId xmlns:a16="http://schemas.microsoft.com/office/drawing/2014/main" id="{3B3E31F1-3DFA-1CC4-3E88-88A3C342A303}"/>
              </a:ext>
            </a:extLst>
          </p:cNvPr>
          <p:cNvGrpSpPr/>
          <p:nvPr/>
        </p:nvGrpSpPr>
        <p:grpSpPr>
          <a:xfrm>
            <a:off x="6210300" y="1257300"/>
            <a:ext cx="5591175" cy="5210175"/>
            <a:chOff x="6210300" y="1257300"/>
            <a:chExt cx="5591175" cy="5210175"/>
          </a:xfrm>
        </p:grpSpPr>
        <p:pic>
          <p:nvPicPr>
            <p:cNvPr id="156" name="Google Shape;156;p17" descr="image.png">
              <a:extLst>
                <a:ext uri="{FF2B5EF4-FFF2-40B4-BE49-F238E27FC236}">
                  <a16:creationId xmlns:a16="http://schemas.microsoft.com/office/drawing/2014/main" id="{2A14D5CD-EE72-1E62-E84C-72F0A945A7BC}"/>
                </a:ext>
              </a:extLst>
            </p:cNvPr>
            <p:cNvPicPr preferRelativeResize="0"/>
            <p:nvPr/>
          </p:nvPicPr>
          <p:blipFill rotWithShape="1">
            <a:blip r:embed="rId5">
              <a:alphaModFix/>
            </a:blip>
            <a:srcRect/>
            <a:stretch/>
          </p:blipFill>
          <p:spPr>
            <a:xfrm>
              <a:off x="6210300" y="1257300"/>
              <a:ext cx="5591175" cy="5210175"/>
            </a:xfrm>
            <a:prstGeom prst="rect">
              <a:avLst/>
            </a:prstGeom>
            <a:noFill/>
            <a:ln>
              <a:noFill/>
            </a:ln>
          </p:spPr>
        </p:pic>
        <p:sp>
          <p:nvSpPr>
            <p:cNvPr id="2" name="Google Shape;159;p17">
              <a:extLst>
                <a:ext uri="{FF2B5EF4-FFF2-40B4-BE49-F238E27FC236}">
                  <a16:creationId xmlns:a16="http://schemas.microsoft.com/office/drawing/2014/main" id="{3A931F7D-9563-C2E0-50C3-2EE440B30977}"/>
                </a:ext>
              </a:extLst>
            </p:cNvPr>
            <p:cNvSpPr txBox="1"/>
            <p:nvPr/>
          </p:nvSpPr>
          <p:spPr>
            <a:xfrm>
              <a:off x="6600825" y="2308026"/>
              <a:ext cx="5050631" cy="23083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Digital study cards created instantly from your notes, focusing on definitions, dates, and key concepts</a:t>
              </a:r>
            </a:p>
            <a:p>
              <a:pPr marL="0" marR="0" lvl="0" indent="0" algn="l" rtl="0">
                <a:spcBef>
                  <a:spcPts val="0"/>
                </a:spcBef>
                <a:spcAft>
                  <a:spcPts val="0"/>
                </a:spcAft>
                <a:buNone/>
              </a:pPr>
              <a:endParaRPr lang="en-GB" sz="20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Active Recall: </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You can test yourself by trying to define a term before flipping the card.</a:t>
              </a:r>
            </a:p>
            <a:p>
              <a:pPr lvl="0" eaLnBrk="0" fontAlgn="base" hangingPunct="0">
                <a:spcBef>
                  <a:spcPct val="0"/>
                </a:spcBef>
                <a:spcAft>
                  <a:spcPct val="0"/>
                </a:spcAft>
                <a:buClrTx/>
                <a:buFontTx/>
                <a:buChar char="•"/>
              </a:pPr>
              <a:r>
                <a:rPr lang="en-GB"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Customization: Y</a:t>
              </a:r>
              <a:r>
                <a:rPr lang="en-GB"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ou can generally guide what topics the flashcards should focus on (e.g., "Focus on the LMS section of notes").</a:t>
              </a:r>
            </a:p>
            <a:p>
              <a:pPr marL="0" marR="0" lvl="0" indent="0" algn="l" rtl="0">
                <a:spcBef>
                  <a:spcPts val="0"/>
                </a:spcBef>
                <a:spcAft>
                  <a:spcPts val="0"/>
                </a:spcAft>
                <a:buNone/>
              </a:pPr>
              <a:endParaRPr lang="en-GB"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10" name="Group 9">
            <a:extLst>
              <a:ext uri="{FF2B5EF4-FFF2-40B4-BE49-F238E27FC236}">
                <a16:creationId xmlns:a16="http://schemas.microsoft.com/office/drawing/2014/main" id="{A56958F4-A0D6-4F28-14C7-54A07A3907B5}"/>
              </a:ext>
            </a:extLst>
          </p:cNvPr>
          <p:cNvGrpSpPr/>
          <p:nvPr/>
        </p:nvGrpSpPr>
        <p:grpSpPr>
          <a:xfrm>
            <a:off x="6096000" y="-5366107"/>
            <a:ext cx="5591175" cy="5210175"/>
            <a:chOff x="6210300" y="1257300"/>
            <a:chExt cx="5591175" cy="5210175"/>
          </a:xfrm>
        </p:grpSpPr>
        <p:pic>
          <p:nvPicPr>
            <p:cNvPr id="11" name="Google Shape;156;p17" descr="image.png">
              <a:extLst>
                <a:ext uri="{FF2B5EF4-FFF2-40B4-BE49-F238E27FC236}">
                  <a16:creationId xmlns:a16="http://schemas.microsoft.com/office/drawing/2014/main" id="{733DC3E7-C3FC-4903-9006-FBEE646B5B39}"/>
                </a:ext>
              </a:extLst>
            </p:cNvPr>
            <p:cNvPicPr preferRelativeResize="0"/>
            <p:nvPr/>
          </p:nvPicPr>
          <p:blipFill rotWithShape="1">
            <a:blip r:embed="rId5">
              <a:alphaModFix/>
            </a:blip>
            <a:srcRect/>
            <a:stretch/>
          </p:blipFill>
          <p:spPr>
            <a:xfrm>
              <a:off x="6210300" y="1257300"/>
              <a:ext cx="5591175" cy="5210175"/>
            </a:xfrm>
            <a:prstGeom prst="rect">
              <a:avLst/>
            </a:prstGeom>
            <a:noFill/>
            <a:ln>
              <a:noFill/>
            </a:ln>
          </p:spPr>
        </p:pic>
        <p:sp>
          <p:nvSpPr>
            <p:cNvPr id="12" name="Google Shape;159;p17">
              <a:extLst>
                <a:ext uri="{FF2B5EF4-FFF2-40B4-BE49-F238E27FC236}">
                  <a16:creationId xmlns:a16="http://schemas.microsoft.com/office/drawing/2014/main" id="{4600A8BA-6476-4F32-E038-5C5AE3A76904}"/>
                </a:ext>
              </a:extLst>
            </p:cNvPr>
            <p:cNvSpPr txBox="1"/>
            <p:nvPr/>
          </p:nvSpPr>
          <p:spPr>
            <a:xfrm>
              <a:off x="6600825" y="2308026"/>
              <a:ext cx="5050631" cy="261610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NotebookLM automatically generates a set of multiple-choice questions based only on the documents you uploaded.</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US" altLang="en-US" b="1" dirty="0">
                  <a:solidFill>
                    <a:srgbClr val="E9ECEF"/>
                  </a:solidFill>
                  <a:latin typeface="Arial" panose="020B0604020202020204" pitchFamily="34" charset="0"/>
                </a:rPr>
                <a:t>Source Grounding:</a:t>
              </a:r>
              <a:r>
                <a:rPr lang="en-US" altLang="en-US" dirty="0">
                  <a:solidFill>
                    <a:srgbClr val="E9ECEF"/>
                  </a:solidFill>
                  <a:latin typeface="Arial" panose="020B0604020202020204" pitchFamily="34" charset="0"/>
                </a:rPr>
                <a:t> It won't ask random trivia; it tests you specifically on </a:t>
              </a:r>
              <a:r>
                <a:rPr lang="en-US" altLang="en-US" i="1" dirty="0">
                  <a:solidFill>
                    <a:srgbClr val="E9ECEF"/>
                  </a:solidFill>
                  <a:latin typeface="Arial" panose="020B0604020202020204" pitchFamily="34" charset="0"/>
                </a:rPr>
                <a:t>your</a:t>
              </a:r>
              <a:r>
                <a:rPr lang="en-US" altLang="en-US" dirty="0">
                  <a:solidFill>
                    <a:srgbClr val="E9ECEF"/>
                  </a:solidFill>
                  <a:latin typeface="Arial" panose="020B0604020202020204" pitchFamily="34" charset="0"/>
                </a:rPr>
                <a:t> lecture slides or readings.</a:t>
              </a:r>
            </a:p>
            <a:p>
              <a:pPr lvl="0" eaLnBrk="0" fontAlgn="base" hangingPunct="0">
                <a:spcBef>
                  <a:spcPct val="0"/>
                </a:spcBef>
                <a:spcAft>
                  <a:spcPct val="0"/>
                </a:spcAft>
                <a:buClrTx/>
                <a:buFontTx/>
                <a:buChar char="•"/>
              </a:pPr>
              <a:r>
                <a:rPr lang="en-US" altLang="en-US" b="1" dirty="0">
                  <a:solidFill>
                    <a:srgbClr val="E9ECEF"/>
                  </a:solidFill>
                  <a:latin typeface="Arial" panose="020B0604020202020204" pitchFamily="34" charset="0"/>
                </a:rPr>
                <a:t>Suggested Answers:</a:t>
              </a:r>
              <a:r>
                <a:rPr lang="en-US" altLang="en-US" dirty="0">
                  <a:solidFill>
                    <a:srgbClr val="E9ECEF"/>
                  </a:solidFill>
                  <a:latin typeface="Arial" panose="020B0604020202020204" pitchFamily="34" charset="0"/>
                </a:rPr>
                <a:t> When you answer, it tells you if you are right or wrong and, crucially, </a:t>
              </a:r>
              <a:r>
                <a:rPr lang="en-US" altLang="en-US" i="1" dirty="0">
                  <a:solidFill>
                    <a:srgbClr val="E9ECEF"/>
                  </a:solidFill>
                  <a:latin typeface="Arial" panose="020B0604020202020204" pitchFamily="34" charset="0"/>
                </a:rPr>
                <a:t>why</a:t>
              </a:r>
              <a:r>
                <a:rPr lang="en-US" altLang="en-US" dirty="0">
                  <a:solidFill>
                    <a:srgbClr val="E9ECEF"/>
                  </a:solidFill>
                  <a:latin typeface="Arial" panose="020B0604020202020204" pitchFamily="34" charset="0"/>
                </a:rPr>
                <a:t>.</a:t>
              </a:r>
            </a:p>
            <a:p>
              <a:pPr lvl="0" eaLnBrk="0" fontAlgn="base" hangingPunct="0">
                <a:spcBef>
                  <a:spcPct val="0"/>
                </a:spcBef>
                <a:spcAft>
                  <a:spcPct val="0"/>
                </a:spcAft>
                <a:buClrTx/>
                <a:buFontTx/>
                <a:buChar char="•"/>
              </a:pPr>
              <a:r>
                <a:rPr lang="en-US" altLang="en-US" b="1" dirty="0">
                  <a:solidFill>
                    <a:srgbClr val="E9ECEF"/>
                  </a:solidFill>
                  <a:latin typeface="Arial" panose="020B0604020202020204" pitchFamily="34" charset="0"/>
                </a:rPr>
                <a:t>Citations:</a:t>
              </a:r>
              <a:r>
                <a:rPr lang="en-US" altLang="en-US" dirty="0">
                  <a:solidFill>
                    <a:srgbClr val="E9ECEF"/>
                  </a:solidFill>
                  <a:latin typeface="Arial" panose="020B0604020202020204" pitchFamily="34" charset="0"/>
                </a:rPr>
                <a:t> It links back to the exact passage in your text where the answer is found.</a:t>
              </a:r>
            </a:p>
            <a:p>
              <a:pPr marL="0" marR="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p:txBody>
        </p:sp>
      </p:grpSp>
      <p:pic>
        <p:nvPicPr>
          <p:cNvPr id="4" name="Picture 3">
            <a:extLst>
              <a:ext uri="{FF2B5EF4-FFF2-40B4-BE49-F238E27FC236}">
                <a16:creationId xmlns:a16="http://schemas.microsoft.com/office/drawing/2014/main" id="{BE0442C8-CE5B-681B-52DB-FF595BE0695B}"/>
              </a:ext>
            </a:extLst>
          </p:cNvPr>
          <p:cNvPicPr>
            <a:picLocks noChangeAspect="1"/>
          </p:cNvPicPr>
          <p:nvPr/>
        </p:nvPicPr>
        <p:blipFill>
          <a:blip r:embed="rId6"/>
          <a:stretch>
            <a:fillRect/>
          </a:stretch>
        </p:blipFill>
        <p:spPr>
          <a:xfrm>
            <a:off x="469106" y="4016836"/>
            <a:ext cx="2525395" cy="2413277"/>
          </a:xfrm>
          <a:prstGeom prst="rect">
            <a:avLst/>
          </a:prstGeom>
        </p:spPr>
      </p:pic>
      <p:pic>
        <p:nvPicPr>
          <p:cNvPr id="8" name="Picture 7">
            <a:extLst>
              <a:ext uri="{FF2B5EF4-FFF2-40B4-BE49-F238E27FC236}">
                <a16:creationId xmlns:a16="http://schemas.microsoft.com/office/drawing/2014/main" id="{2EC9F461-3424-9AF9-F19C-40EA0FE49A4C}"/>
              </a:ext>
            </a:extLst>
          </p:cNvPr>
          <p:cNvPicPr>
            <a:picLocks noChangeAspect="1"/>
          </p:cNvPicPr>
          <p:nvPr/>
        </p:nvPicPr>
        <p:blipFill>
          <a:blip r:embed="rId7"/>
          <a:stretch>
            <a:fillRect/>
          </a:stretch>
        </p:blipFill>
        <p:spPr>
          <a:xfrm>
            <a:off x="3144520" y="4003040"/>
            <a:ext cx="2929700" cy="2413277"/>
          </a:xfrm>
          <a:prstGeom prst="rect">
            <a:avLst/>
          </a:prstGeom>
        </p:spPr>
      </p:pic>
    </p:spTree>
    <p:extLst>
      <p:ext uri="{BB962C8B-B14F-4D97-AF65-F5344CB8AC3E}">
        <p14:creationId xmlns:p14="http://schemas.microsoft.com/office/powerpoint/2010/main" val="3987256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4">
          <a:extLst>
            <a:ext uri="{FF2B5EF4-FFF2-40B4-BE49-F238E27FC236}">
              <a16:creationId xmlns:a16="http://schemas.microsoft.com/office/drawing/2014/main" id="{CCFD5948-508D-8725-E45C-02E744C6F5F4}"/>
            </a:ext>
          </a:extLst>
        </p:cNvPr>
        <p:cNvGrpSpPr/>
        <p:nvPr/>
      </p:nvGrpSpPr>
      <p:grpSpPr>
        <a:xfrm>
          <a:off x="0" y="0"/>
          <a:ext cx="0" cy="0"/>
          <a:chOff x="0" y="0"/>
          <a:chExt cx="0" cy="0"/>
        </a:xfrm>
      </p:grpSpPr>
      <p:pic>
        <p:nvPicPr>
          <p:cNvPr id="11" name="Google Shape;155;p17" descr="image.png">
            <a:extLst>
              <a:ext uri="{FF2B5EF4-FFF2-40B4-BE49-F238E27FC236}">
                <a16:creationId xmlns:a16="http://schemas.microsoft.com/office/drawing/2014/main" id="{19B52952-2A66-9E67-E5AE-345374B13394}"/>
              </a:ext>
            </a:extLst>
          </p:cNvPr>
          <p:cNvPicPr preferRelativeResize="0"/>
          <p:nvPr/>
        </p:nvPicPr>
        <p:blipFill rotWithShape="1">
          <a:blip r:embed="rId3">
            <a:alphaModFix/>
          </a:blip>
          <a:srcRect/>
          <a:stretch/>
        </p:blipFill>
        <p:spPr>
          <a:xfrm>
            <a:off x="319087" y="3160378"/>
            <a:ext cx="5649278" cy="3487002"/>
          </a:xfrm>
          <a:prstGeom prst="rect">
            <a:avLst/>
          </a:prstGeom>
          <a:noFill/>
          <a:ln>
            <a:noFill/>
          </a:ln>
        </p:spPr>
      </p:pic>
      <p:sp>
        <p:nvSpPr>
          <p:cNvPr id="158" name="Google Shape;158;p17">
            <a:extLst>
              <a:ext uri="{FF2B5EF4-FFF2-40B4-BE49-F238E27FC236}">
                <a16:creationId xmlns:a16="http://schemas.microsoft.com/office/drawing/2014/main" id="{39269C27-1520-B2A5-568E-3499359EFC3E}"/>
              </a:ext>
            </a:extLst>
          </p:cNvPr>
          <p:cNvSpPr txBox="1"/>
          <p:nvPr/>
        </p:nvSpPr>
        <p:spPr>
          <a:xfrm>
            <a:off x="485775" y="39052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Plus Jakarta Sans"/>
                <a:ea typeface="Plus Jakarta Sans"/>
                <a:cs typeface="Plus Jakarta Sans"/>
                <a:sym typeface="Plus Jakarta Sans"/>
              </a:rPr>
              <a:t>Features: Quiz</a:t>
            </a:r>
            <a:endParaRPr dirty="0"/>
          </a:p>
        </p:txBody>
      </p:sp>
      <p:grpSp>
        <p:nvGrpSpPr>
          <p:cNvPr id="6" name="Group 5">
            <a:extLst>
              <a:ext uri="{FF2B5EF4-FFF2-40B4-BE49-F238E27FC236}">
                <a16:creationId xmlns:a16="http://schemas.microsoft.com/office/drawing/2014/main" id="{9965F166-EC48-0CEB-C122-4B2CD9ED3E6C}"/>
              </a:ext>
            </a:extLst>
          </p:cNvPr>
          <p:cNvGrpSpPr/>
          <p:nvPr/>
        </p:nvGrpSpPr>
        <p:grpSpPr>
          <a:xfrm>
            <a:off x="6210300" y="1257300"/>
            <a:ext cx="5591175" cy="5210175"/>
            <a:chOff x="6210300" y="1257300"/>
            <a:chExt cx="5591175" cy="5210175"/>
          </a:xfrm>
        </p:grpSpPr>
        <p:pic>
          <p:nvPicPr>
            <p:cNvPr id="156" name="Google Shape;156;p17" descr="image.png">
              <a:extLst>
                <a:ext uri="{FF2B5EF4-FFF2-40B4-BE49-F238E27FC236}">
                  <a16:creationId xmlns:a16="http://schemas.microsoft.com/office/drawing/2014/main" id="{A0604A45-3E8C-22FB-7E9F-D769C4ACA03C}"/>
                </a:ext>
              </a:extLst>
            </p:cNvPr>
            <p:cNvPicPr preferRelativeResize="0"/>
            <p:nvPr/>
          </p:nvPicPr>
          <p:blipFill rotWithShape="1">
            <a:blip r:embed="rId4">
              <a:alphaModFix/>
            </a:blip>
            <a:srcRect/>
            <a:stretch/>
          </p:blipFill>
          <p:spPr>
            <a:xfrm>
              <a:off x="6210300" y="1257300"/>
              <a:ext cx="5591175" cy="5210175"/>
            </a:xfrm>
            <a:prstGeom prst="rect">
              <a:avLst/>
            </a:prstGeom>
            <a:noFill/>
            <a:ln>
              <a:noFill/>
            </a:ln>
          </p:spPr>
        </p:pic>
        <p:sp>
          <p:nvSpPr>
            <p:cNvPr id="159" name="Google Shape;159;p17">
              <a:extLst>
                <a:ext uri="{FF2B5EF4-FFF2-40B4-BE49-F238E27FC236}">
                  <a16:creationId xmlns:a16="http://schemas.microsoft.com/office/drawing/2014/main" id="{A780B9A2-1CF4-7074-9B4A-C6F9B710C458}"/>
                </a:ext>
              </a:extLst>
            </p:cNvPr>
            <p:cNvSpPr txBox="1"/>
            <p:nvPr/>
          </p:nvSpPr>
          <p:spPr>
            <a:xfrm>
              <a:off x="6600825" y="2308026"/>
              <a:ext cx="5050631" cy="28007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800"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NotebookLM automatically generates a set of multiple-choice questions based only on the documents you uploaded.</a:t>
              </a:r>
            </a:p>
            <a:p>
              <a:pPr marL="0" marR="0" lvl="0" indent="0" algn="l" rtl="0">
                <a:spcBef>
                  <a:spcPts val="0"/>
                </a:spcBef>
                <a:spcAft>
                  <a:spcPts val="0"/>
                </a:spcAft>
                <a:buNone/>
              </a:pPr>
              <a:endParaRPr lang="en-GB" sz="1800" dirty="0">
                <a:solidFill>
                  <a:srgbClr val="E9ECEF"/>
                </a:solidFill>
                <a:latin typeface="Calibri" panose="020F0502020204030204" pitchFamily="34" charset="0"/>
                <a:ea typeface="Calibri" panose="020F0502020204030204" pitchFamily="34" charset="0"/>
                <a:cs typeface="Calibri" panose="020F0502020204030204" pitchFamily="34" charset="0"/>
                <a:sym typeface="Plus Jakarta Sans"/>
              </a:endParaRPr>
            </a:p>
            <a:p>
              <a:pPr lvl="0" eaLnBrk="0" fontAlgn="base" hangingPunct="0">
                <a:spcBef>
                  <a:spcPct val="0"/>
                </a:spcBef>
                <a:spcAft>
                  <a:spcPct val="0"/>
                </a:spcAft>
                <a:buClrTx/>
                <a:buFontTx/>
                <a:buChar char="•"/>
              </a:pPr>
              <a:r>
                <a:rPr lang="en-US"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Source Grounding:</a:t>
              </a:r>
              <a:r>
                <a:rPr lang="en-US"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 It won't ask random trivia; it tests you specifically on your lecture slides or readings.</a:t>
              </a:r>
            </a:p>
            <a:p>
              <a:pPr lvl="0" eaLnBrk="0" fontAlgn="base" hangingPunct="0">
                <a:spcBef>
                  <a:spcPct val="0"/>
                </a:spcBef>
                <a:spcAft>
                  <a:spcPct val="0"/>
                </a:spcAft>
                <a:buClrTx/>
                <a:buFontTx/>
                <a:buChar char="•"/>
              </a:pPr>
              <a:r>
                <a:rPr lang="en-US"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Suggested Answers:</a:t>
              </a:r>
              <a:r>
                <a:rPr lang="en-US"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 When you answer, it tells you if you are right or wrong and, crucially, </a:t>
              </a:r>
              <a:r>
                <a:rPr lang="en-US" altLang="en-US" sz="1600" i="1" dirty="0">
                  <a:solidFill>
                    <a:srgbClr val="E9ECEF"/>
                  </a:solidFill>
                  <a:latin typeface="Calibri" panose="020F0502020204030204" pitchFamily="34" charset="0"/>
                  <a:ea typeface="Calibri" panose="020F0502020204030204" pitchFamily="34" charset="0"/>
                  <a:cs typeface="Calibri" panose="020F0502020204030204" pitchFamily="34" charset="0"/>
                </a:rPr>
                <a:t>why</a:t>
              </a:r>
              <a:r>
                <a:rPr lang="en-US"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ClrTx/>
                <a:buFontTx/>
                <a:buChar char="•"/>
              </a:pPr>
              <a:r>
                <a:rPr lang="en-US" altLang="en-US" sz="1600" b="1" dirty="0">
                  <a:solidFill>
                    <a:srgbClr val="E9ECEF"/>
                  </a:solidFill>
                  <a:latin typeface="Calibri" panose="020F0502020204030204" pitchFamily="34" charset="0"/>
                  <a:ea typeface="Calibri" panose="020F0502020204030204" pitchFamily="34" charset="0"/>
                  <a:cs typeface="Calibri" panose="020F0502020204030204" pitchFamily="34" charset="0"/>
                </a:rPr>
                <a:t>Citations:</a:t>
              </a:r>
              <a:r>
                <a:rPr lang="en-US" altLang="en-US" sz="1600" dirty="0">
                  <a:solidFill>
                    <a:srgbClr val="E9ECEF"/>
                  </a:solidFill>
                  <a:latin typeface="Calibri" panose="020F0502020204030204" pitchFamily="34" charset="0"/>
                  <a:ea typeface="Calibri" panose="020F0502020204030204" pitchFamily="34" charset="0"/>
                  <a:cs typeface="Calibri" panose="020F0502020204030204" pitchFamily="34" charset="0"/>
                </a:rPr>
                <a:t> It links back to the exact passage in your text where the answer is found.</a:t>
              </a:r>
            </a:p>
            <a:p>
              <a:pPr marL="0" marR="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5" name="Group 4">
            <a:extLst>
              <a:ext uri="{FF2B5EF4-FFF2-40B4-BE49-F238E27FC236}">
                <a16:creationId xmlns:a16="http://schemas.microsoft.com/office/drawing/2014/main" id="{4B84FE52-1606-F60D-BCC3-8D1896673E18}"/>
              </a:ext>
            </a:extLst>
          </p:cNvPr>
          <p:cNvGrpSpPr/>
          <p:nvPr/>
        </p:nvGrpSpPr>
        <p:grpSpPr>
          <a:xfrm>
            <a:off x="390525" y="1257301"/>
            <a:ext cx="5591175" cy="1770379"/>
            <a:chOff x="390525" y="1257300"/>
            <a:chExt cx="5591175" cy="5210175"/>
          </a:xfrm>
        </p:grpSpPr>
        <p:pic>
          <p:nvPicPr>
            <p:cNvPr id="155" name="Google Shape;155;p17" descr="image.png">
              <a:extLst>
                <a:ext uri="{FF2B5EF4-FFF2-40B4-BE49-F238E27FC236}">
                  <a16:creationId xmlns:a16="http://schemas.microsoft.com/office/drawing/2014/main" id="{F0F3A7C6-D2EC-F218-F9D7-483997C35EEE}"/>
                </a:ext>
              </a:extLst>
            </p:cNvPr>
            <p:cNvPicPr preferRelativeResize="0"/>
            <p:nvPr/>
          </p:nvPicPr>
          <p:blipFill rotWithShape="1">
            <a:blip r:embed="rId3">
              <a:alphaModFix/>
            </a:blip>
            <a:srcRect/>
            <a:stretch/>
          </p:blipFill>
          <p:spPr>
            <a:xfrm>
              <a:off x="390525" y="1257300"/>
              <a:ext cx="5591175" cy="5210175"/>
            </a:xfrm>
            <a:prstGeom prst="rect">
              <a:avLst/>
            </a:prstGeom>
            <a:noFill/>
            <a:ln>
              <a:noFill/>
            </a:ln>
          </p:spPr>
        </p:pic>
        <p:pic>
          <p:nvPicPr>
            <p:cNvPr id="161" name="Google Shape;161;p17">
              <a:extLst>
                <a:ext uri="{FF2B5EF4-FFF2-40B4-BE49-F238E27FC236}">
                  <a16:creationId xmlns:a16="http://schemas.microsoft.com/office/drawing/2014/main" id="{DB1ADE77-DDC4-1CFB-7A8D-41C2228504B2}"/>
                </a:ext>
              </a:extLst>
            </p:cNvPr>
            <p:cNvPicPr preferRelativeResize="0"/>
            <p:nvPr/>
          </p:nvPicPr>
          <p:blipFill>
            <a:blip r:embed="rId5"/>
            <a:srcRect/>
            <a:stretch/>
          </p:blipFill>
          <p:spPr>
            <a:xfrm>
              <a:off x="2036445" y="1647823"/>
              <a:ext cx="2286000" cy="4429125"/>
            </a:xfrm>
            <a:prstGeom prst="rect">
              <a:avLst/>
            </a:prstGeom>
            <a:noFill/>
            <a:ln>
              <a:noFill/>
            </a:ln>
          </p:spPr>
        </p:pic>
      </p:grpSp>
      <p:sp>
        <p:nvSpPr>
          <p:cNvPr id="4" name="Rectangle: Rounded Corners 3">
            <a:extLst>
              <a:ext uri="{FF2B5EF4-FFF2-40B4-BE49-F238E27FC236}">
                <a16:creationId xmlns:a16="http://schemas.microsoft.com/office/drawing/2014/main" id="{B734A4BE-54E1-1956-9BD6-2667AC0B2657}"/>
              </a:ext>
            </a:extLst>
          </p:cNvPr>
          <p:cNvSpPr/>
          <p:nvPr/>
        </p:nvSpPr>
        <p:spPr>
          <a:xfrm>
            <a:off x="390525" y="7010400"/>
            <a:ext cx="11516340" cy="214572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8FAFC"/>
                </a:solidFill>
              </a:rPr>
              <a:t>Impacts on ICT in Education</a:t>
            </a:r>
          </a:p>
          <a:p>
            <a:pPr lvl="0" eaLnBrk="0" fontAlgn="base" hangingPunct="0">
              <a:spcBef>
                <a:spcPct val="0"/>
              </a:spcBef>
              <a:spcAft>
                <a:spcPct val="0"/>
              </a:spcAft>
              <a:buClrTx/>
              <a:buFontTx/>
              <a:buChar char="•"/>
            </a:pPr>
            <a:r>
              <a:rPr lang="en-US" altLang="en-US" sz="1600" b="1" dirty="0">
                <a:solidFill>
                  <a:srgbClr val="F8FAFC"/>
                </a:solidFill>
                <a:latin typeface="Arial" panose="020B0604020202020204" pitchFamily="34" charset="0"/>
              </a:rPr>
              <a:t>Shift to Synthesis:</a:t>
            </a:r>
            <a:r>
              <a:rPr lang="en-US" altLang="en-US" sz="1600" dirty="0">
                <a:solidFill>
                  <a:srgbClr val="F8FAFC"/>
                </a:solidFill>
                <a:latin typeface="Arial" panose="020B0604020202020204" pitchFamily="34" charset="0"/>
              </a:rPr>
              <a:t> It moves the core student skill from "searching for facts" (Google) to "connecting the dots" between complex sources.</a:t>
            </a:r>
          </a:p>
          <a:p>
            <a:pPr lvl="0" eaLnBrk="0" fontAlgn="base" hangingPunct="0">
              <a:spcBef>
                <a:spcPct val="0"/>
              </a:spcBef>
              <a:spcAft>
                <a:spcPct val="0"/>
              </a:spcAft>
              <a:buClrTx/>
              <a:buFontTx/>
              <a:buChar char="•"/>
            </a:pPr>
            <a:r>
              <a:rPr lang="en-US" altLang="en-US" sz="1600" b="1" dirty="0">
                <a:solidFill>
                  <a:srgbClr val="F8FAFC"/>
                </a:solidFill>
                <a:latin typeface="Arial" panose="020B0604020202020204" pitchFamily="34" charset="0"/>
              </a:rPr>
              <a:t>Grounded AI:</a:t>
            </a:r>
            <a:r>
              <a:rPr lang="en-US" altLang="en-US" sz="1600" dirty="0">
                <a:solidFill>
                  <a:srgbClr val="F8FAFC"/>
                </a:solidFill>
                <a:latin typeface="Arial" panose="020B0604020202020204" pitchFamily="34" charset="0"/>
              </a:rPr>
              <a:t> It introduces the first safe, "cited" AI model that we can trust, reducing the fear of hallucinations and misinformation.</a:t>
            </a:r>
          </a:p>
          <a:p>
            <a:pPr lvl="0" eaLnBrk="0" fontAlgn="base" hangingPunct="0">
              <a:spcBef>
                <a:spcPct val="0"/>
              </a:spcBef>
              <a:spcAft>
                <a:spcPct val="0"/>
              </a:spcAft>
              <a:buClrTx/>
              <a:buFontTx/>
              <a:buChar char="•"/>
            </a:pPr>
            <a:r>
              <a:rPr lang="en-US" altLang="en-US" sz="1600" b="1" dirty="0">
                <a:solidFill>
                  <a:srgbClr val="F8FAFC"/>
                </a:solidFill>
                <a:latin typeface="Arial" panose="020B0604020202020204" pitchFamily="34" charset="0"/>
              </a:rPr>
              <a:t>Hyper-Personalization:</a:t>
            </a:r>
            <a:r>
              <a:rPr lang="en-US" altLang="en-US" sz="1600" dirty="0">
                <a:solidFill>
                  <a:srgbClr val="F8FAFC"/>
                </a:solidFill>
                <a:latin typeface="Arial" panose="020B0604020202020204" pitchFamily="34" charset="0"/>
              </a:rPr>
              <a:t> It allows every student to transform generic course materials into personalized study guides, quizzes, and podcasts instantly.</a:t>
            </a:r>
          </a:p>
          <a:p>
            <a:pPr algn="ctr"/>
            <a:endParaRPr lang="en-US" sz="1800" b="1" dirty="0">
              <a:solidFill>
                <a:srgbClr val="F8FAFC"/>
              </a:solidFill>
            </a:endParaRPr>
          </a:p>
        </p:txBody>
      </p:sp>
      <p:pic>
        <p:nvPicPr>
          <p:cNvPr id="7" name="Google Shape;196;p19" descr="image.png">
            <a:extLst>
              <a:ext uri="{FF2B5EF4-FFF2-40B4-BE49-F238E27FC236}">
                <a16:creationId xmlns:a16="http://schemas.microsoft.com/office/drawing/2014/main" id="{861192BF-1C02-B54C-6656-45BBA13737A6}"/>
              </a:ext>
            </a:extLst>
          </p:cNvPr>
          <p:cNvPicPr preferRelativeResize="0"/>
          <p:nvPr/>
        </p:nvPicPr>
        <p:blipFill rotWithShape="1">
          <a:blip r:embed="rId6">
            <a:alphaModFix/>
          </a:blip>
          <a:srcRect/>
          <a:stretch/>
        </p:blipFill>
        <p:spPr>
          <a:xfrm>
            <a:off x="8740973" y="-1666900"/>
            <a:ext cx="1711128" cy="1380852"/>
          </a:xfrm>
          <a:prstGeom prst="rect">
            <a:avLst/>
          </a:prstGeom>
          <a:noFill/>
          <a:ln>
            <a:noFill/>
          </a:ln>
        </p:spPr>
      </p:pic>
      <p:pic>
        <p:nvPicPr>
          <p:cNvPr id="9" name="Picture 8">
            <a:extLst>
              <a:ext uri="{FF2B5EF4-FFF2-40B4-BE49-F238E27FC236}">
                <a16:creationId xmlns:a16="http://schemas.microsoft.com/office/drawing/2014/main" id="{764FEEA8-156E-C32A-21E1-647A603606D9}"/>
              </a:ext>
            </a:extLst>
          </p:cNvPr>
          <p:cNvPicPr>
            <a:picLocks noChangeAspect="1"/>
          </p:cNvPicPr>
          <p:nvPr/>
        </p:nvPicPr>
        <p:blipFill>
          <a:blip r:embed="rId7"/>
          <a:stretch>
            <a:fillRect/>
          </a:stretch>
        </p:blipFill>
        <p:spPr>
          <a:xfrm>
            <a:off x="626114" y="3267075"/>
            <a:ext cx="5035223" cy="3200400"/>
          </a:xfrm>
          <a:prstGeom prst="rect">
            <a:avLst/>
          </a:prstGeom>
        </p:spPr>
      </p:pic>
    </p:spTree>
    <p:extLst>
      <p:ext uri="{BB962C8B-B14F-4D97-AF65-F5344CB8AC3E}">
        <p14:creationId xmlns:p14="http://schemas.microsoft.com/office/powerpoint/2010/main" val="3752266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p:cNvGrpSpPr/>
        <p:nvPr/>
      </p:nvGrpSpPr>
      <p:grpSpPr>
        <a:xfrm>
          <a:off x="0" y="0"/>
          <a:ext cx="0" cy="0"/>
          <a:chOff x="0" y="0"/>
          <a:chExt cx="0" cy="0"/>
        </a:xfrm>
      </p:grpSpPr>
      <p:pic>
        <p:nvPicPr>
          <p:cNvPr id="196" name="Google Shape;196;p19" descr="image.png"/>
          <p:cNvPicPr preferRelativeResize="0"/>
          <p:nvPr/>
        </p:nvPicPr>
        <p:blipFill rotWithShape="1">
          <a:blip r:embed="rId3">
            <a:alphaModFix/>
          </a:blip>
          <a:srcRect/>
          <a:stretch/>
        </p:blipFill>
        <p:spPr>
          <a:xfrm>
            <a:off x="8690173" y="130448"/>
            <a:ext cx="1711128" cy="1380852"/>
          </a:xfrm>
          <a:prstGeom prst="rect">
            <a:avLst/>
          </a:prstGeom>
          <a:noFill/>
          <a:ln>
            <a:noFill/>
          </a:ln>
        </p:spPr>
      </p:pic>
      <p:sp>
        <p:nvSpPr>
          <p:cNvPr id="2" name="Google Shape;158;p17">
            <a:extLst>
              <a:ext uri="{FF2B5EF4-FFF2-40B4-BE49-F238E27FC236}">
                <a16:creationId xmlns:a16="http://schemas.microsoft.com/office/drawing/2014/main" id="{61010101-3489-4916-FA5D-FE91B74C1679}"/>
              </a:ext>
            </a:extLst>
          </p:cNvPr>
          <p:cNvSpPr txBox="1"/>
          <p:nvPr/>
        </p:nvSpPr>
        <p:spPr>
          <a:xfrm>
            <a:off x="485775" y="398503"/>
            <a:ext cx="86709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How It helps Students and Teachers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BAAC3BCF-3232-374C-0B45-14709D0746C7}"/>
              </a:ext>
            </a:extLst>
          </p:cNvPr>
          <p:cNvSpPr/>
          <p:nvPr/>
        </p:nvSpPr>
        <p:spPr>
          <a:xfrm>
            <a:off x="400685" y="1257302"/>
            <a:ext cx="5705475" cy="240374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Students</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It can help in Organizing Notes</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It can be useful for quick revision before exams</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It is more reliable as considered to other AI like ChatGPT</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Tools like Flashcards and Quiz are extremely effective in practicing the course work</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You can ask it to explain any problem and it would give you a focused explanation</a:t>
            </a:r>
          </a:p>
        </p:txBody>
      </p:sp>
      <p:sp>
        <p:nvSpPr>
          <p:cNvPr id="8" name="Rectangle: Rounded Corners 7">
            <a:extLst>
              <a:ext uri="{FF2B5EF4-FFF2-40B4-BE49-F238E27FC236}">
                <a16:creationId xmlns:a16="http://schemas.microsoft.com/office/drawing/2014/main" id="{8245E203-AEBA-212A-DDEF-67C6ED3AE708}"/>
              </a:ext>
            </a:extLst>
          </p:cNvPr>
          <p:cNvSpPr/>
          <p:nvPr/>
        </p:nvSpPr>
        <p:spPr>
          <a:xfrm>
            <a:off x="390525" y="3799840"/>
            <a:ext cx="11516340" cy="2492477"/>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8FAFC"/>
                </a:solidFill>
                <a:latin typeface="Calibri" panose="020F0502020204030204" pitchFamily="34" charset="0"/>
                <a:ea typeface="Calibri" panose="020F0502020204030204" pitchFamily="34" charset="0"/>
                <a:cs typeface="Calibri" panose="020F0502020204030204" pitchFamily="34" charset="0"/>
              </a:rPr>
              <a:t>Impacts on ICT in Education</a:t>
            </a:r>
          </a:p>
          <a:p>
            <a:pPr lvl="0" eaLnBrk="0" fontAlgn="base" hangingPunct="0">
              <a:spcBef>
                <a:spcPct val="0"/>
              </a:spcBef>
              <a:spcAft>
                <a:spcPct val="0"/>
              </a:spcAft>
              <a:buClrTx/>
              <a:buFontTx/>
              <a:buChar char="•"/>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Shift to Synthesis:</a:t>
            </a: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 It moves the core student skill from "searching for facts" (Google) to "connecting the dots" between complex sources.</a:t>
            </a:r>
          </a:p>
          <a:p>
            <a:pPr lvl="0" eaLnBrk="0" fontAlgn="base" hangingPunct="0">
              <a:spcBef>
                <a:spcPct val="0"/>
              </a:spcBef>
              <a:spcAft>
                <a:spcPct val="0"/>
              </a:spcAft>
              <a:buClrTx/>
              <a:buFontTx/>
              <a:buChar char="•"/>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Grounded AI:</a:t>
            </a: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 It introduces the first safe, "cited" AI model that we can trust, reducing the fear of hallucinations and misinformation.</a:t>
            </a:r>
          </a:p>
          <a:p>
            <a:pPr lvl="0" eaLnBrk="0" fontAlgn="base" hangingPunct="0">
              <a:spcBef>
                <a:spcPct val="0"/>
              </a:spcBef>
              <a:spcAft>
                <a:spcPct val="0"/>
              </a:spcAft>
              <a:buClrTx/>
              <a:buFontTx/>
              <a:buChar char="•"/>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Hyper-Personalization:</a:t>
            </a: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 It allows every student to transform generic course materials into personalized study guides, quizzes, and podcasts instantly.</a:t>
            </a:r>
          </a:p>
          <a:p>
            <a:pPr algn="ctr"/>
            <a:endParaRPr lang="en-US" sz="1800" b="1" dirty="0">
              <a:solidFill>
                <a:srgbClr val="F8FAFC"/>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7EDF30C5-3A83-6FCD-70D1-D80749931D9B}"/>
              </a:ext>
            </a:extLst>
          </p:cNvPr>
          <p:cNvSpPr/>
          <p:nvPr/>
        </p:nvSpPr>
        <p:spPr>
          <a:xfrm>
            <a:off x="6397942" y="1257302"/>
            <a:ext cx="5705475" cy="2403740"/>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Teachers</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It can generate simple and advanced explanation of the same course material</a:t>
            </a:r>
          </a:p>
          <a:p>
            <a:pPr marL="285750" indent="-285750" eaLnBrk="0" fontAlgn="base" hangingPunct="0">
              <a:spcBef>
                <a:spcPct val="0"/>
              </a:spcBef>
              <a:spcAft>
                <a:spcPct val="0"/>
              </a:spcAft>
              <a:buClrTx/>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It can generate course material like quizzes and slides </a:t>
            </a:r>
          </a:p>
          <a:p>
            <a:pPr marL="285750" indent="-285750" eaLnBrk="0" fontAlgn="base" hangingPunct="0">
              <a:spcBef>
                <a:spcPct val="0"/>
              </a:spcBef>
              <a:spcAft>
                <a:spcPct val="0"/>
              </a:spcAft>
              <a:buClrTx/>
              <a:buFontTx/>
              <a:buChar char="•"/>
            </a:pPr>
            <a:r>
              <a:rPr lang="en-GB" sz="1600" dirty="0">
                <a:latin typeface="Calibri" panose="020F0502020204030204" pitchFamily="34" charset="0"/>
                <a:ea typeface="Calibri" panose="020F0502020204030204" pitchFamily="34" charset="0"/>
                <a:cs typeface="Calibri" panose="020F0502020204030204" pitchFamily="34" charset="0"/>
              </a:rPr>
              <a:t>Teachers can upload CLOs and their lesson plans, ensuring they are hitting all required learning outcomes.</a:t>
            </a:r>
          </a:p>
          <a:p>
            <a:pPr marL="285750" indent="-285750" eaLnBrk="0" fontAlgn="base" hangingPunct="0">
              <a:spcBef>
                <a:spcPct val="0"/>
              </a:spcBef>
              <a:spcAft>
                <a:spcPct val="0"/>
              </a:spcAft>
              <a:buClrTx/>
              <a:buFontTx/>
              <a:buChar char="•"/>
            </a:pPr>
            <a:r>
              <a:rPr lang="en-GB" sz="1600" dirty="0">
                <a:latin typeface="Calibri" panose="020F0502020204030204" pitchFamily="34" charset="0"/>
                <a:ea typeface="Calibri" panose="020F0502020204030204" pitchFamily="34" charset="0"/>
                <a:cs typeface="Calibri" panose="020F0502020204030204" pitchFamily="34" charset="0"/>
              </a:rPr>
              <a:t>Teachers can upload a grading rubric and a student submission to quickly check if specific criteria were met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AEB6C3A2-65C6-AC53-D430-925B20BBF906}"/>
            </a:ext>
          </a:extLst>
        </p:cNvPr>
        <p:cNvGrpSpPr/>
        <p:nvPr/>
      </p:nvGrpSpPr>
      <p:grpSpPr>
        <a:xfrm>
          <a:off x="0" y="0"/>
          <a:ext cx="0" cy="0"/>
          <a:chOff x="0" y="0"/>
          <a:chExt cx="0" cy="0"/>
        </a:xfrm>
      </p:grpSpPr>
      <p:sp>
        <p:nvSpPr>
          <p:cNvPr id="2" name="Google Shape;158;p17">
            <a:extLst>
              <a:ext uri="{FF2B5EF4-FFF2-40B4-BE49-F238E27FC236}">
                <a16:creationId xmlns:a16="http://schemas.microsoft.com/office/drawing/2014/main" id="{67E8E4E3-C2BD-D2BB-F293-4B7A0D396866}"/>
              </a:ext>
            </a:extLst>
          </p:cNvPr>
          <p:cNvSpPr txBox="1"/>
          <p:nvPr/>
        </p:nvSpPr>
        <p:spPr>
          <a:xfrm>
            <a:off x="485775" y="398503"/>
            <a:ext cx="86709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Ethical and Privacy Concerns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Rounded Corners 2">
            <a:extLst>
              <a:ext uri="{FF2B5EF4-FFF2-40B4-BE49-F238E27FC236}">
                <a16:creationId xmlns:a16="http://schemas.microsoft.com/office/drawing/2014/main" id="{197643AD-24A5-36C7-5BFF-5787E9884225}"/>
              </a:ext>
            </a:extLst>
          </p:cNvPr>
          <p:cNvSpPr/>
          <p:nvPr/>
        </p:nvSpPr>
        <p:spPr>
          <a:xfrm>
            <a:off x="405633" y="1220556"/>
            <a:ext cx="5482406" cy="2840167"/>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buClrTx/>
            </a:pPr>
            <a:r>
              <a:rPr lang="en-US" altLang="en-US" sz="1800" b="1" dirty="0">
                <a:latin typeface="Calibri" panose="020F0502020204030204" pitchFamily="34" charset="0"/>
                <a:ea typeface="Calibri" panose="020F0502020204030204" pitchFamily="34" charset="0"/>
                <a:cs typeface="Calibri" panose="020F0502020204030204" pitchFamily="34" charset="0"/>
              </a:rPr>
              <a:t>Ethical Concern</a:t>
            </a:r>
          </a:p>
          <a:p>
            <a:pPr lvl="0" eaLnBrk="0" fontAlgn="base" hangingPunct="0">
              <a:spcBef>
                <a:spcPct val="0"/>
              </a:spcBef>
              <a:spcAft>
                <a:spcPct val="0"/>
              </a:spcAft>
              <a:buClrTx/>
              <a:buFontTx/>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If students rely entirely on the AI to summarize texts and generate quiz answers, they risk bypassing the struggle of learning. Reading a difficult text is the mental workout.</a:t>
            </a:r>
          </a:p>
          <a:p>
            <a:pPr lvl="0" eaLnBrk="0" fontAlgn="base" hangingPunct="0">
              <a:spcBef>
                <a:spcPct val="0"/>
              </a:spcBef>
              <a:spcAft>
                <a:spcPct val="0"/>
              </a:spcAft>
              <a:buClrTx/>
              <a:buFontTx/>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The Risk: Students might become "editors" of information rather than "thinkers," losing the ability to read deeply or synthesize information without AI assistance.</a:t>
            </a:r>
          </a:p>
          <a:p>
            <a:pPr lvl="0" eaLnBrk="0" fontAlgn="base" hangingPunct="0">
              <a:spcBef>
                <a:spcPct val="0"/>
              </a:spcBef>
              <a:spcAft>
                <a:spcPct val="0"/>
              </a:spcAft>
              <a:buClrTx/>
              <a:buFontTx/>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The Solution: Educators must frame NotebookLM as a helper (a tutor), not a substitute.</a:t>
            </a:r>
          </a:p>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197643AD-24A5-36C7-5BFF-5787E9884225}"/>
              </a:ext>
            </a:extLst>
          </p:cNvPr>
          <p:cNvSpPr/>
          <p:nvPr/>
        </p:nvSpPr>
        <p:spPr>
          <a:xfrm>
            <a:off x="6096000" y="1220556"/>
            <a:ext cx="5869858" cy="2840167"/>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buClrTx/>
            </a:pPr>
            <a:r>
              <a:rPr lang="en-US" altLang="en-US" sz="1800" b="1" dirty="0">
                <a:latin typeface="Calibri" panose="020F0502020204030204" pitchFamily="34" charset="0"/>
                <a:ea typeface="Calibri" panose="020F0502020204030204" pitchFamily="34" charset="0"/>
                <a:cs typeface="Calibri" panose="020F0502020204030204" pitchFamily="34" charset="0"/>
              </a:rPr>
              <a:t>Privacy Concern</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Students and teachers are uploading sensitive intellectual property (unpublished research, personal essays, course materials) to a Google server.</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The Risk: While NotebookLM claims that your data is not used to train the public model, it is still stored in the cloud.</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The Risk: Institutions with strict data privacy laws may hesitate to use a cloud-based tool where they don't have full control over the server.</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95F26C1C-6F19-B5ED-D041-21AEAB51F961}"/>
              </a:ext>
            </a:extLst>
          </p:cNvPr>
          <p:cNvSpPr/>
          <p:nvPr/>
        </p:nvSpPr>
        <p:spPr>
          <a:xfrm>
            <a:off x="226142" y="4188542"/>
            <a:ext cx="11739716" cy="2492477"/>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buClrTx/>
            </a:pPr>
            <a:r>
              <a:rPr lang="en-US" altLang="en-US" sz="1800" b="1" dirty="0">
                <a:latin typeface="Calibri" panose="020F0502020204030204" pitchFamily="34" charset="0"/>
                <a:ea typeface="Calibri" panose="020F0502020204030204" pitchFamily="34" charset="0"/>
                <a:cs typeface="Calibri" panose="020F0502020204030204" pitchFamily="34" charset="0"/>
              </a:rPr>
              <a:t>Accuracy Concern</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Even with RAG (Retrieval-Augmented Generation), the AI can make mistakes. It might misinterpret a sarcastic sentence as a factual statement. </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The Risk: "Automation Bias." Students often trust the computer blindly. If the AI says a fact is true, a student might study it, memorize it, and write it on an exam without verifying the original source.</a:t>
            </a:r>
          </a:p>
          <a:p>
            <a:pPr lvl="0" eaLnBrk="0" fontAlgn="base" hangingPunct="0">
              <a:spcBef>
                <a:spcPct val="0"/>
              </a:spcBef>
              <a:spcAft>
                <a:spcPct val="0"/>
              </a:spcAft>
              <a:buClrTx/>
              <a:buFontTx/>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The Rule: The "Human in the Loop" is mandatory. Always verify the citation before trusting the summary.</a:t>
            </a:r>
          </a:p>
          <a:p>
            <a:pPr lvl="0" eaLnBrk="0" fontAlgn="base" hangingPunct="0">
              <a:spcBef>
                <a:spcPct val="0"/>
              </a:spcBef>
              <a:spcAft>
                <a:spcPct val="0"/>
              </a:spcAft>
              <a:buClrTx/>
              <a:buFontTx/>
              <a:buChar char="•"/>
            </a:pPr>
            <a:endParaRPr lang="en-GB"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endParaRPr lang="en-GB"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12" name="Group 11">
            <a:extLst>
              <a:ext uri="{FF2B5EF4-FFF2-40B4-BE49-F238E27FC236}">
                <a16:creationId xmlns:a16="http://schemas.microsoft.com/office/drawing/2014/main" id="{39873A43-D31A-BC5C-3E8E-5058F2643F99}"/>
              </a:ext>
            </a:extLst>
          </p:cNvPr>
          <p:cNvGrpSpPr/>
          <p:nvPr/>
        </p:nvGrpSpPr>
        <p:grpSpPr>
          <a:xfrm>
            <a:off x="405633" y="7080500"/>
            <a:ext cx="11706224" cy="2451842"/>
            <a:chOff x="390523" y="1306474"/>
            <a:chExt cx="5591177" cy="5161001"/>
          </a:xfrm>
        </p:grpSpPr>
        <p:sp>
          <p:nvSpPr>
            <p:cNvPr id="13" name="Rectangle: Rounded Corners 12">
              <a:extLst>
                <a:ext uri="{FF2B5EF4-FFF2-40B4-BE49-F238E27FC236}">
                  <a16:creationId xmlns:a16="http://schemas.microsoft.com/office/drawing/2014/main" id="{67858E06-B5AE-E9A9-FE61-1852F5835442}"/>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115;p15">
              <a:extLst>
                <a:ext uri="{FF2B5EF4-FFF2-40B4-BE49-F238E27FC236}">
                  <a16:creationId xmlns:a16="http://schemas.microsoft.com/office/drawing/2014/main" id="{7FEFD859-A842-8B62-0199-ED9B6487B7F9}"/>
                </a:ext>
              </a:extLst>
            </p:cNvPr>
            <p:cNvSpPr txBox="1"/>
            <p:nvPr/>
          </p:nvSpPr>
          <p:spPr>
            <a:xfrm>
              <a:off x="835384" y="2022276"/>
              <a:ext cx="5050631" cy="58306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Accuracy</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5" name="Google Shape;116;p15">
              <a:extLst>
                <a:ext uri="{FF2B5EF4-FFF2-40B4-BE49-F238E27FC236}">
                  <a16:creationId xmlns:a16="http://schemas.microsoft.com/office/drawing/2014/main" id="{5DBEEF4A-A682-1A2B-2BBF-EC39B2AF4405}"/>
                </a:ext>
              </a:extLst>
            </p:cNvPr>
            <p:cNvSpPr txBox="1"/>
            <p:nvPr/>
          </p:nvSpPr>
          <p:spPr>
            <a:xfrm>
              <a:off x="781050" y="2593776"/>
              <a:ext cx="4810126" cy="139936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CBD5E1"/>
                  </a:solidFill>
                  <a:latin typeface="Calibri" panose="020F0502020204030204" pitchFamily="34" charset="0"/>
                  <a:ea typeface="Calibri" panose="020F0502020204030204" pitchFamily="34" charset="0"/>
                  <a:cs typeface="Calibri" panose="020F0502020204030204" pitchFamily="34" charset="0"/>
                  <a:sym typeface="Inter"/>
                </a:rPr>
                <a:t>Common AI Models like ChatGPT are prone to hallucinating a lot of its information. However, it is rare in NotebookLM because it have a concise information library defined by user,</a:t>
              </a:r>
              <a:endParaRPr dirty="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308877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0"/>
        <p:cNvGrpSpPr/>
        <p:nvPr/>
      </p:nvGrpSpPr>
      <p:grpSpPr>
        <a:xfrm>
          <a:off x="0" y="0"/>
          <a:ext cx="0" cy="0"/>
          <a:chOff x="0" y="0"/>
          <a:chExt cx="0" cy="0"/>
        </a:xfrm>
      </p:grpSpPr>
      <p:sp>
        <p:nvSpPr>
          <p:cNvPr id="114" name="Google Shape;114;p15"/>
          <p:cNvSpPr txBox="1"/>
          <p:nvPr/>
        </p:nvSpPr>
        <p:spPr>
          <a:xfrm>
            <a:off x="485775" y="42100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Why This Tool Is Useful?</a:t>
            </a:r>
            <a:endParaRPr dirty="0">
              <a:latin typeface="Calibri" panose="020F0502020204030204" pitchFamily="34" charset="0"/>
              <a:ea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E8F43E33-11E7-EEDB-6EE3-836359332151}"/>
              </a:ext>
            </a:extLst>
          </p:cNvPr>
          <p:cNvGrpSpPr/>
          <p:nvPr/>
        </p:nvGrpSpPr>
        <p:grpSpPr>
          <a:xfrm>
            <a:off x="8114205" y="1151209"/>
            <a:ext cx="3797391" cy="2743200"/>
            <a:chOff x="390523" y="1306474"/>
            <a:chExt cx="5591177" cy="5161001"/>
          </a:xfrm>
        </p:grpSpPr>
        <p:sp>
          <p:nvSpPr>
            <p:cNvPr id="25" name="Rectangle: Rounded Corners 24">
              <a:extLst>
                <a:ext uri="{FF2B5EF4-FFF2-40B4-BE49-F238E27FC236}">
                  <a16:creationId xmlns:a16="http://schemas.microsoft.com/office/drawing/2014/main" id="{73B62A4E-5291-4F61-F377-633554A1DDF7}"/>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5" name="Google Shape;115;p15"/>
            <p:cNvSpPr txBox="1"/>
            <p:nvPr/>
          </p:nvSpPr>
          <p:spPr>
            <a:xfrm>
              <a:off x="834507" y="1555687"/>
              <a:ext cx="5050630" cy="5211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Accuracy</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16" name="Google Shape;116;p15"/>
            <p:cNvSpPr txBox="1"/>
            <p:nvPr/>
          </p:nvSpPr>
          <p:spPr>
            <a:xfrm>
              <a:off x="834507" y="2102493"/>
              <a:ext cx="4810126" cy="3242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Common AI Models like ChatGPT are prone to hallucinating a lot of its information. However, it is rare in NotebookLM because it have a concise information library defined by user,</a:t>
              </a:r>
              <a:endParaRPr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60" name="Group 59">
            <a:extLst>
              <a:ext uri="{FF2B5EF4-FFF2-40B4-BE49-F238E27FC236}">
                <a16:creationId xmlns:a16="http://schemas.microsoft.com/office/drawing/2014/main" id="{AB33A64B-2C15-2A95-B9AC-9D7D3A5EA4AB}"/>
              </a:ext>
            </a:extLst>
          </p:cNvPr>
          <p:cNvGrpSpPr/>
          <p:nvPr/>
        </p:nvGrpSpPr>
        <p:grpSpPr>
          <a:xfrm>
            <a:off x="160551" y="1155008"/>
            <a:ext cx="3797391" cy="2743200"/>
            <a:chOff x="390523" y="1306474"/>
            <a:chExt cx="5591177" cy="5161001"/>
          </a:xfrm>
        </p:grpSpPr>
        <p:sp>
          <p:nvSpPr>
            <p:cNvPr id="61" name="Rectangle: Rounded Corners 60">
              <a:extLst>
                <a:ext uri="{FF2B5EF4-FFF2-40B4-BE49-F238E27FC236}">
                  <a16:creationId xmlns:a16="http://schemas.microsoft.com/office/drawing/2014/main" id="{693B636A-5233-A178-5D39-B1237CECF6F5}"/>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2" name="Google Shape;115;p15">
              <a:extLst>
                <a:ext uri="{FF2B5EF4-FFF2-40B4-BE49-F238E27FC236}">
                  <a16:creationId xmlns:a16="http://schemas.microsoft.com/office/drawing/2014/main" id="{3463F28A-0145-1E33-379A-024428199359}"/>
                </a:ext>
              </a:extLst>
            </p:cNvPr>
            <p:cNvSpPr txBox="1"/>
            <p:nvPr/>
          </p:nvSpPr>
          <p:spPr>
            <a:xfrm>
              <a:off x="710705" y="1639557"/>
              <a:ext cx="5050630" cy="5211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Relevancy</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63" name="Google Shape;116;p15">
              <a:extLst>
                <a:ext uri="{FF2B5EF4-FFF2-40B4-BE49-F238E27FC236}">
                  <a16:creationId xmlns:a16="http://schemas.microsoft.com/office/drawing/2014/main" id="{EBDADDA8-8523-02ED-5E63-6293D97300E2}"/>
                </a:ext>
              </a:extLst>
            </p:cNvPr>
            <p:cNvSpPr txBox="1"/>
            <p:nvPr/>
          </p:nvSpPr>
          <p:spPr>
            <a:xfrm>
              <a:off x="710705" y="2244253"/>
              <a:ext cx="4787557" cy="2431988"/>
            </a:xfrm>
            <a:prstGeom prst="rect">
              <a:avLst/>
            </a:prstGeom>
            <a:noFill/>
            <a:ln>
              <a:noFill/>
            </a:ln>
          </p:spPr>
          <p:txBody>
            <a:bodyPr spcFirstLastPara="1" wrap="square" lIns="0" tIns="0" rIns="0" bIns="0" anchor="t" anchorCtr="0">
              <a:spAutoFit/>
            </a:bodyPr>
            <a:lstStyle/>
            <a:p>
              <a:pPr eaLnBrk="0" fontAlgn="base" hangingPunct="0">
                <a:spcBef>
                  <a:spcPct val="0"/>
                </a:spcBef>
                <a:spcAft>
                  <a:spcPct val="0"/>
                </a:spcAft>
                <a:buClrTx/>
              </a:pPr>
              <a:r>
                <a:rPr lang="en-US" dirty="0">
                  <a:solidFill>
                    <a:schemeClr val="lt1"/>
                  </a:solidFill>
                  <a:latin typeface="Calibri" panose="020F0502020204030204" pitchFamily="34" charset="0"/>
                  <a:ea typeface="Calibri" panose="020F0502020204030204" pitchFamily="34" charset="0"/>
                  <a:cs typeface="Calibri" panose="020F0502020204030204" pitchFamily="34" charset="0"/>
                  <a:sym typeface="Inter"/>
                </a:rPr>
                <a:t>Common Models like ChatGPT can offer very irrelevant information like tidbits and trivial stuff which is not related to the actual topic. This is not an issue in NotebookLM because all the information is given out based on the sources user provides</a:t>
              </a:r>
              <a:endParaRPr dirty="0">
                <a:solidFill>
                  <a:schemeClr val="lt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65" name="Group 64">
            <a:extLst>
              <a:ext uri="{FF2B5EF4-FFF2-40B4-BE49-F238E27FC236}">
                <a16:creationId xmlns:a16="http://schemas.microsoft.com/office/drawing/2014/main" id="{401F925C-AA3D-8785-B4E5-88FD6AED3AAA}"/>
              </a:ext>
            </a:extLst>
          </p:cNvPr>
          <p:cNvGrpSpPr/>
          <p:nvPr/>
        </p:nvGrpSpPr>
        <p:grpSpPr>
          <a:xfrm>
            <a:off x="4153469" y="1151209"/>
            <a:ext cx="3797390" cy="2743200"/>
            <a:chOff x="390523" y="1306474"/>
            <a:chExt cx="5591177" cy="5161001"/>
          </a:xfrm>
        </p:grpSpPr>
        <p:sp>
          <p:nvSpPr>
            <p:cNvPr id="66" name="Rectangle: Rounded Corners 65">
              <a:extLst>
                <a:ext uri="{FF2B5EF4-FFF2-40B4-BE49-F238E27FC236}">
                  <a16:creationId xmlns:a16="http://schemas.microsoft.com/office/drawing/2014/main" id="{0F500679-B347-BA16-04FF-42EC038A19E3}"/>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7" name="Google Shape;115;p15">
              <a:extLst>
                <a:ext uri="{FF2B5EF4-FFF2-40B4-BE49-F238E27FC236}">
                  <a16:creationId xmlns:a16="http://schemas.microsoft.com/office/drawing/2014/main" id="{337DAD67-8FE0-E497-48CE-B70C1B36098A}"/>
                </a:ext>
              </a:extLst>
            </p:cNvPr>
            <p:cNvSpPr txBox="1"/>
            <p:nvPr/>
          </p:nvSpPr>
          <p:spPr>
            <a:xfrm>
              <a:off x="781049" y="1633917"/>
              <a:ext cx="5050630" cy="5211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References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68" name="Google Shape;116;p15">
              <a:extLst>
                <a:ext uri="{FF2B5EF4-FFF2-40B4-BE49-F238E27FC236}">
                  <a16:creationId xmlns:a16="http://schemas.microsoft.com/office/drawing/2014/main" id="{E3F78128-AEE6-343E-DC8B-2CE26E3DC3E3}"/>
                </a:ext>
              </a:extLst>
            </p:cNvPr>
            <p:cNvSpPr txBox="1"/>
            <p:nvPr/>
          </p:nvSpPr>
          <p:spPr>
            <a:xfrm>
              <a:off x="757358" y="2172029"/>
              <a:ext cx="4810125" cy="3242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If you are not sure about the information NotebookLM is giving out. It also provides with the exact place in the source where it is providing the information fro</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sym typeface="Inter"/>
                </a:rPr>
                <a:t>m. SO, user can instantly double-check the information</a:t>
              </a:r>
              <a:endParaRPr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10" name="Group 9">
            <a:extLst>
              <a:ext uri="{FF2B5EF4-FFF2-40B4-BE49-F238E27FC236}">
                <a16:creationId xmlns:a16="http://schemas.microsoft.com/office/drawing/2014/main" id="{11AA3832-5ACA-FD58-285F-59B4A9C81E47}"/>
              </a:ext>
            </a:extLst>
          </p:cNvPr>
          <p:cNvGrpSpPr/>
          <p:nvPr/>
        </p:nvGrpSpPr>
        <p:grpSpPr>
          <a:xfrm>
            <a:off x="258314" y="4068454"/>
            <a:ext cx="11587699" cy="2512290"/>
            <a:chOff x="390523" y="1306474"/>
            <a:chExt cx="5591177" cy="5474225"/>
          </a:xfrm>
        </p:grpSpPr>
        <p:sp>
          <p:nvSpPr>
            <p:cNvPr id="11" name="Rectangle: Rounded Corners 10">
              <a:extLst>
                <a:ext uri="{FF2B5EF4-FFF2-40B4-BE49-F238E27FC236}">
                  <a16:creationId xmlns:a16="http://schemas.microsoft.com/office/drawing/2014/main" id="{F3E70CFE-FAEA-90B7-9EA1-71AE377712A1}"/>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2" name="Google Shape;115;p15">
              <a:extLst>
                <a:ext uri="{FF2B5EF4-FFF2-40B4-BE49-F238E27FC236}">
                  <a16:creationId xmlns:a16="http://schemas.microsoft.com/office/drawing/2014/main" id="{1EDFD45D-A0BC-93D8-8EFB-C94414299DC7}"/>
                </a:ext>
              </a:extLst>
            </p:cNvPr>
            <p:cNvSpPr txBox="1"/>
            <p:nvPr/>
          </p:nvSpPr>
          <p:spPr>
            <a:xfrm>
              <a:off x="700204" y="1805538"/>
              <a:ext cx="5050631" cy="603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Calibri" panose="020F0502020204030204" pitchFamily="34" charset="0"/>
                  <a:ea typeface="Calibri" panose="020F0502020204030204" pitchFamily="34" charset="0"/>
                  <a:cs typeface="Calibri" panose="020F0502020204030204" pitchFamily="34" charset="0"/>
                  <a:sym typeface="Plus Jakarta Sans"/>
                </a:rPr>
                <a:t>Would We Recommend it for Education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3" name="Google Shape;116;p15">
              <a:extLst>
                <a:ext uri="{FF2B5EF4-FFF2-40B4-BE49-F238E27FC236}">
                  <a16:creationId xmlns:a16="http://schemas.microsoft.com/office/drawing/2014/main" id="{72ADC18A-B1CF-49AA-B1A4-6C93E1220DA8}"/>
                </a:ext>
              </a:extLst>
            </p:cNvPr>
            <p:cNvSpPr txBox="1"/>
            <p:nvPr/>
          </p:nvSpPr>
          <p:spPr>
            <a:xfrm>
              <a:off x="710706" y="2555678"/>
              <a:ext cx="4787557" cy="4225021"/>
            </a:xfrm>
            <a:prstGeom prst="rect">
              <a:avLst/>
            </a:prstGeom>
            <a:noFill/>
            <a:ln>
              <a:noFill/>
            </a:ln>
          </p:spPr>
          <p:txBody>
            <a:bodyPr spcFirstLastPara="1" wrap="square" lIns="0" tIns="0" rIns="0" bIns="0" anchor="t" anchorCtr="0">
              <a:spAutoFit/>
            </a:bodyPr>
            <a:lstStyle/>
            <a:p>
              <a:pPr lvl="0" eaLnBrk="0" fontAlgn="base" hangingPunct="0">
                <a:spcBef>
                  <a:spcPct val="0"/>
                </a:spcBef>
                <a:spcAft>
                  <a:spcPct val="0"/>
                </a:spcAft>
                <a:buClrTx/>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Yes, </a:t>
              </a: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we would absolutely recommend NotebookLM because</a:t>
              </a:r>
            </a:p>
            <a:p>
              <a:pPr lvl="0" eaLnBrk="0" fontAlgn="base" hangingPunct="0">
                <a:spcBef>
                  <a:spcPct val="0"/>
                </a:spcBef>
                <a:spcAft>
                  <a:spcPct val="0"/>
                </a:spcAft>
                <a:buClrTx/>
                <a:buFontTx/>
                <a:buChar char="•"/>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It Democratizes Tutoring:</a:t>
              </a:r>
              <a:endPar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Historically, only wealthy students could afford a personal tutor to explain complex topics 1-on-1. NotebookLM gives </a:t>
              </a:r>
              <a:r>
                <a:rPr lang="en-US" altLang="en-US" sz="1600" i="1" dirty="0">
                  <a:solidFill>
                    <a:srgbClr val="F8FAFC"/>
                  </a:solidFill>
                  <a:latin typeface="Calibri" panose="020F0502020204030204" pitchFamily="34" charset="0"/>
                  <a:ea typeface="Calibri" panose="020F0502020204030204" pitchFamily="34" charset="0"/>
                  <a:cs typeface="Calibri" panose="020F0502020204030204" pitchFamily="34" charset="0"/>
                </a:rPr>
                <a:t>every</a:t>
              </a: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 student a personalized, patient, and available 24/7 tutor. This is a massive win for equity in education.</a:t>
              </a:r>
            </a:p>
            <a:p>
              <a:pPr lvl="0" eaLnBrk="0" fontAlgn="base" hangingPunct="0">
                <a:spcBef>
                  <a:spcPct val="0"/>
                </a:spcBef>
                <a:spcAft>
                  <a:spcPct val="0"/>
                </a:spcAft>
                <a:buClrTx/>
                <a:buFontTx/>
                <a:buChar char="•"/>
              </a:pPr>
              <a:r>
                <a:rPr lang="en-US" altLang="en-US" sz="1600" b="1" dirty="0">
                  <a:solidFill>
                    <a:srgbClr val="F8FAFC"/>
                  </a:solidFill>
                  <a:latin typeface="Calibri" panose="020F0502020204030204" pitchFamily="34" charset="0"/>
                  <a:ea typeface="Calibri" panose="020F0502020204030204" pitchFamily="34" charset="0"/>
                  <a:cs typeface="Calibri" panose="020F0502020204030204" pitchFamily="34" charset="0"/>
                </a:rPr>
                <a:t>It Supports Diverse Learners:</a:t>
              </a:r>
              <a:endPar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r>
                <a:rPr lang="en-US" altLang="en-US" sz="1600" dirty="0">
                  <a:solidFill>
                    <a:srgbClr val="F8FAFC"/>
                  </a:solidFill>
                  <a:latin typeface="Calibri" panose="020F0502020204030204" pitchFamily="34" charset="0"/>
                  <a:ea typeface="Calibri" panose="020F0502020204030204" pitchFamily="34" charset="0"/>
                  <a:cs typeface="Calibri" panose="020F0502020204030204" pitchFamily="34" charset="0"/>
                </a:rPr>
                <a:t>The Audio Overviews are a game-changer for students with dyslexia, ADHD, or those who simply learn better by listening. It acknowledges that reading text isn't the only way to absorb knowledge.</a:t>
              </a:r>
            </a:p>
            <a:p>
              <a:pPr lvl="0" eaLnBrk="0" fontAlgn="base" hangingPunct="0">
                <a:spcBef>
                  <a:spcPct val="0"/>
                </a:spcBef>
                <a:spcAft>
                  <a:spcPct val="0"/>
                </a:spcAft>
                <a:buClrTx/>
              </a:pPr>
              <a:endParaRPr lang="en-US" altLang="en-US" dirty="0">
                <a:solidFill>
                  <a:srgbClr val="F8FAFC"/>
                </a:solidFill>
                <a:latin typeface="Calibri" panose="020F0502020204030204" pitchFamily="34" charset="0"/>
                <a:ea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0">
          <a:extLst>
            <a:ext uri="{FF2B5EF4-FFF2-40B4-BE49-F238E27FC236}">
              <a16:creationId xmlns:a16="http://schemas.microsoft.com/office/drawing/2014/main" id="{C4D1343D-2F85-DFFF-E81B-6A5C3A04300A}"/>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994896D4-BC37-479C-B108-97DCFDC6D427}"/>
              </a:ext>
            </a:extLst>
          </p:cNvPr>
          <p:cNvSpPr txBox="1"/>
          <p:nvPr/>
        </p:nvSpPr>
        <p:spPr>
          <a:xfrm>
            <a:off x="485775" y="421005"/>
            <a:ext cx="117062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Plus Jakarta Sans"/>
                <a:ea typeface="Plus Jakarta Sans"/>
                <a:cs typeface="Plus Jakarta Sans"/>
                <a:sym typeface="Plus Jakarta Sans"/>
              </a:rPr>
              <a:t>In Conclusion</a:t>
            </a:r>
            <a:endParaRPr dirty="0"/>
          </a:p>
        </p:txBody>
      </p:sp>
      <p:grpSp>
        <p:nvGrpSpPr>
          <p:cNvPr id="29" name="Group 28">
            <a:extLst>
              <a:ext uri="{FF2B5EF4-FFF2-40B4-BE49-F238E27FC236}">
                <a16:creationId xmlns:a16="http://schemas.microsoft.com/office/drawing/2014/main" id="{5204C040-FE47-0363-06DA-87B5D5049281}"/>
              </a:ext>
            </a:extLst>
          </p:cNvPr>
          <p:cNvGrpSpPr/>
          <p:nvPr/>
        </p:nvGrpSpPr>
        <p:grpSpPr>
          <a:xfrm>
            <a:off x="242888" y="1144274"/>
            <a:ext cx="11706224" cy="5413842"/>
            <a:chOff x="390523" y="1306474"/>
            <a:chExt cx="5591177" cy="5161001"/>
          </a:xfrm>
        </p:grpSpPr>
        <p:sp>
          <p:nvSpPr>
            <p:cNvPr id="25" name="Rectangle: Rounded Corners 24">
              <a:extLst>
                <a:ext uri="{FF2B5EF4-FFF2-40B4-BE49-F238E27FC236}">
                  <a16:creationId xmlns:a16="http://schemas.microsoft.com/office/drawing/2014/main" id="{1F6D08F6-3D19-FB5D-7C18-FB786FADE8F2}"/>
                </a:ext>
              </a:extLst>
            </p:cNvPr>
            <p:cNvSpPr/>
            <p:nvPr/>
          </p:nvSpPr>
          <p:spPr>
            <a:xfrm>
              <a:off x="390523" y="1306474"/>
              <a:ext cx="5591177" cy="5161001"/>
            </a:xfrm>
            <a:prstGeom prst="roundRect">
              <a:avLst/>
            </a:prstGeom>
            <a:solidFill>
              <a:srgbClr val="1E29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Google Shape;115;p15">
              <a:extLst>
                <a:ext uri="{FF2B5EF4-FFF2-40B4-BE49-F238E27FC236}">
                  <a16:creationId xmlns:a16="http://schemas.microsoft.com/office/drawing/2014/main" id="{B8A4DEA8-50F2-A6DE-C04D-865B1CE937EF}"/>
                </a:ext>
              </a:extLst>
            </p:cNvPr>
            <p:cNvSpPr txBox="1"/>
            <p:nvPr/>
          </p:nvSpPr>
          <p:spPr>
            <a:xfrm>
              <a:off x="835384" y="2022276"/>
              <a:ext cx="5050631" cy="58306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8FAFC"/>
                  </a:solidFill>
                  <a:latin typeface="Plus Jakarta Sans"/>
                  <a:ea typeface="Plus Jakarta Sans"/>
                  <a:cs typeface="Plus Jakarta Sans"/>
                  <a:sym typeface="Plus Jakarta Sans"/>
                </a:rPr>
                <a:t>Got any Questions?</a:t>
              </a:r>
              <a:endParaRPr dirty="0"/>
            </a:p>
          </p:txBody>
        </p:sp>
        <p:sp>
          <p:nvSpPr>
            <p:cNvPr id="116" name="Google Shape;116;p15">
              <a:extLst>
                <a:ext uri="{FF2B5EF4-FFF2-40B4-BE49-F238E27FC236}">
                  <a16:creationId xmlns:a16="http://schemas.microsoft.com/office/drawing/2014/main" id="{42C21CDE-F4EF-FF6E-6570-CEAF08C77F4A}"/>
                </a:ext>
              </a:extLst>
            </p:cNvPr>
            <p:cNvSpPr txBox="1"/>
            <p:nvPr/>
          </p:nvSpPr>
          <p:spPr>
            <a:xfrm>
              <a:off x="781050" y="2593776"/>
              <a:ext cx="4810126" cy="7255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dirty="0">
                  <a:solidFill>
                    <a:srgbClr val="F8FAFC"/>
                  </a:solidFill>
                  <a:latin typeface="Inter"/>
                  <a:ea typeface="Inter"/>
                  <a:sym typeface="Inter"/>
                </a:rPr>
                <a:t>If you got any Questions. Feel Free to Ask Them and Thank You.</a:t>
              </a:r>
              <a:endParaRPr dirty="0">
                <a:solidFill>
                  <a:srgbClr val="F8FAFC"/>
                </a:solidFill>
              </a:endParaRPr>
            </a:p>
          </p:txBody>
        </p:sp>
      </p:grpSp>
    </p:spTree>
    <p:extLst>
      <p:ext uri="{BB962C8B-B14F-4D97-AF65-F5344CB8AC3E}">
        <p14:creationId xmlns:p14="http://schemas.microsoft.com/office/powerpoint/2010/main" val="1662994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1793</Words>
  <Application>Microsoft Office PowerPoint</Application>
  <PresentationFormat>Widescreen</PresentationFormat>
  <Paragraphs>142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Arial</vt:lpstr>
      <vt:lpstr>Inter</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Aliyan</cp:lastModifiedBy>
  <cp:revision>9</cp:revision>
  <dcterms:modified xsi:type="dcterms:W3CDTF">2025-12-05T18:22:29Z</dcterms:modified>
</cp:coreProperties>
</file>