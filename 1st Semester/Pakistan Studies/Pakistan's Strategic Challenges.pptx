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5.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s/slide26.xml" ContentType="application/vnd.openxmlformats-officedocument.presentationml.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notesSlides/notesSlide21.xml" ContentType="application/vnd.openxmlformats-officedocument.presentationml.notesSlide+xml"/>
  <Override PartName="/ppt/notesSlides/notesSlide14.xml" ContentType="application/vnd.openxmlformats-officedocument.presentationml.notesSlide+xml"/>
  <Override PartName="/ppt/slides/slide24.xml" ContentType="application/vnd.openxmlformats-officedocument.presentationml.slide+xml"/>
  <Override PartName="/ppt/slides/slide25.xml" ContentType="application/vnd.openxmlformats-officedocument.presentationml.slide+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notesSlides/notesSlide22.xml" ContentType="application/vnd.openxmlformats-officedocument.presentationml.notesSlide+xml"/>
  <Override PartName="/ppt/slideLayouts/slideLayout4.xml" ContentType="application/vnd.openxmlformats-officedocument.presentationml.slideLayout+xml"/>
  <Override PartName="/ppt/notesSlides/notesSlide20.xml" ContentType="application/vnd.openxmlformats-officedocument.presentationml.notesSlide+xml"/>
  <Override PartName="/ppt/notesSlides/notesSlide10.xml" ContentType="application/vnd.openxmlformats-officedocument.presentationml.notesSlide+xml"/>
  <Override PartName="/ppt/slides/slide21.xml" ContentType="application/vnd.openxmlformats-officedocument.presentationml.slide+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notesSlides/notesSlide7.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8.xml" ContentType="application/vnd.openxmlformats-officedocument.presentationml.slideLayout+xml"/>
  <Override PartName="/docProps/core.xml" ContentType="application/vnd.openxmlformats-package.core-properties+xml"/>
  <Override PartName="/ppt/notesSlides/notesSlide28.xml" ContentType="application/vnd.openxmlformats-officedocument.presentationml.notesSlide+xml"/>
  <Override PartName="/ppt/slideLayouts/slideLayout6.xml" ContentType="application/vnd.openxmlformats-officedocument.presentationml.slideLayout+xml"/>
  <Override PartName="/ppt/notesSlides/notesSlide11.xml" ContentType="application/vnd.openxmlformats-officedocument.presentationml.notesSlide+xml"/>
  <Override PartName="/ppt/slides/slide10.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notesSlides/notesSlide6.xml" ContentType="application/vnd.openxmlformats-officedocument.presentationml.notesSlide+xml"/>
  <Override PartName="/ppt/slides/slide4.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slides/slide2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Override PartName="/ppt/slides/slide27.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22.xml" ContentType="application/vnd.openxmlformats-officedocument.presentationml.slide+xml"/>
  <Override PartName="/ppt/slides/slide19.xml" ContentType="application/vnd.openxmlformats-officedocument.presentationml.slide+xml"/>
  <Override PartName="/ppt/slides/slide23.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embedTrueTypeFonts="1" saveSubsetFonts="1" strictFirstAndLastChars="0">
  <p:sldMasterIdLst>
    <p:sldMasterId id="2147483648" r:id="rId1"/>
  </p:sldMasterIdLst>
  <p:notesMasterIdLst>
    <p:notesMasterId r:id="rId3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4" d="100"/>
          <a:sy n="104" d="100"/>
        </p:scale>
        <p:origin x="858" y="96"/>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notesMaster" Target="notesMasters/notesMaster1.xml"/><Relationship Id="rId33" Type="http://schemas.openxmlformats.org/officeDocument/2006/relationships/presProps" Target="presProps.xml" /><Relationship Id="rId34" Type="http://schemas.openxmlformats.org/officeDocument/2006/relationships/tableStyles" Target="tableStyles.xml" /><Relationship Id="rId35"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99737813" name="Google Shape;3;n"/>
          <p:cNvSpPr>
            <a:spLocks noChangeAspect="1" noGrp="1" noRot="1"/>
          </p:cNvSpPr>
          <p:nvPr>
            <p:ph type="sldImg" idx="2"/>
          </p:nvPr>
        </p:nvSpPr>
        <p:spPr bwMode="auto">
          <a:xfrm>
            <a:off x="1143225" y="685800"/>
            <a:ext cx="4572225" cy="3429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pPr>
              <a:defRPr/>
            </a:pPr>
            <a:endParaRPr lang="en-US"/>
          </a:p>
        </p:txBody>
      </p:sp>
      <p:sp>
        <p:nvSpPr>
          <p:cNvPr id="1880087564" name="Google Shape;4;n"/>
          <p:cNvSpPr txBox="1">
            <a:spLocks noGrp="1"/>
          </p:cNvSpPr>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pPr>
              <a:defRPr/>
            </a:pPr>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02369191" name="Google Shape;81;p1: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289841683" name="Google Shape;82;p1: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txBody>
          <a:bodyPr/>
          <a:lstStyle/>
          <a:p>
            <a:pPr>
              <a:defRPr/>
            </a:pP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81554286" name="Google Shape;81;p1: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730554206" name="Google Shape;82;p1: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txBody>
          <a:bodyPr/>
          <a:lstStyle/>
          <a:p>
            <a:pPr>
              <a:defRPr/>
            </a:pP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91394528" name="Google Shape;81;p1: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448465734" name="Google Shape;82;p1: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txBody>
          <a:bodyPr/>
          <a:lstStyle/>
          <a:p>
            <a:pPr>
              <a:defRPr/>
            </a:pP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42082631" name="Google Shape;81;p1: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29126633" name="Google Shape;82;p1: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txBody>
          <a:bodyPr/>
          <a:lstStyle/>
          <a:p>
            <a:pPr>
              <a:defRPr/>
            </a:pP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76284915" name="Google Shape;81;p1: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01654839" name="Google Shape;82;p1: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txBody>
          <a:bodyPr/>
          <a:lstStyle/>
          <a:p>
            <a:pPr>
              <a:defRPr/>
            </a:pP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72080902" name="Google Shape;81;p1: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2066980929" name="Google Shape;82;p1: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txBody>
          <a:bodyPr/>
          <a:lstStyle/>
          <a:p>
            <a:pPr>
              <a:defRPr/>
            </a:pP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34613386" name="Google Shape;81;p1: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675973379" name="Google Shape;82;p1: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txBody>
          <a:bodyPr/>
          <a:lstStyle/>
          <a:p>
            <a:pPr>
              <a:defRPr/>
            </a:pP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72272854" name="Google Shape;81;p1: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505781809" name="Google Shape;82;p1: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txBody>
          <a:bodyPr/>
          <a:lstStyle/>
          <a:p>
            <a:pPr>
              <a:defRPr/>
            </a:pPr>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47766507" name="Google Shape;81;p1: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222680446" name="Google Shape;82;p1: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txBody>
          <a:bodyPr/>
          <a:lstStyle/>
          <a:p>
            <a:pPr>
              <a:defRPr/>
            </a:pPr>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91645601" name="Google Shape;81;p1: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677705318" name="Google Shape;82;p1: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txBody>
          <a:bodyPr/>
          <a:lstStyle/>
          <a:p>
            <a:pPr>
              <a:defRPr/>
            </a:pPr>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22627939" name="Google Shape;156;p5: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883041718" name="Google Shape;157;p5: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txBody>
          <a:bodyPr/>
          <a:lstStyle/>
          <a:p>
            <a:pPr>
              <a:defRPr/>
            </a:pPr>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84314935" name="Google Shape;156;p5: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162190033" name="Google Shape;157;p5: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txBody>
          <a:bodyPr/>
          <a:lstStyle/>
          <a:p>
            <a:pPr>
              <a:defRPr/>
            </a:pPr>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3663168" name="Google Shape;156;p5: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528459686" name="Google Shape;157;p5: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txBody>
          <a:bodyPr/>
          <a:lstStyle/>
          <a:p>
            <a:pPr>
              <a:defRPr/>
            </a:pPr>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50255866" name="Google Shape;156;p5: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166701849" name="Google Shape;157;p5: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txBody>
          <a:bodyPr/>
          <a:lstStyle/>
          <a:p>
            <a:pPr>
              <a:defRPr/>
            </a:pPr>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49749574" name="Google Shape;156;p5: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745866077" name="Google Shape;157;p5: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txBody>
          <a:bodyPr/>
          <a:lstStyle/>
          <a:p>
            <a:pPr>
              <a:defRPr/>
            </a:pPr>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71867455" name="Google Shape;156;p5: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205450259" name="Google Shape;157;p5: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txBody>
          <a:bodyPr/>
          <a:lstStyle/>
          <a:p>
            <a:pPr>
              <a:defRPr/>
            </a:pPr>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52882128" name="Google Shape;156;p5: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568013406" name="Google Shape;157;p5: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txBody>
          <a:bodyPr/>
          <a:lstStyle/>
          <a:p>
            <a:pPr>
              <a:defRPr/>
            </a:pPr>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95718686" name="Google Shape;156;p5: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2036130259" name="Google Shape;157;p5: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txBody>
          <a:bodyPr/>
          <a:lstStyle/>
          <a:p>
            <a:pPr>
              <a:defRPr/>
            </a:pPr>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29016900" name="Google Shape;156;p5: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739645250" name="Google Shape;157;p5: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txBody>
          <a:bodyPr/>
          <a:lstStyle/>
          <a:p>
            <a:pPr>
              <a:defRPr/>
            </a:pPr>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21607644" name="Google Shape;156;p5: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891314248" name="Google Shape;157;p5: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txBody>
          <a:bodyPr/>
          <a:lstStyle/>
          <a:p>
            <a:pPr>
              <a:defRPr/>
            </a:pPr>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94982661" name="Google Shape;156;p5: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000553980" name="Google Shape;157;p5: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txBody>
          <a:bodyPr/>
          <a:lstStyle/>
          <a:p>
            <a:pPr>
              <a:defRPr/>
            </a:pPr>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62025236" name="Google Shape;156;p5: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792978199" name="Google Shape;157;p5: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txBody>
          <a:bodyPr/>
          <a:lstStyle/>
          <a:p>
            <a:pPr>
              <a:defRPr/>
            </a:pPr>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34465328" name="Google Shape;156;p5: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698266725" name="Google Shape;157;p5: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txBody>
          <a:bodyPr/>
          <a:lstStyle/>
          <a:p>
            <a:pPr>
              <a:defRPr/>
            </a:pPr>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33869636" name="Google Shape;156;p5: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986972696" name="Google Shape;157;p5: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txBody>
          <a:bodyPr/>
          <a:lstStyle/>
          <a:p>
            <a:pPr>
              <a:defRPr/>
            </a:pPr>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63112597" name="Google Shape;156;p5: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1098737961" name="Google Shape;157;p5: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txBody>
          <a:bodyPr/>
          <a:lstStyle/>
          <a:p>
            <a:pPr>
              <a:defRPr/>
            </a:pPr>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53444542" name="Google Shape;156;p5: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282835442" name="Google Shape;157;p5: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txBody>
          <a:bodyPr/>
          <a:lstStyle/>
          <a:p>
            <a:pPr>
              <a:defRPr/>
            </a:pPr>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41867948" name="Google Shape;156;p5: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421221566" name="Google Shape;157;p5: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txBody>
          <a:bodyPr/>
          <a:lstStyle/>
          <a:p>
            <a:pPr>
              <a:defRPr/>
            </a:pPr>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86268470" name="Google Shape;156;p5: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defRPr/>
            </a:pPr>
            <a:endParaRPr/>
          </a:p>
        </p:txBody>
      </p:sp>
      <p:sp>
        <p:nvSpPr>
          <p:cNvPr id="766431153" name="Google Shape;157;p5:notes"/>
          <p:cNvSpPr>
            <a:spLocks noChangeAspect="1" noGrp="1" noRot="1"/>
          </p:cNvSpPr>
          <p:nvPr>
            <p:ph type="sldImg" idx="2"/>
          </p:nvPr>
        </p:nvSpPr>
        <p:spPr bwMode="auto">
          <a:xfrm>
            <a:off x="381000" y="685800"/>
            <a:ext cx="6096000" cy="3429000"/>
          </a:xfrm>
          <a:custGeom>
            <a:avLst/>
            <a:gdLst/>
            <a:ahLst/>
            <a:cxnLst/>
            <a:rect l="l" t="t" r="r" b="b"/>
            <a:pathLst>
              <a:path w="120000" h="120000" fill="norm" stroke="1" extrusionOk="0">
                <a:moveTo>
                  <a:pt x="0" y="0"/>
                </a:moveTo>
                <a:lnTo>
                  <a:pt x="120000" y="0"/>
                </a:lnTo>
                <a:lnTo>
                  <a:pt x="120000" y="120000"/>
                </a:lnTo>
                <a:lnTo>
                  <a:pt x="0" y="120000"/>
                </a:lnTo>
                <a:close/>
              </a:path>
            </a:pathLst>
          </a:custGeom>
        </p:spPr>
        <p:txBody>
          <a:bodyPr/>
          <a:lstStyle/>
          <a:p>
            <a:pPr>
              <a:defRPr/>
            </a:pPr>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 preserve="0" showMasterPhAnim="0" showMasterSp="1" type="blank" userDrawn="1">
  <p:cSld name="BLANK">
    <p:spTree>
      <p:nvGrpSpPr>
        <p:cNvPr id="1" name=""/>
        <p:cNvGrpSpPr/>
        <p:nvPr/>
      </p:nvGrpSpPr>
      <p:grpSpPr bwMode="auto">
        <a:xfrm>
          <a:off x="0" y="0"/>
          <a:ext cx="0" cy="0"/>
          <a:chOff x="0" y="0"/>
          <a:chExt cx="0" cy="0"/>
        </a:xfrm>
      </p:grpSpPr>
      <p:sp>
        <p:nvSpPr>
          <p:cNvPr id="246872787" name="Google Shape;12;p2"/>
          <p:cNvSpPr txBox="1">
            <a:spLocks noGrp="1"/>
          </p:cNvSpPr>
          <p:nvPr>
            <p:ph type="dt" idx="10"/>
          </p:nvPr>
        </p:nvSpPr>
        <p:spPr bwMode="auto">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01660663" name="Google Shape;13;p2"/>
          <p:cNvSpPr txBox="1">
            <a:spLocks noGrp="1"/>
          </p:cNvSpPr>
          <p:nvPr>
            <p:ph type="ftr" idx="11"/>
          </p:nvPr>
        </p:nvSpPr>
        <p:spPr bwMode="auto">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959241417" name="Google Shape;14;p2"/>
          <p:cNvSpPr txBox="1">
            <a:spLocks noGrp="1"/>
          </p:cNvSpPr>
          <p:nvPr>
            <p:ph type="sldNum" idx="12"/>
          </p:nvPr>
        </p:nvSpPr>
        <p:spPr bwMode="auto">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Slide" preserve="0" showMasterPhAnim="0" showMasterSp="1" type="title" userDrawn="1">
  <p:cSld name="TITLE">
    <p:spTree>
      <p:nvGrpSpPr>
        <p:cNvPr id="1" name=""/>
        <p:cNvGrpSpPr/>
        <p:nvPr/>
      </p:nvGrpSpPr>
      <p:grpSpPr bwMode="auto">
        <a:xfrm>
          <a:off x="0" y="0"/>
          <a:ext cx="0" cy="0"/>
          <a:chOff x="0" y="0"/>
          <a:chExt cx="0" cy="0"/>
        </a:xfrm>
      </p:grpSpPr>
      <p:sp>
        <p:nvSpPr>
          <p:cNvPr id="751383238" name="Google Shape;16;p3"/>
          <p:cNvSpPr txBox="1">
            <a:spLocks noGrp="1"/>
          </p:cNvSpPr>
          <p:nvPr>
            <p:ph type="ctrTitle"/>
          </p:nvPr>
        </p:nvSpPr>
        <p:spPr bwMode="auto">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115861864" name="Google Shape;17;p3"/>
          <p:cNvSpPr txBox="1">
            <a:spLocks noGrp="1"/>
          </p:cNvSpPr>
          <p:nvPr>
            <p:ph type="subTitle" idx="1"/>
          </p:nvPr>
        </p:nvSpPr>
        <p:spPr bwMode="auto">
          <a:xfrm>
            <a:off x="1371600" y="3886200"/>
            <a:ext cx="6400800" cy="1752599"/>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pPr>
              <a:defRPr/>
            </a:pPr>
            <a:endParaRPr/>
          </a:p>
        </p:txBody>
      </p:sp>
      <p:sp>
        <p:nvSpPr>
          <p:cNvPr id="1793542214" name="Google Shape;18;p3"/>
          <p:cNvSpPr txBox="1">
            <a:spLocks noGrp="1"/>
          </p:cNvSpPr>
          <p:nvPr>
            <p:ph type="dt" idx="10"/>
          </p:nvPr>
        </p:nvSpPr>
        <p:spPr bwMode="auto">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502679954" name="Google Shape;19;p3"/>
          <p:cNvSpPr txBox="1">
            <a:spLocks noGrp="1"/>
          </p:cNvSpPr>
          <p:nvPr>
            <p:ph type="ftr" idx="11"/>
          </p:nvPr>
        </p:nvSpPr>
        <p:spPr bwMode="auto">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776822386" name="Google Shape;20;p3"/>
          <p:cNvSpPr txBox="1">
            <a:spLocks noGrp="1"/>
          </p:cNvSpPr>
          <p:nvPr>
            <p:ph type="sldNum" idx="12"/>
          </p:nvPr>
        </p:nvSpPr>
        <p:spPr bwMode="auto">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Content" preserve="0" showMasterPhAnim="0" showMasterSp="1" type="obj" userDrawn="1">
  <p:cSld name="OBJECT">
    <p:spTree>
      <p:nvGrpSpPr>
        <p:cNvPr id="1" name=""/>
        <p:cNvGrpSpPr/>
        <p:nvPr/>
      </p:nvGrpSpPr>
      <p:grpSpPr bwMode="auto">
        <a:xfrm>
          <a:off x="0" y="0"/>
          <a:ext cx="0" cy="0"/>
          <a:chOff x="0" y="0"/>
          <a:chExt cx="0" cy="0"/>
        </a:xfrm>
      </p:grpSpPr>
      <p:sp>
        <p:nvSpPr>
          <p:cNvPr id="682301113" name="Google Shape;22;p4"/>
          <p:cNvSpPr txBox="1">
            <a:spLocks noGrp="1"/>
          </p:cNvSpPr>
          <p:nvPr>
            <p:ph type="title"/>
          </p:nvPr>
        </p:nvSpPr>
        <p:spPr bwMode="auto">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496479570" name="Google Shape;23;p4"/>
          <p:cNvSpPr txBox="1">
            <a:spLocks noGrp="1"/>
          </p:cNvSpPr>
          <p:nvPr>
            <p:ph type="body" idx="1"/>
          </p:nvPr>
        </p:nvSpPr>
        <p:spPr bwMode="auto">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838331748" name="Google Shape;24;p4"/>
          <p:cNvSpPr txBox="1">
            <a:spLocks noGrp="1"/>
          </p:cNvSpPr>
          <p:nvPr>
            <p:ph type="dt" idx="10"/>
          </p:nvPr>
        </p:nvSpPr>
        <p:spPr bwMode="auto">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522377675" name="Google Shape;25;p4"/>
          <p:cNvSpPr txBox="1">
            <a:spLocks noGrp="1"/>
          </p:cNvSpPr>
          <p:nvPr>
            <p:ph type="ftr" idx="11"/>
          </p:nvPr>
        </p:nvSpPr>
        <p:spPr bwMode="auto">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852168735" name="Google Shape;26;p4"/>
          <p:cNvSpPr txBox="1">
            <a:spLocks noGrp="1"/>
          </p:cNvSpPr>
          <p:nvPr>
            <p:ph type="sldNum" idx="12"/>
          </p:nvPr>
        </p:nvSpPr>
        <p:spPr bwMode="auto">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Header" preserve="0" showMasterPhAnim="0" showMasterSp="1" type="secHead" userDrawn="1">
  <p:cSld name="SECTION_HEADER">
    <p:spTree>
      <p:nvGrpSpPr>
        <p:cNvPr id="1" name=""/>
        <p:cNvGrpSpPr/>
        <p:nvPr/>
      </p:nvGrpSpPr>
      <p:grpSpPr bwMode="auto">
        <a:xfrm>
          <a:off x="0" y="0"/>
          <a:ext cx="0" cy="0"/>
          <a:chOff x="0" y="0"/>
          <a:chExt cx="0" cy="0"/>
        </a:xfrm>
      </p:grpSpPr>
      <p:sp>
        <p:nvSpPr>
          <p:cNvPr id="1260699543" name="Google Shape;28;p5"/>
          <p:cNvSpPr txBox="1">
            <a:spLocks noGrp="1"/>
          </p:cNvSpPr>
          <p:nvPr>
            <p:ph type="title"/>
          </p:nvPr>
        </p:nvSpPr>
        <p:spPr bwMode="auto">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271243944" name="Google Shape;29;p5"/>
          <p:cNvSpPr txBox="1">
            <a:spLocks noGrp="1"/>
          </p:cNvSpPr>
          <p:nvPr>
            <p:ph type="body" idx="1"/>
          </p:nvPr>
        </p:nvSpPr>
        <p:spPr bwMode="auto">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pPr>
              <a:defRPr/>
            </a:pPr>
            <a:endParaRPr/>
          </a:p>
        </p:txBody>
      </p:sp>
      <p:sp>
        <p:nvSpPr>
          <p:cNvPr id="1832018844" name="Google Shape;30;p5"/>
          <p:cNvSpPr txBox="1">
            <a:spLocks noGrp="1"/>
          </p:cNvSpPr>
          <p:nvPr>
            <p:ph type="dt" idx="10"/>
          </p:nvPr>
        </p:nvSpPr>
        <p:spPr bwMode="auto">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20480493" name="Google Shape;31;p5"/>
          <p:cNvSpPr txBox="1">
            <a:spLocks noGrp="1"/>
          </p:cNvSpPr>
          <p:nvPr>
            <p:ph type="ftr" idx="11"/>
          </p:nvPr>
        </p:nvSpPr>
        <p:spPr bwMode="auto">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55618259" name="Google Shape;32;p5"/>
          <p:cNvSpPr txBox="1">
            <a:spLocks noGrp="1"/>
          </p:cNvSpPr>
          <p:nvPr>
            <p:ph type="sldNum" idx="12"/>
          </p:nvPr>
        </p:nvSpPr>
        <p:spPr bwMode="auto">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wo Content" preserve="0" showMasterPhAnim="0" showMasterSp="1" type="twoObj" userDrawn="1">
  <p:cSld name="TWO_OBJECTS">
    <p:spTree>
      <p:nvGrpSpPr>
        <p:cNvPr id="1" name=""/>
        <p:cNvGrpSpPr/>
        <p:nvPr/>
      </p:nvGrpSpPr>
      <p:grpSpPr bwMode="auto">
        <a:xfrm>
          <a:off x="0" y="0"/>
          <a:ext cx="0" cy="0"/>
          <a:chOff x="0" y="0"/>
          <a:chExt cx="0" cy="0"/>
        </a:xfrm>
      </p:grpSpPr>
      <p:sp>
        <p:nvSpPr>
          <p:cNvPr id="726539468" name="Google Shape;34;p6"/>
          <p:cNvSpPr txBox="1">
            <a:spLocks noGrp="1"/>
          </p:cNvSpPr>
          <p:nvPr>
            <p:ph type="title"/>
          </p:nvPr>
        </p:nvSpPr>
        <p:spPr bwMode="auto">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321583189" name="Google Shape;35;p6"/>
          <p:cNvSpPr txBox="1">
            <a:spLocks noGrp="1"/>
          </p:cNvSpPr>
          <p:nvPr>
            <p:ph type="body" idx="1"/>
          </p:nvPr>
        </p:nvSpPr>
        <p:spPr bwMode="auto">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pPr>
              <a:defRPr/>
            </a:pPr>
            <a:endParaRPr/>
          </a:p>
        </p:txBody>
      </p:sp>
      <p:sp>
        <p:nvSpPr>
          <p:cNvPr id="1076291028" name="Google Shape;36;p6"/>
          <p:cNvSpPr txBox="1">
            <a:spLocks noGrp="1"/>
          </p:cNvSpPr>
          <p:nvPr>
            <p:ph type="body" idx="2"/>
          </p:nvPr>
        </p:nvSpPr>
        <p:spPr bwMode="auto">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pPr>
              <a:defRPr/>
            </a:pPr>
            <a:endParaRPr/>
          </a:p>
        </p:txBody>
      </p:sp>
      <p:sp>
        <p:nvSpPr>
          <p:cNvPr id="2083559197" name="Google Shape;37;p6"/>
          <p:cNvSpPr txBox="1">
            <a:spLocks noGrp="1"/>
          </p:cNvSpPr>
          <p:nvPr>
            <p:ph type="dt" idx="10"/>
          </p:nvPr>
        </p:nvSpPr>
        <p:spPr bwMode="auto">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812509342" name="Google Shape;38;p6"/>
          <p:cNvSpPr txBox="1">
            <a:spLocks noGrp="1"/>
          </p:cNvSpPr>
          <p:nvPr>
            <p:ph type="ftr" idx="11"/>
          </p:nvPr>
        </p:nvSpPr>
        <p:spPr bwMode="auto">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534189185" name="Google Shape;39;p6"/>
          <p:cNvSpPr txBox="1">
            <a:spLocks noGrp="1"/>
          </p:cNvSpPr>
          <p:nvPr>
            <p:ph type="sldNum" idx="12"/>
          </p:nvPr>
        </p:nvSpPr>
        <p:spPr bwMode="auto">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omparison" preserve="0" showMasterPhAnim="0" showMasterSp="1" type="twoTxTwoObj" userDrawn="1">
  <p:cSld name="TWO_OBJECTS_WITH_TEXT">
    <p:spTree>
      <p:nvGrpSpPr>
        <p:cNvPr id="1" name=""/>
        <p:cNvGrpSpPr/>
        <p:nvPr/>
      </p:nvGrpSpPr>
      <p:grpSpPr bwMode="auto">
        <a:xfrm>
          <a:off x="0" y="0"/>
          <a:ext cx="0" cy="0"/>
          <a:chOff x="0" y="0"/>
          <a:chExt cx="0" cy="0"/>
        </a:xfrm>
      </p:grpSpPr>
      <p:sp>
        <p:nvSpPr>
          <p:cNvPr id="205918705" name="Google Shape;41;p7"/>
          <p:cNvSpPr txBox="1">
            <a:spLocks noGrp="1"/>
          </p:cNvSpPr>
          <p:nvPr>
            <p:ph type="title"/>
          </p:nvPr>
        </p:nvSpPr>
        <p:spPr bwMode="auto">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605537747" name="Google Shape;42;p7"/>
          <p:cNvSpPr txBox="1">
            <a:spLocks noGrp="1"/>
          </p:cNvSpPr>
          <p:nvPr>
            <p:ph type="body" idx="1"/>
          </p:nvPr>
        </p:nvSpPr>
        <p:spPr bwMode="auto">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pPr>
              <a:defRPr/>
            </a:pPr>
            <a:endParaRPr/>
          </a:p>
        </p:txBody>
      </p:sp>
      <p:sp>
        <p:nvSpPr>
          <p:cNvPr id="1324664396" name="Google Shape;43;p7"/>
          <p:cNvSpPr txBox="1">
            <a:spLocks noGrp="1"/>
          </p:cNvSpPr>
          <p:nvPr>
            <p:ph type="body" idx="2"/>
          </p:nvPr>
        </p:nvSpPr>
        <p:spPr bwMode="auto">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pPr>
              <a:defRPr/>
            </a:pPr>
            <a:endParaRPr/>
          </a:p>
        </p:txBody>
      </p:sp>
      <p:sp>
        <p:nvSpPr>
          <p:cNvPr id="738729947" name="Google Shape;44;p7"/>
          <p:cNvSpPr txBox="1">
            <a:spLocks noGrp="1"/>
          </p:cNvSpPr>
          <p:nvPr>
            <p:ph type="body" idx="3"/>
          </p:nvPr>
        </p:nvSpPr>
        <p:spPr bwMode="auto">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pPr>
              <a:defRPr/>
            </a:pPr>
            <a:endParaRPr/>
          </a:p>
        </p:txBody>
      </p:sp>
      <p:sp>
        <p:nvSpPr>
          <p:cNvPr id="1090708456" name="Google Shape;45;p7"/>
          <p:cNvSpPr txBox="1">
            <a:spLocks noGrp="1"/>
          </p:cNvSpPr>
          <p:nvPr>
            <p:ph type="body" idx="4"/>
          </p:nvPr>
        </p:nvSpPr>
        <p:spPr bwMode="auto">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pPr>
              <a:defRPr/>
            </a:pPr>
            <a:endParaRPr/>
          </a:p>
        </p:txBody>
      </p:sp>
      <p:sp>
        <p:nvSpPr>
          <p:cNvPr id="1484918927" name="Google Shape;46;p7"/>
          <p:cNvSpPr txBox="1">
            <a:spLocks noGrp="1"/>
          </p:cNvSpPr>
          <p:nvPr>
            <p:ph type="dt" idx="10"/>
          </p:nvPr>
        </p:nvSpPr>
        <p:spPr bwMode="auto">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46003117" name="Google Shape;47;p7"/>
          <p:cNvSpPr txBox="1">
            <a:spLocks noGrp="1"/>
          </p:cNvSpPr>
          <p:nvPr>
            <p:ph type="ftr" idx="11"/>
          </p:nvPr>
        </p:nvSpPr>
        <p:spPr bwMode="auto">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817985926" name="Google Shape;48;p7"/>
          <p:cNvSpPr txBox="1">
            <a:spLocks noGrp="1"/>
          </p:cNvSpPr>
          <p:nvPr>
            <p:ph type="sldNum" idx="12"/>
          </p:nvPr>
        </p:nvSpPr>
        <p:spPr bwMode="auto">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Only" preserve="0" showMasterPhAnim="0" showMasterSp="1" type="titleOnly" userDrawn="1">
  <p:cSld name="TITLE_ONLY">
    <p:spTree>
      <p:nvGrpSpPr>
        <p:cNvPr id="1" name=""/>
        <p:cNvGrpSpPr/>
        <p:nvPr/>
      </p:nvGrpSpPr>
      <p:grpSpPr bwMode="auto">
        <a:xfrm>
          <a:off x="0" y="0"/>
          <a:ext cx="0" cy="0"/>
          <a:chOff x="0" y="0"/>
          <a:chExt cx="0" cy="0"/>
        </a:xfrm>
      </p:grpSpPr>
      <p:sp>
        <p:nvSpPr>
          <p:cNvPr id="1545063295" name="Google Shape;50;p8"/>
          <p:cNvSpPr txBox="1">
            <a:spLocks noGrp="1"/>
          </p:cNvSpPr>
          <p:nvPr>
            <p:ph type="title"/>
          </p:nvPr>
        </p:nvSpPr>
        <p:spPr bwMode="auto">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102099499" name="Google Shape;51;p8"/>
          <p:cNvSpPr txBox="1">
            <a:spLocks noGrp="1"/>
          </p:cNvSpPr>
          <p:nvPr>
            <p:ph type="dt" idx="10"/>
          </p:nvPr>
        </p:nvSpPr>
        <p:spPr bwMode="auto">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620474570" name="Google Shape;52;p8"/>
          <p:cNvSpPr txBox="1">
            <a:spLocks noGrp="1"/>
          </p:cNvSpPr>
          <p:nvPr>
            <p:ph type="ftr" idx="11"/>
          </p:nvPr>
        </p:nvSpPr>
        <p:spPr bwMode="auto">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686348458" name="Google Shape;53;p8"/>
          <p:cNvSpPr txBox="1">
            <a:spLocks noGrp="1"/>
          </p:cNvSpPr>
          <p:nvPr>
            <p:ph type="sldNum" idx="12"/>
          </p:nvPr>
        </p:nvSpPr>
        <p:spPr bwMode="auto">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ontent with Caption" preserve="0" showMasterPhAnim="0" showMasterSp="1" type="objTx" userDrawn="1">
  <p:cSld name="OBJECT_WITH_CAPTION_TEXT">
    <p:spTree>
      <p:nvGrpSpPr>
        <p:cNvPr id="1" name=""/>
        <p:cNvGrpSpPr/>
        <p:nvPr/>
      </p:nvGrpSpPr>
      <p:grpSpPr bwMode="auto">
        <a:xfrm>
          <a:off x="0" y="0"/>
          <a:ext cx="0" cy="0"/>
          <a:chOff x="0" y="0"/>
          <a:chExt cx="0" cy="0"/>
        </a:xfrm>
      </p:grpSpPr>
      <p:sp>
        <p:nvSpPr>
          <p:cNvPr id="1741060592" name="Google Shape;55;p9"/>
          <p:cNvSpPr txBox="1">
            <a:spLocks noGrp="1"/>
          </p:cNvSpPr>
          <p:nvPr>
            <p:ph type="title"/>
          </p:nvPr>
        </p:nvSpPr>
        <p:spPr bwMode="auto">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077415847" name="Google Shape;56;p9"/>
          <p:cNvSpPr txBox="1">
            <a:spLocks noGrp="1"/>
          </p:cNvSpPr>
          <p:nvPr>
            <p:ph type="body" idx="1"/>
          </p:nvPr>
        </p:nvSpPr>
        <p:spPr bwMode="auto">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799"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pPr>
              <a:defRPr/>
            </a:pPr>
            <a:endParaRPr/>
          </a:p>
        </p:txBody>
      </p:sp>
      <p:sp>
        <p:nvSpPr>
          <p:cNvPr id="1867639325" name="Google Shape;57;p9"/>
          <p:cNvSpPr txBox="1">
            <a:spLocks noGrp="1"/>
          </p:cNvSpPr>
          <p:nvPr>
            <p:ph type="body" idx="2"/>
          </p:nvPr>
        </p:nvSpPr>
        <p:spPr bwMode="auto">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pPr>
              <a:defRPr/>
            </a:pPr>
            <a:endParaRPr/>
          </a:p>
        </p:txBody>
      </p:sp>
      <p:sp>
        <p:nvSpPr>
          <p:cNvPr id="837695696" name="Google Shape;58;p9"/>
          <p:cNvSpPr txBox="1">
            <a:spLocks noGrp="1"/>
          </p:cNvSpPr>
          <p:nvPr>
            <p:ph type="dt" idx="10"/>
          </p:nvPr>
        </p:nvSpPr>
        <p:spPr bwMode="auto">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483415084" name="Google Shape;59;p9"/>
          <p:cNvSpPr txBox="1">
            <a:spLocks noGrp="1"/>
          </p:cNvSpPr>
          <p:nvPr>
            <p:ph type="ftr" idx="11"/>
          </p:nvPr>
        </p:nvSpPr>
        <p:spPr bwMode="auto">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485567465" name="Google Shape;60;p9"/>
          <p:cNvSpPr txBox="1">
            <a:spLocks noGrp="1"/>
          </p:cNvSpPr>
          <p:nvPr>
            <p:ph type="sldNum" idx="12"/>
          </p:nvPr>
        </p:nvSpPr>
        <p:spPr bwMode="auto">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Picture with Caption" preserve="0" showMasterPhAnim="0" showMasterSp="1" type="picTx" userDrawn="1">
  <p:cSld name="PICTURE_WITH_CAPTION_TEXT">
    <p:spTree>
      <p:nvGrpSpPr>
        <p:cNvPr id="1" name=""/>
        <p:cNvGrpSpPr/>
        <p:nvPr/>
      </p:nvGrpSpPr>
      <p:grpSpPr bwMode="auto">
        <a:xfrm>
          <a:off x="0" y="0"/>
          <a:ext cx="0" cy="0"/>
          <a:chOff x="0" y="0"/>
          <a:chExt cx="0" cy="0"/>
        </a:xfrm>
      </p:grpSpPr>
      <p:sp>
        <p:nvSpPr>
          <p:cNvPr id="1362230076" name="Google Shape;62;p10"/>
          <p:cNvSpPr txBox="1">
            <a:spLocks noGrp="1"/>
          </p:cNvSpPr>
          <p:nvPr>
            <p:ph type="title"/>
          </p:nvPr>
        </p:nvSpPr>
        <p:spPr bwMode="auto">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340734834" name="Google Shape;63;p10"/>
          <p:cNvSpPr>
            <a:spLocks noGrp="1"/>
          </p:cNvSpPr>
          <p:nvPr>
            <p:ph type="pic" idx="2"/>
          </p:nvPr>
        </p:nvSpPr>
        <p:spPr bwMode="auto">
          <a:xfrm>
            <a:off x="1792288" y="612775"/>
            <a:ext cx="5486400" cy="4114800"/>
          </a:xfrm>
          <a:prstGeom prst="rect">
            <a:avLst/>
          </a:prstGeom>
          <a:noFill/>
          <a:ln>
            <a:noFill/>
          </a:ln>
        </p:spPr>
        <p:txBody>
          <a:bodyPr/>
          <a:lstStyle/>
          <a:p>
            <a:pPr>
              <a:defRPr/>
            </a:pPr>
            <a:endParaRPr lang="en-US"/>
          </a:p>
        </p:txBody>
      </p:sp>
      <p:sp>
        <p:nvSpPr>
          <p:cNvPr id="695988296" name="Google Shape;64;p10"/>
          <p:cNvSpPr txBox="1">
            <a:spLocks noGrp="1"/>
          </p:cNvSpPr>
          <p:nvPr>
            <p:ph type="body" idx="1"/>
          </p:nvPr>
        </p:nvSpPr>
        <p:spPr bwMode="auto">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pPr>
              <a:defRPr/>
            </a:pPr>
            <a:endParaRPr/>
          </a:p>
        </p:txBody>
      </p:sp>
      <p:sp>
        <p:nvSpPr>
          <p:cNvPr id="1359776196" name="Google Shape;65;p10"/>
          <p:cNvSpPr txBox="1">
            <a:spLocks noGrp="1"/>
          </p:cNvSpPr>
          <p:nvPr>
            <p:ph type="dt" idx="10"/>
          </p:nvPr>
        </p:nvSpPr>
        <p:spPr bwMode="auto">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520583958" name="Google Shape;66;p10"/>
          <p:cNvSpPr txBox="1">
            <a:spLocks noGrp="1"/>
          </p:cNvSpPr>
          <p:nvPr>
            <p:ph type="ftr" idx="11"/>
          </p:nvPr>
        </p:nvSpPr>
        <p:spPr bwMode="auto">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639174809" name="Google Shape;67;p10"/>
          <p:cNvSpPr txBox="1">
            <a:spLocks noGrp="1"/>
          </p:cNvSpPr>
          <p:nvPr>
            <p:ph type="sldNum" idx="12"/>
          </p:nvPr>
        </p:nvSpPr>
        <p:spPr bwMode="auto">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Vertical Text" preserve="0" showMasterPhAnim="0" showMasterSp="1" type="vertTx" userDrawn="1">
  <p:cSld name="VERTICAL_TEXT">
    <p:spTree>
      <p:nvGrpSpPr>
        <p:cNvPr id="1" name=""/>
        <p:cNvGrpSpPr/>
        <p:nvPr/>
      </p:nvGrpSpPr>
      <p:grpSpPr bwMode="auto">
        <a:xfrm>
          <a:off x="0" y="0"/>
          <a:ext cx="0" cy="0"/>
          <a:chOff x="0" y="0"/>
          <a:chExt cx="0" cy="0"/>
        </a:xfrm>
      </p:grpSpPr>
      <p:sp>
        <p:nvSpPr>
          <p:cNvPr id="911408466" name="Google Shape;69;p11"/>
          <p:cNvSpPr txBox="1">
            <a:spLocks noGrp="1"/>
          </p:cNvSpPr>
          <p:nvPr>
            <p:ph type="title"/>
          </p:nvPr>
        </p:nvSpPr>
        <p:spPr bwMode="auto">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800054293" name="Google Shape;70;p11"/>
          <p:cNvSpPr txBox="1">
            <a:spLocks noGrp="1"/>
          </p:cNvSpPr>
          <p:nvPr>
            <p:ph type="body" idx="1"/>
          </p:nvPr>
        </p:nvSpPr>
        <p:spPr bwMode="auto">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372777584" name="Google Shape;71;p11"/>
          <p:cNvSpPr txBox="1">
            <a:spLocks noGrp="1"/>
          </p:cNvSpPr>
          <p:nvPr>
            <p:ph type="dt" idx="10"/>
          </p:nvPr>
        </p:nvSpPr>
        <p:spPr bwMode="auto">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01571988" name="Google Shape;72;p11"/>
          <p:cNvSpPr txBox="1">
            <a:spLocks noGrp="1"/>
          </p:cNvSpPr>
          <p:nvPr>
            <p:ph type="ftr" idx="11"/>
          </p:nvPr>
        </p:nvSpPr>
        <p:spPr bwMode="auto">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327129226" name="Google Shape;73;p11"/>
          <p:cNvSpPr txBox="1">
            <a:spLocks noGrp="1"/>
          </p:cNvSpPr>
          <p:nvPr>
            <p:ph type="sldNum" idx="12"/>
          </p:nvPr>
        </p:nvSpPr>
        <p:spPr bwMode="auto">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Vertical Title and Text" preserve="0" showMasterPhAnim="0" showMasterSp="1" type="vertTitleAndTx" userDrawn="1">
  <p:cSld name="VERTICAL_TITLE_AND_VERTICAL_TEXT">
    <p:spTree>
      <p:nvGrpSpPr>
        <p:cNvPr id="1" name=""/>
        <p:cNvGrpSpPr/>
        <p:nvPr/>
      </p:nvGrpSpPr>
      <p:grpSpPr bwMode="auto">
        <a:xfrm>
          <a:off x="0" y="0"/>
          <a:ext cx="0" cy="0"/>
          <a:chOff x="0" y="0"/>
          <a:chExt cx="0" cy="0"/>
        </a:xfrm>
      </p:grpSpPr>
      <p:sp>
        <p:nvSpPr>
          <p:cNvPr id="1215451798" name="Google Shape;75;p12"/>
          <p:cNvSpPr txBox="1">
            <a:spLocks noGrp="1"/>
          </p:cNvSpPr>
          <p:nvPr>
            <p:ph type="title"/>
          </p:nvPr>
        </p:nvSpPr>
        <p:spPr bwMode="auto">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44280312" name="Google Shape;76;p12"/>
          <p:cNvSpPr txBox="1">
            <a:spLocks noGrp="1"/>
          </p:cNvSpPr>
          <p:nvPr>
            <p:ph type="body" idx="1"/>
          </p:nvPr>
        </p:nvSpPr>
        <p:spPr bwMode="auto">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638934040" name="Google Shape;77;p12"/>
          <p:cNvSpPr txBox="1">
            <a:spLocks noGrp="1"/>
          </p:cNvSpPr>
          <p:nvPr>
            <p:ph type="dt" idx="10"/>
          </p:nvPr>
        </p:nvSpPr>
        <p:spPr bwMode="auto">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390386446" name="Google Shape;78;p12"/>
          <p:cNvSpPr txBox="1">
            <a:spLocks noGrp="1"/>
          </p:cNvSpPr>
          <p:nvPr>
            <p:ph type="ftr" idx="11"/>
          </p:nvPr>
        </p:nvSpPr>
        <p:spPr bwMode="auto">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584437983" name="Google Shape;79;p12"/>
          <p:cNvSpPr txBox="1">
            <a:spLocks noGrp="1"/>
          </p:cNvSpPr>
          <p:nvPr>
            <p:ph type="sldNum" idx="12"/>
          </p:nvPr>
        </p:nvSpPr>
        <p:spPr bwMode="auto">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n-US"/>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chemeClr val="lt1"/>
        </a:solidFill>
      </p:bgPr>
    </p:bg>
    <p:spTree>
      <p:nvGrpSpPr>
        <p:cNvPr id="1" name=""/>
        <p:cNvGrpSpPr/>
        <p:nvPr/>
      </p:nvGrpSpPr>
      <p:grpSpPr bwMode="auto">
        <a:xfrm>
          <a:off x="0" y="0"/>
          <a:ext cx="0" cy="0"/>
          <a:chOff x="0" y="0"/>
          <a:chExt cx="0" cy="0"/>
        </a:xfrm>
      </p:grpSpPr>
      <p:sp>
        <p:nvSpPr>
          <p:cNvPr id="1578352569" name="Google Shape;6;p1"/>
          <p:cNvSpPr txBox="1">
            <a:spLocks noGrp="1"/>
          </p:cNvSpPr>
          <p:nvPr>
            <p:ph type="title"/>
          </p:nvPr>
        </p:nvSpPr>
        <p:spPr bwMode="auto">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pPr>
              <a:defRPr/>
            </a:pPr>
            <a:endParaRPr/>
          </a:p>
        </p:txBody>
      </p:sp>
      <p:sp>
        <p:nvSpPr>
          <p:cNvPr id="1076644517" name="Google Shape;7;p1"/>
          <p:cNvSpPr txBox="1">
            <a:spLocks noGrp="1"/>
          </p:cNvSpPr>
          <p:nvPr>
            <p:ph type="body" idx="1"/>
          </p:nvPr>
        </p:nvSpPr>
        <p:spPr bwMode="auto">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799"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9pPr>
          </a:lstStyle>
          <a:p>
            <a:pPr>
              <a:defRPr/>
            </a:pPr>
            <a:endParaRPr/>
          </a:p>
        </p:txBody>
      </p:sp>
      <p:sp>
        <p:nvSpPr>
          <p:cNvPr id="1675703632" name="Google Shape;8;p1"/>
          <p:cNvSpPr txBox="1">
            <a:spLocks noGrp="1"/>
          </p:cNvSpPr>
          <p:nvPr>
            <p:ph type="dt" idx="10"/>
          </p:nvPr>
        </p:nvSpPr>
        <p:spPr bwMode="auto">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defRPr>
            </a:lvl9pPr>
          </a:lstStyle>
          <a:p>
            <a:pPr>
              <a:defRPr/>
            </a:pPr>
            <a:endParaRPr/>
          </a:p>
        </p:txBody>
      </p:sp>
      <p:sp>
        <p:nvSpPr>
          <p:cNvPr id="632498775" name="Google Shape;9;p1"/>
          <p:cNvSpPr txBox="1">
            <a:spLocks noGrp="1"/>
          </p:cNvSpPr>
          <p:nvPr>
            <p:ph type="ftr" idx="11"/>
          </p:nvPr>
        </p:nvSpPr>
        <p:spPr bwMode="auto">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defRPr>
            </a:lvl9pPr>
          </a:lstStyle>
          <a:p>
            <a:pPr>
              <a:defRPr/>
            </a:pPr>
            <a:endParaRPr/>
          </a:p>
        </p:txBody>
      </p:sp>
      <p:sp>
        <p:nvSpPr>
          <p:cNvPr id="681546279" name="Google Shape;10;p1"/>
          <p:cNvSpPr txBox="1">
            <a:spLocks noGrp="1"/>
          </p:cNvSpPr>
          <p:nvPr>
            <p:ph type="sldNum" idx="12"/>
          </p:nvPr>
        </p:nvSpPr>
        <p:spPr bwMode="auto">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defRPr>
            </a:lvl1pPr>
            <a:lvl2pPr marL="0" marR="0" lvl="1" indent="0" algn="r" rtl="0">
              <a:spcBef>
                <a:spcPts val="0"/>
              </a:spcBef>
              <a:buNone/>
              <a:defRPr sz="1200" b="0" i="0" u="none" strike="noStrike" cap="none">
                <a:solidFill>
                  <a:srgbClr val="888888"/>
                </a:solidFill>
                <a:latin typeface="Calibri"/>
                <a:ea typeface="Calibri"/>
                <a:cs typeface="Calibri"/>
              </a:defRPr>
            </a:lvl2pPr>
            <a:lvl3pPr marL="0" marR="0" lvl="2" indent="0" algn="r" rtl="0">
              <a:spcBef>
                <a:spcPts val="0"/>
              </a:spcBef>
              <a:buNone/>
              <a:defRPr sz="1200" b="0" i="0" u="none" strike="noStrike" cap="none">
                <a:solidFill>
                  <a:srgbClr val="888888"/>
                </a:solidFill>
                <a:latin typeface="Calibri"/>
                <a:ea typeface="Calibri"/>
                <a:cs typeface="Calibri"/>
              </a:defRPr>
            </a:lvl3pPr>
            <a:lvl4pPr marL="0" marR="0" lvl="3" indent="0" algn="r" rtl="0">
              <a:spcBef>
                <a:spcPts val="0"/>
              </a:spcBef>
              <a:buNone/>
              <a:defRPr sz="1200" b="0" i="0" u="none" strike="noStrike" cap="none">
                <a:solidFill>
                  <a:srgbClr val="888888"/>
                </a:solidFill>
                <a:latin typeface="Calibri"/>
                <a:ea typeface="Calibri"/>
                <a:cs typeface="Calibri"/>
              </a:defRPr>
            </a:lvl4pPr>
            <a:lvl5pPr marL="0" marR="0" lvl="4" indent="0" algn="r" rtl="0">
              <a:spcBef>
                <a:spcPts val="0"/>
              </a:spcBef>
              <a:buNone/>
              <a:defRPr sz="1200" b="0" i="0" u="none" strike="noStrike" cap="none">
                <a:solidFill>
                  <a:srgbClr val="888888"/>
                </a:solidFill>
                <a:latin typeface="Calibri"/>
                <a:ea typeface="Calibri"/>
                <a:cs typeface="Calibri"/>
              </a:defRPr>
            </a:lvl5pPr>
            <a:lvl6pPr marL="0" marR="0" lvl="5" indent="0" algn="r" rtl="0">
              <a:spcBef>
                <a:spcPts val="0"/>
              </a:spcBef>
              <a:buNone/>
              <a:defRPr sz="1200" b="0" i="0" u="none" strike="noStrike" cap="none">
                <a:solidFill>
                  <a:srgbClr val="888888"/>
                </a:solidFill>
                <a:latin typeface="Calibri"/>
                <a:ea typeface="Calibri"/>
                <a:cs typeface="Calibri"/>
              </a:defRPr>
            </a:lvl6pPr>
            <a:lvl7pPr marL="0" marR="0" lvl="6" indent="0" algn="r" rtl="0">
              <a:spcBef>
                <a:spcPts val="0"/>
              </a:spcBef>
              <a:buNone/>
              <a:defRPr sz="1200" b="0" i="0" u="none" strike="noStrike" cap="none">
                <a:solidFill>
                  <a:srgbClr val="888888"/>
                </a:solidFill>
                <a:latin typeface="Calibri"/>
                <a:ea typeface="Calibri"/>
                <a:cs typeface="Calibri"/>
              </a:defRPr>
            </a:lvl7pPr>
            <a:lvl8pPr marL="0" marR="0" lvl="7" indent="0" algn="r" rtl="0">
              <a:spcBef>
                <a:spcPts val="0"/>
              </a:spcBef>
              <a:buNone/>
              <a:defRPr sz="1200" b="0" i="0" u="none" strike="noStrike" cap="none">
                <a:solidFill>
                  <a:srgbClr val="888888"/>
                </a:solidFill>
                <a:latin typeface="Calibri"/>
                <a:ea typeface="Calibri"/>
                <a:cs typeface="Calibri"/>
              </a:defRPr>
            </a:lvl8pPr>
            <a:lvl9pPr marL="0" marR="0" lvl="8" indent="0" algn="r" rtl="0">
              <a:spcBef>
                <a:spcPts val="0"/>
              </a:spcBef>
              <a:buNone/>
              <a:defRPr sz="1200" b="0" i="0" u="none" strike="noStrike" cap="none">
                <a:solidFill>
                  <a:srgbClr val="888888"/>
                </a:solidFill>
                <a:latin typeface="Calibri"/>
                <a:ea typeface="Calibri"/>
                <a:cs typeface="Calibri"/>
              </a:defRPr>
            </a:lvl9pPr>
          </a:lstStyle>
          <a:p>
            <a:pPr marL="0" lvl="0" indent="0" algn="r" rtl="0">
              <a:spcBef>
                <a:spcPts val="0"/>
              </a:spcBef>
              <a:spcAft>
                <a:spcPts val="0"/>
              </a:spcAft>
              <a:buNone/>
              <a:defRPr/>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jp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2.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5.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5.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5.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5.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5.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5.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13.jp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13.jp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3.jp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13.jp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13.jp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13.jp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13.jp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6.jp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6.jp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6.jp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6.jp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6.jp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A0A0A"/>
        </a:solidFill>
      </p:bgPr>
    </p:bg>
    <p:spTree>
      <p:nvGrpSpPr>
        <p:cNvPr id="1" name=""/>
        <p:cNvGrpSpPr/>
        <p:nvPr/>
      </p:nvGrpSpPr>
      <p:grpSpPr bwMode="auto">
        <a:xfrm>
          <a:off x="0" y="0"/>
          <a:ext cx="0" cy="0"/>
          <a:chOff x="0" y="0"/>
          <a:chExt cx="0" cy="0"/>
        </a:xfrm>
      </p:grpSpPr>
      <p:pic>
        <p:nvPicPr>
          <p:cNvPr id="10351089" name="Google Shape;84;p13" descr="image.png"/>
          <p:cNvPicPr/>
          <p:nvPr/>
        </p:nvPicPr>
        <p:blipFill rotWithShape="1">
          <a:blip r:embed="rId3">
            <a:alphaModFix/>
          </a:blip>
          <a:stretch/>
        </p:blipFill>
        <p:spPr bwMode="auto">
          <a:xfrm>
            <a:off x="0" y="0"/>
            <a:ext cx="12192000" cy="6858000"/>
          </a:xfrm>
          <a:prstGeom prst="rect">
            <a:avLst/>
          </a:prstGeom>
          <a:noFill/>
          <a:ln>
            <a:noFill/>
          </a:ln>
        </p:spPr>
      </p:pic>
      <p:pic>
        <p:nvPicPr>
          <p:cNvPr id="2009425177" name="Google Shape;85;p13" descr="image.png"/>
          <p:cNvPicPr/>
          <p:nvPr/>
        </p:nvPicPr>
        <p:blipFill rotWithShape="1">
          <a:blip r:embed="rId4">
            <a:alphaModFix/>
          </a:blip>
          <a:stretch/>
        </p:blipFill>
        <p:spPr bwMode="auto">
          <a:xfrm>
            <a:off x="571500" y="571500"/>
            <a:ext cx="4572000" cy="5715000"/>
          </a:xfrm>
          <a:prstGeom prst="rect">
            <a:avLst/>
          </a:prstGeom>
          <a:noFill/>
          <a:ln>
            <a:noFill/>
          </a:ln>
        </p:spPr>
      </p:pic>
      <p:pic>
        <p:nvPicPr>
          <p:cNvPr id="943207580" name="Google Shape;86;p13" descr="image.png"/>
          <p:cNvPicPr/>
          <p:nvPr/>
        </p:nvPicPr>
        <p:blipFill rotWithShape="1">
          <a:blip r:embed="rId5">
            <a:alphaModFix/>
          </a:blip>
          <a:stretch/>
        </p:blipFill>
        <p:spPr bwMode="auto">
          <a:xfrm>
            <a:off x="5334000" y="571500"/>
            <a:ext cx="3048000" cy="2762250"/>
          </a:xfrm>
          <a:prstGeom prst="rect">
            <a:avLst/>
          </a:prstGeom>
          <a:noFill/>
          <a:ln>
            <a:noFill/>
          </a:ln>
        </p:spPr>
      </p:pic>
      <p:pic>
        <p:nvPicPr>
          <p:cNvPr id="638815977" name="Google Shape;87;p13" descr="image.png"/>
          <p:cNvPicPr/>
          <p:nvPr/>
        </p:nvPicPr>
        <p:blipFill rotWithShape="1">
          <a:blip r:embed="rId6">
            <a:alphaModFix/>
          </a:blip>
          <a:stretch/>
        </p:blipFill>
        <p:spPr bwMode="auto">
          <a:xfrm>
            <a:off x="8572500" y="571500"/>
            <a:ext cx="3048000" cy="2762250"/>
          </a:xfrm>
          <a:prstGeom prst="rect">
            <a:avLst/>
          </a:prstGeom>
          <a:noFill/>
          <a:ln>
            <a:noFill/>
          </a:ln>
        </p:spPr>
      </p:pic>
      <p:pic>
        <p:nvPicPr>
          <p:cNvPr id="1747757066" name="Google Shape;88;p13" descr="image.png"/>
          <p:cNvPicPr/>
          <p:nvPr/>
        </p:nvPicPr>
        <p:blipFill rotWithShape="1">
          <a:blip r:embed="rId5">
            <a:alphaModFix/>
          </a:blip>
          <a:stretch/>
        </p:blipFill>
        <p:spPr bwMode="auto">
          <a:xfrm>
            <a:off x="5334000" y="3524250"/>
            <a:ext cx="3048000" cy="2762250"/>
          </a:xfrm>
          <a:prstGeom prst="rect">
            <a:avLst/>
          </a:prstGeom>
          <a:noFill/>
          <a:ln>
            <a:noFill/>
          </a:ln>
        </p:spPr>
      </p:pic>
      <p:pic>
        <p:nvPicPr>
          <p:cNvPr id="895990131" name="Google Shape;89;p13" descr="image.png"/>
          <p:cNvPicPr/>
          <p:nvPr/>
        </p:nvPicPr>
        <p:blipFill rotWithShape="1">
          <a:blip r:embed="rId7">
            <a:alphaModFix/>
          </a:blip>
          <a:stretch/>
        </p:blipFill>
        <p:spPr bwMode="auto">
          <a:xfrm>
            <a:off x="8572500" y="3524250"/>
            <a:ext cx="3048000" cy="2762250"/>
          </a:xfrm>
          <a:prstGeom prst="rect">
            <a:avLst/>
          </a:prstGeom>
          <a:noFill/>
          <a:ln>
            <a:noFill/>
          </a:ln>
        </p:spPr>
      </p:pic>
      <p:pic>
        <p:nvPicPr>
          <p:cNvPr id="244103677" name="Google Shape;90;p13" descr="image.png"/>
          <p:cNvPicPr/>
          <p:nvPr/>
        </p:nvPicPr>
        <p:blipFill rotWithShape="1">
          <a:blip r:embed="rId8">
            <a:alphaModFix/>
          </a:blip>
          <a:stretch/>
        </p:blipFill>
        <p:spPr bwMode="auto">
          <a:xfrm>
            <a:off x="962025" y="962025"/>
            <a:ext cx="1466849" cy="228600"/>
          </a:xfrm>
          <a:prstGeom prst="rect">
            <a:avLst/>
          </a:prstGeom>
          <a:noFill/>
          <a:ln>
            <a:noFill/>
          </a:ln>
        </p:spPr>
      </p:pic>
      <p:pic>
        <p:nvPicPr>
          <p:cNvPr id="70078136" name="Google Shape;91;p13" descr="image.png"/>
          <p:cNvPicPr/>
          <p:nvPr/>
        </p:nvPicPr>
        <p:blipFill rotWithShape="1">
          <a:blip r:embed="rId9">
            <a:alphaModFix/>
          </a:blip>
          <a:stretch/>
        </p:blipFill>
        <p:spPr bwMode="auto">
          <a:xfrm>
            <a:off x="5343525" y="581025"/>
            <a:ext cx="3028950" cy="2743200"/>
          </a:xfrm>
          <a:prstGeom prst="rect">
            <a:avLst/>
          </a:prstGeom>
          <a:noFill/>
          <a:ln>
            <a:noFill/>
          </a:ln>
        </p:spPr>
      </p:pic>
      <p:pic>
        <p:nvPicPr>
          <p:cNvPr id="1163041364" name="Google Shape;92;p13" descr="image.png"/>
          <p:cNvPicPr/>
          <p:nvPr/>
        </p:nvPicPr>
        <p:blipFill rotWithShape="1">
          <a:blip r:embed="rId9">
            <a:alphaModFix/>
          </a:blip>
          <a:stretch/>
        </p:blipFill>
        <p:spPr bwMode="auto">
          <a:xfrm>
            <a:off x="8582025" y="581025"/>
            <a:ext cx="3028950" cy="2743200"/>
          </a:xfrm>
          <a:prstGeom prst="rect">
            <a:avLst/>
          </a:prstGeom>
          <a:noFill/>
          <a:ln>
            <a:noFill/>
          </a:ln>
        </p:spPr>
      </p:pic>
      <p:pic>
        <p:nvPicPr>
          <p:cNvPr id="126604178" name="Google Shape;93;p13" descr="image.png"/>
          <p:cNvPicPr/>
          <p:nvPr/>
        </p:nvPicPr>
        <p:blipFill rotWithShape="1">
          <a:blip r:embed="rId9">
            <a:alphaModFix/>
          </a:blip>
          <a:stretch/>
        </p:blipFill>
        <p:spPr bwMode="auto">
          <a:xfrm>
            <a:off x="5343525" y="3533775"/>
            <a:ext cx="3028950" cy="2743200"/>
          </a:xfrm>
          <a:prstGeom prst="rect">
            <a:avLst/>
          </a:prstGeom>
          <a:noFill/>
          <a:ln>
            <a:noFill/>
          </a:ln>
        </p:spPr>
      </p:pic>
      <p:pic>
        <p:nvPicPr>
          <p:cNvPr id="1901747037" name="Google Shape;94;p13" descr="image.png"/>
          <p:cNvPicPr/>
          <p:nvPr/>
        </p:nvPicPr>
        <p:blipFill rotWithShape="1">
          <a:blip r:embed="rId9">
            <a:alphaModFix/>
          </a:blip>
          <a:stretch/>
        </p:blipFill>
        <p:spPr bwMode="auto">
          <a:xfrm>
            <a:off x="8582025" y="3533775"/>
            <a:ext cx="3028950" cy="2743200"/>
          </a:xfrm>
          <a:prstGeom prst="rect">
            <a:avLst/>
          </a:prstGeom>
          <a:noFill/>
          <a:ln>
            <a:noFill/>
          </a:ln>
        </p:spPr>
      </p:pic>
      <p:pic>
        <p:nvPicPr>
          <p:cNvPr id="1468819466" name="Google Shape;95;p13" descr="image.png"/>
          <p:cNvPicPr/>
          <p:nvPr/>
        </p:nvPicPr>
        <p:blipFill rotWithShape="1">
          <a:blip r:embed="rId10">
            <a:alphaModFix/>
          </a:blip>
          <a:srcRect l="0" t="0" r="0" b="14885"/>
          <a:stretch/>
        </p:blipFill>
        <p:spPr bwMode="auto">
          <a:xfrm>
            <a:off x="581025" y="581025"/>
            <a:ext cx="4552950" cy="5715000"/>
          </a:xfrm>
          <a:prstGeom prst="rect">
            <a:avLst/>
          </a:prstGeom>
          <a:noFill/>
          <a:ln>
            <a:noFill/>
          </a:ln>
        </p:spPr>
      </p:pic>
      <p:pic>
        <p:nvPicPr>
          <p:cNvPr id="733695082" name="Google Shape;161;p17"/>
          <p:cNvPicPr/>
          <p:nvPr/>
        </p:nvPicPr>
        <p:blipFill rotWithShape="1">
          <a:blip r:embed="rId11">
            <a:alphaModFix amt="35000"/>
          </a:blip>
          <a:stretch/>
        </p:blipFill>
        <p:spPr bwMode="auto">
          <a:xfrm>
            <a:off x="8579547" y="4809510"/>
            <a:ext cx="3028951" cy="1467465"/>
          </a:xfrm>
          <a:prstGeom prst="roundRect">
            <a:avLst>
              <a:gd name="adj" fmla="val 16667"/>
            </a:avLst>
          </a:prstGeom>
          <a:noFill/>
          <a:ln>
            <a:noFill/>
          </a:ln>
        </p:spPr>
      </p:pic>
      <p:pic>
        <p:nvPicPr>
          <p:cNvPr id="1468198825" name="Google Shape;96;p13" descr="image.png"/>
          <p:cNvPicPr/>
          <p:nvPr/>
        </p:nvPicPr>
        <p:blipFill rotWithShape="1">
          <a:blip r:embed="rId12">
            <a:alphaModFix/>
          </a:blip>
          <a:stretch/>
        </p:blipFill>
        <p:spPr bwMode="auto">
          <a:xfrm>
            <a:off x="5343525" y="581025"/>
            <a:ext cx="3028950" cy="2743200"/>
          </a:xfrm>
          <a:prstGeom prst="rect">
            <a:avLst/>
          </a:prstGeom>
          <a:noFill/>
          <a:ln>
            <a:noFill/>
          </a:ln>
        </p:spPr>
      </p:pic>
      <p:pic>
        <p:nvPicPr>
          <p:cNvPr id="111524213" name="Google Shape;97;p13" descr="image.png"/>
          <p:cNvPicPr/>
          <p:nvPr/>
        </p:nvPicPr>
        <p:blipFill rotWithShape="1">
          <a:blip r:embed="rId13">
            <a:alphaModFix/>
          </a:blip>
          <a:stretch/>
        </p:blipFill>
        <p:spPr bwMode="auto">
          <a:xfrm>
            <a:off x="8582025" y="581025"/>
            <a:ext cx="3028950" cy="2743200"/>
          </a:xfrm>
          <a:prstGeom prst="rect">
            <a:avLst/>
          </a:prstGeom>
          <a:noFill/>
          <a:ln>
            <a:noFill/>
          </a:ln>
        </p:spPr>
      </p:pic>
      <p:pic>
        <p:nvPicPr>
          <p:cNvPr id="1023032148" name="Google Shape;98;p13" descr="image.png"/>
          <p:cNvPicPr/>
          <p:nvPr/>
        </p:nvPicPr>
        <p:blipFill rotWithShape="1">
          <a:blip r:embed="rId14">
            <a:alphaModFix/>
          </a:blip>
          <a:stretch/>
        </p:blipFill>
        <p:spPr bwMode="auto">
          <a:xfrm>
            <a:off x="5343525" y="3533775"/>
            <a:ext cx="3028950" cy="2743200"/>
          </a:xfrm>
          <a:prstGeom prst="rect">
            <a:avLst/>
          </a:prstGeom>
          <a:noFill/>
          <a:ln>
            <a:noFill/>
          </a:ln>
        </p:spPr>
      </p:pic>
      <p:sp>
        <p:nvSpPr>
          <p:cNvPr id="1744979034" name="Google Shape;100;p13"/>
          <p:cNvSpPr txBox="1"/>
          <p:nvPr/>
        </p:nvSpPr>
        <p:spPr bwMode="auto">
          <a:xfrm>
            <a:off x="962025" y="1381125"/>
            <a:ext cx="3980497" cy="176004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defRPr/>
            </a:pPr>
            <a:r>
              <a:rPr lang="en-US" sz="4200" b="1" i="0" u="none" strike="noStrike" cap="none">
                <a:solidFill>
                  <a:srgbClr val="F5F5F5"/>
                </a:solidFill>
                <a:latin typeface="Urbanist"/>
                <a:ea typeface="Urbanist"/>
                <a:cs typeface="Urbanist"/>
              </a:rPr>
              <a:t>Pakistan's</a:t>
            </a:r>
            <a:br>
              <a:rPr lang="en-US" sz="1800" b="0" i="0" u="none" strike="noStrike" cap="none">
                <a:solidFill>
                  <a:schemeClr val="dk1"/>
                </a:solidFill>
                <a:latin typeface="Calibri"/>
                <a:ea typeface="Calibri"/>
                <a:cs typeface="Calibri"/>
              </a:rPr>
            </a:br>
            <a:r>
              <a:rPr lang="en-US" sz="4200" b="1" i="0" u="none" strike="noStrike" cap="none">
                <a:solidFill>
                  <a:srgbClr val="F5F5F5"/>
                </a:solidFill>
                <a:latin typeface="Urbanist"/>
                <a:ea typeface="Urbanist"/>
                <a:cs typeface="Urbanist"/>
              </a:rPr>
              <a:t> Strategic</a:t>
            </a:r>
            <a:br>
              <a:rPr lang="en-US" sz="1800" b="0" i="0" u="none" strike="noStrike" cap="none">
                <a:solidFill>
                  <a:schemeClr val="dk1"/>
                </a:solidFill>
                <a:latin typeface="Calibri"/>
                <a:ea typeface="Calibri"/>
                <a:cs typeface="Calibri"/>
              </a:rPr>
            </a:br>
            <a:r>
              <a:rPr lang="en-US" sz="4200" b="1" i="0" u="none" strike="noStrike" cap="none">
                <a:solidFill>
                  <a:srgbClr val="DEFF9A"/>
                </a:solidFill>
                <a:latin typeface="Urbanist"/>
                <a:ea typeface="Urbanist"/>
                <a:cs typeface="Urbanist"/>
              </a:rPr>
              <a:t>Horizon 2025</a:t>
            </a:r>
            <a:endParaRPr/>
          </a:p>
        </p:txBody>
      </p:sp>
      <p:sp>
        <p:nvSpPr>
          <p:cNvPr id="1809885136" name="Google Shape;101;p13"/>
          <p:cNvSpPr txBox="1"/>
          <p:nvPr/>
        </p:nvSpPr>
        <p:spPr bwMode="auto">
          <a:xfrm>
            <a:off x="962025" y="4533900"/>
            <a:ext cx="3032670"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defRPr/>
            </a:pPr>
            <a:r>
              <a:rPr lang="en-US" sz="1500" b="0" i="0" u="none" strike="noStrike" cap="none">
                <a:solidFill>
                  <a:srgbClr val="CCCCCC"/>
                </a:solidFill>
                <a:latin typeface="Urbanist"/>
                <a:ea typeface="Urbanist"/>
                <a:cs typeface="Urbanist"/>
              </a:rPr>
              <a:t>A comprehensive analysis of the critical security, economic, and social challenges shaping the future.</a:t>
            </a:r>
            <a:endParaRPr/>
          </a:p>
        </p:txBody>
      </p:sp>
      <p:sp>
        <p:nvSpPr>
          <p:cNvPr id="1805462109" name="Google Shape;102;p13"/>
          <p:cNvSpPr txBox="1"/>
          <p:nvPr/>
        </p:nvSpPr>
        <p:spPr bwMode="auto">
          <a:xfrm>
            <a:off x="5581649" y="2324100"/>
            <a:ext cx="255270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100" b="1" i="0" u="none" strike="noStrike" cap="none">
                <a:solidFill>
                  <a:srgbClr val="DEFF9A"/>
                </a:solidFill>
                <a:latin typeface="Urbanist"/>
                <a:ea typeface="Urbanist"/>
                <a:cs typeface="Urbanist"/>
              </a:rPr>
              <a:t>Muhammad Aliyan</a:t>
            </a:r>
            <a:endParaRPr sz="1600"/>
          </a:p>
        </p:txBody>
      </p:sp>
      <p:sp>
        <p:nvSpPr>
          <p:cNvPr id="47182734" name="Google Shape;103;p13"/>
          <p:cNvSpPr txBox="1"/>
          <p:nvPr/>
        </p:nvSpPr>
        <p:spPr bwMode="auto">
          <a:xfrm>
            <a:off x="5581649" y="2486025"/>
            <a:ext cx="2552700"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800" b="1" i="0" u="none" strike="noStrike" cap="none">
                <a:solidFill>
                  <a:srgbClr val="FFFFFF"/>
                </a:solidFill>
                <a:latin typeface="Urbanist"/>
                <a:ea typeface="Urbanist"/>
                <a:cs typeface="Urbanist"/>
              </a:rPr>
              <a:t>Terrorism &amp;</a:t>
            </a:r>
            <a:br>
              <a:rPr lang="en-US" sz="1800" b="0" i="0" u="none" strike="noStrike" cap="none">
                <a:solidFill>
                  <a:schemeClr val="dk1"/>
                </a:solidFill>
                <a:latin typeface="Calibri"/>
                <a:ea typeface="Calibri"/>
                <a:cs typeface="Calibri"/>
              </a:rPr>
            </a:br>
            <a:r>
              <a:rPr lang="en-US" sz="1800" b="1" i="0" u="none" strike="noStrike" cap="none">
                <a:solidFill>
                  <a:srgbClr val="FFFFFF"/>
                </a:solidFill>
                <a:latin typeface="Urbanist"/>
                <a:ea typeface="Urbanist"/>
                <a:cs typeface="Urbanist"/>
              </a:rPr>
              <a:t> Extremism</a:t>
            </a:r>
            <a:endParaRPr/>
          </a:p>
        </p:txBody>
      </p:sp>
      <p:sp>
        <p:nvSpPr>
          <p:cNvPr id="1334254814" name="Google Shape;104;p13"/>
          <p:cNvSpPr txBox="1"/>
          <p:nvPr/>
        </p:nvSpPr>
        <p:spPr bwMode="auto">
          <a:xfrm>
            <a:off x="8820150" y="2324100"/>
            <a:ext cx="255270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100" b="1">
                <a:solidFill>
                  <a:srgbClr val="DEFF9A"/>
                </a:solidFill>
                <a:latin typeface="Urbanist"/>
                <a:ea typeface="Urbanist"/>
                <a:cs typeface="Urbanist"/>
              </a:rPr>
              <a:t>Abdul Mateen</a:t>
            </a:r>
            <a:endParaRPr lang="en-US" sz="1600"/>
          </a:p>
        </p:txBody>
      </p:sp>
      <p:sp>
        <p:nvSpPr>
          <p:cNvPr id="469172849" name="Google Shape;105;p13"/>
          <p:cNvSpPr txBox="1"/>
          <p:nvPr/>
        </p:nvSpPr>
        <p:spPr bwMode="auto">
          <a:xfrm>
            <a:off x="8820150" y="2486025"/>
            <a:ext cx="2552700"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800" b="1" i="0" u="none" strike="noStrike" cap="none">
                <a:solidFill>
                  <a:srgbClr val="FFFFFF"/>
                </a:solidFill>
                <a:latin typeface="Urbanist"/>
                <a:ea typeface="Urbanist"/>
                <a:cs typeface="Urbanist"/>
              </a:rPr>
              <a:t>Hybrid</a:t>
            </a:r>
            <a:br>
              <a:rPr lang="en-US" sz="1800" b="0" i="0" u="none" strike="noStrike" cap="none">
                <a:solidFill>
                  <a:schemeClr val="dk1"/>
                </a:solidFill>
                <a:latin typeface="Calibri"/>
                <a:ea typeface="Calibri"/>
                <a:cs typeface="Calibri"/>
              </a:rPr>
            </a:br>
            <a:r>
              <a:rPr lang="en-US" sz="1800" b="1" i="0" u="none" strike="noStrike" cap="none">
                <a:solidFill>
                  <a:srgbClr val="FFFFFF"/>
                </a:solidFill>
                <a:latin typeface="Urbanist"/>
                <a:ea typeface="Urbanist"/>
                <a:cs typeface="Urbanist"/>
              </a:rPr>
              <a:t> Warfare</a:t>
            </a:r>
            <a:endParaRPr/>
          </a:p>
        </p:txBody>
      </p:sp>
      <p:sp>
        <p:nvSpPr>
          <p:cNvPr id="466536096" name="Google Shape;106;p13"/>
          <p:cNvSpPr txBox="1"/>
          <p:nvPr/>
        </p:nvSpPr>
        <p:spPr bwMode="auto">
          <a:xfrm>
            <a:off x="5581649" y="5276850"/>
            <a:ext cx="25527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050" b="1" i="0" u="none" strike="noStrike" cap="none">
                <a:solidFill>
                  <a:srgbClr val="DEFF9A"/>
                </a:solidFill>
                <a:latin typeface="Urbanist"/>
                <a:ea typeface="Urbanist"/>
                <a:cs typeface="Urbanist"/>
              </a:rPr>
              <a:t>Arooba Naeem</a:t>
            </a:r>
            <a:endParaRPr/>
          </a:p>
        </p:txBody>
      </p:sp>
      <p:sp>
        <p:nvSpPr>
          <p:cNvPr id="1332315006" name="Google Shape;107;p13"/>
          <p:cNvSpPr txBox="1"/>
          <p:nvPr/>
        </p:nvSpPr>
        <p:spPr bwMode="auto">
          <a:xfrm>
            <a:off x="5581649" y="5438774"/>
            <a:ext cx="2552700"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800" b="1" i="0" u="none" strike="noStrike" cap="none">
                <a:solidFill>
                  <a:srgbClr val="FFFFFF"/>
                </a:solidFill>
                <a:latin typeface="Urbanist"/>
                <a:ea typeface="Urbanist"/>
                <a:cs typeface="Urbanist"/>
              </a:rPr>
              <a:t>Climate</a:t>
            </a:r>
            <a:br>
              <a:rPr lang="en-US" sz="1800" b="0" i="0" u="none" strike="noStrike" cap="none">
                <a:solidFill>
                  <a:schemeClr val="dk1"/>
                </a:solidFill>
                <a:latin typeface="Calibri"/>
                <a:ea typeface="Calibri"/>
                <a:cs typeface="Calibri"/>
              </a:rPr>
            </a:br>
            <a:r>
              <a:rPr lang="en-US" sz="1800" b="1" i="0" u="none" strike="noStrike" cap="none">
                <a:solidFill>
                  <a:srgbClr val="FFFFFF"/>
                </a:solidFill>
                <a:latin typeface="Urbanist"/>
                <a:ea typeface="Urbanist"/>
                <a:cs typeface="Urbanist"/>
              </a:rPr>
              <a:t> Change</a:t>
            </a:r>
            <a:endParaRPr/>
          </a:p>
        </p:txBody>
      </p:sp>
      <p:sp>
        <p:nvSpPr>
          <p:cNvPr id="1135800530" name="Google Shape;108;p13"/>
          <p:cNvSpPr txBox="1"/>
          <p:nvPr/>
        </p:nvSpPr>
        <p:spPr bwMode="auto">
          <a:xfrm>
            <a:off x="8815864" y="5076825"/>
            <a:ext cx="2552700"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050" b="1" i="0" u="none" strike="noStrike" cap="none">
                <a:solidFill>
                  <a:srgbClr val="DEFF9A"/>
                </a:solidFill>
                <a:latin typeface="Urbanist"/>
                <a:ea typeface="Urbanist"/>
                <a:cs typeface="Urbanist"/>
              </a:rPr>
              <a:t>Noor Fatima &amp;</a:t>
            </a:r>
            <a:endParaRPr/>
          </a:p>
          <a:p>
            <a:pPr marL="0" marR="0" lvl="0" indent="0" algn="l" rtl="0">
              <a:spcBef>
                <a:spcPts val="0"/>
              </a:spcBef>
              <a:spcAft>
                <a:spcPts val="0"/>
              </a:spcAft>
              <a:buNone/>
              <a:defRPr/>
            </a:pPr>
            <a:r>
              <a:rPr lang="en-US" sz="1050" b="1">
                <a:solidFill>
                  <a:srgbClr val="DEFF9A"/>
                </a:solidFill>
                <a:latin typeface="Urbanist"/>
                <a:ea typeface="Urbanist"/>
                <a:cs typeface="Urbanist"/>
              </a:rPr>
              <a:t>Wajiha Eman</a:t>
            </a:r>
            <a:endParaRPr/>
          </a:p>
        </p:txBody>
      </p:sp>
      <p:sp>
        <p:nvSpPr>
          <p:cNvPr id="1171174924" name="Google Shape;109;p13"/>
          <p:cNvSpPr txBox="1"/>
          <p:nvPr/>
        </p:nvSpPr>
        <p:spPr bwMode="auto">
          <a:xfrm>
            <a:off x="8820150" y="5438774"/>
            <a:ext cx="2552700"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800" b="1" i="0" u="none" strike="noStrike" cap="none">
                <a:solidFill>
                  <a:srgbClr val="FFFFFF"/>
                </a:solidFill>
                <a:latin typeface="Urbanist"/>
                <a:ea typeface="Urbanist"/>
                <a:cs typeface="Urbanist"/>
              </a:rPr>
              <a:t>Governance &amp;</a:t>
            </a:r>
            <a:br>
              <a:rPr lang="en-US" sz="1800" b="0" i="0" u="none" strike="noStrike" cap="none">
                <a:solidFill>
                  <a:schemeClr val="dk1"/>
                </a:solidFill>
                <a:latin typeface="Calibri"/>
                <a:ea typeface="Calibri"/>
                <a:cs typeface="Calibri"/>
              </a:rPr>
            </a:br>
            <a:r>
              <a:rPr lang="en-US" sz="1800" b="1" i="0" u="none" strike="noStrike" cap="none">
                <a:solidFill>
                  <a:srgbClr val="FFFFFF"/>
                </a:solidFill>
                <a:latin typeface="Urbanist"/>
                <a:ea typeface="Urbanist"/>
                <a:cs typeface="Urbanist"/>
              </a:rPr>
              <a:t> Inequality</a:t>
            </a:r>
            <a:endParaRPr/>
          </a:p>
        </p:txBody>
      </p:sp>
      <p:pic>
        <p:nvPicPr>
          <p:cNvPr id="47159679" name="Google Shape;99;p13"/>
          <p:cNvPicPr/>
          <p:nvPr/>
        </p:nvPicPr>
        <p:blipFill rotWithShape="1">
          <a:blip r:embed="rId15">
            <a:alphaModFix amt="35000"/>
          </a:blip>
          <a:stretch/>
        </p:blipFill>
        <p:spPr bwMode="auto">
          <a:xfrm>
            <a:off x="8579546" y="3533775"/>
            <a:ext cx="3031429" cy="1467465"/>
          </a:xfrm>
          <a:prstGeom prst="round2SameRect">
            <a:avLst>
              <a:gd name="adj1" fmla="val 16667"/>
              <a:gd name="adj2" fmla="val 0"/>
            </a:avLst>
          </a:prstGeom>
          <a:noFill/>
          <a:ln>
            <a:noFill/>
          </a:ln>
        </p:spPr>
      </p:pic>
      <p:pic>
        <p:nvPicPr>
          <p:cNvPr id="1190882389" name="Google Shape;97;p13" descr="image.png"/>
          <p:cNvPicPr/>
          <p:nvPr/>
        </p:nvPicPr>
        <p:blipFill rotWithShape="1">
          <a:blip r:embed="rId13">
            <a:alphaModFix/>
          </a:blip>
          <a:stretch/>
        </p:blipFill>
        <p:spPr bwMode="auto">
          <a:xfrm>
            <a:off x="8582024" y="590549"/>
            <a:ext cx="3028950" cy="2743200"/>
          </a:xfrm>
          <a:prstGeom prst="rect">
            <a:avLst/>
          </a:prstGeom>
          <a:noFill/>
          <a:ln>
            <a:noFill/>
          </a:ln>
        </p:spPr>
      </p:pic>
      <p:sp>
        <p:nvSpPr>
          <p:cNvPr id="1255602117" name="Google Shape;105;p13"/>
          <p:cNvSpPr txBox="1"/>
          <p:nvPr/>
        </p:nvSpPr>
        <p:spPr bwMode="auto">
          <a:xfrm>
            <a:off x="8820149" y="2495549"/>
            <a:ext cx="2552699" cy="55244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800" b="1" i="0" u="none" strike="noStrike" cap="none">
                <a:solidFill>
                  <a:srgbClr val="FFFFFF"/>
                </a:solidFill>
                <a:latin typeface="Urbanist"/>
                <a:ea typeface="Urbanist"/>
                <a:cs typeface="Urbanist"/>
              </a:rPr>
              <a:t>Hybrid</a:t>
            </a:r>
            <a:br>
              <a:rPr lang="en-US" sz="1800" b="0" i="0" u="none" strike="noStrike" cap="none">
                <a:solidFill>
                  <a:schemeClr val="dk1"/>
                </a:solidFill>
                <a:latin typeface="Calibri"/>
                <a:ea typeface="Calibri"/>
                <a:cs typeface="Calibri"/>
              </a:rPr>
            </a:br>
            <a:r>
              <a:rPr lang="en-US" sz="1800" b="1" i="0" u="none" strike="noStrike" cap="none">
                <a:solidFill>
                  <a:srgbClr val="FFFFFF"/>
                </a:solidFill>
                <a:latin typeface="Urbanist"/>
                <a:ea typeface="Urbanist"/>
                <a:cs typeface="Urbanist"/>
              </a:rPr>
              <a:t> Warfare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A0A0A"/>
        </a:solidFill>
      </p:bgPr>
    </p:bg>
    <p:spTree>
      <p:nvGrpSpPr>
        <p:cNvPr id="1" name=""/>
        <p:cNvGrpSpPr/>
        <p:nvPr/>
      </p:nvGrpSpPr>
      <p:grpSpPr bwMode="auto">
        <a:xfrm>
          <a:off x="0" y="0"/>
          <a:ext cx="0" cy="0"/>
          <a:chOff x="0" y="0"/>
          <a:chExt cx="0" cy="0"/>
        </a:xfrm>
      </p:grpSpPr>
      <p:pic>
        <p:nvPicPr>
          <p:cNvPr id="231653179" name="Google Shape;96;p13" descr="image.png"/>
          <p:cNvPicPr/>
          <p:nvPr/>
        </p:nvPicPr>
        <p:blipFill rotWithShape="1">
          <a:blip r:embed="rId3">
            <a:alphaModFix/>
          </a:blip>
          <a:stretch/>
        </p:blipFill>
        <p:spPr bwMode="auto">
          <a:xfrm>
            <a:off x="6096000" y="1"/>
            <a:ext cx="6105526" cy="6712084"/>
          </a:xfrm>
          <a:prstGeom prst="rect">
            <a:avLst/>
          </a:prstGeom>
          <a:noFill/>
          <a:ln>
            <a:noFill/>
          </a:ln>
        </p:spPr>
      </p:pic>
      <p:sp>
        <p:nvSpPr>
          <p:cNvPr id="896342773" name="Google Shape;103;p13"/>
          <p:cNvSpPr txBox="1"/>
          <p:nvPr/>
        </p:nvSpPr>
        <p:spPr bwMode="auto">
          <a:xfrm>
            <a:off x="648653" y="414576"/>
            <a:ext cx="3320232"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2800" b="1" i="0" u="none" strike="noStrike" cap="none">
                <a:solidFill>
                  <a:srgbClr val="FFFFFF"/>
                </a:solidFill>
                <a:latin typeface="Urbanist"/>
                <a:ea typeface="Urbanist"/>
                <a:cs typeface="Urbanist"/>
              </a:rPr>
              <a:t>Terrorism &amp;</a:t>
            </a:r>
            <a:br>
              <a:rPr lang="en-US" sz="2800" b="0" i="0" u="none" strike="noStrike" cap="none">
                <a:solidFill>
                  <a:schemeClr val="dk1"/>
                </a:solidFill>
                <a:latin typeface="Calibri"/>
                <a:ea typeface="Calibri"/>
                <a:cs typeface="Calibri"/>
              </a:rPr>
            </a:br>
            <a:r>
              <a:rPr lang="en-US" sz="2800" b="1" i="0" u="none" strike="noStrike" cap="none">
                <a:solidFill>
                  <a:srgbClr val="FFFFFF"/>
                </a:solidFill>
                <a:latin typeface="Urbanist"/>
                <a:ea typeface="Urbanist"/>
                <a:cs typeface="Urbanist"/>
              </a:rPr>
              <a:t> Extremism</a:t>
            </a:r>
            <a:endParaRPr sz="2800"/>
          </a:p>
        </p:txBody>
      </p:sp>
      <p:sp>
        <p:nvSpPr>
          <p:cNvPr id="1751666118" name="Rectangle: Rounded Corners 6"/>
          <p:cNvSpPr/>
          <p:nvPr/>
        </p:nvSpPr>
        <p:spPr bwMode="auto">
          <a:xfrm>
            <a:off x="466662" y="1852852"/>
            <a:ext cx="5273737" cy="4804718"/>
          </a:xfrm>
          <a:prstGeom prst="roundRect">
            <a:avLst>
              <a:gd name="adj" fmla="val 16667"/>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rPr>
              <a:t>The Statistical Escalation of Violence</a:t>
            </a:r>
            <a:endParaRPr/>
          </a:p>
          <a:p>
            <a:pPr algn="ctr">
              <a:defRPr/>
            </a:pPr>
            <a:endParaRPr lang="en-GB" sz="1800">
              <a:latin typeface="Calibri"/>
              <a:ea typeface="Calibri"/>
              <a:cs typeface="Calibri"/>
            </a:endParaRPr>
          </a:p>
          <a:p>
            <a:pPr>
              <a:defRPr/>
            </a:pPr>
            <a:r>
              <a:rPr lang="en-GB" sz="1600">
                <a:latin typeface="Calibri"/>
                <a:ea typeface="Calibri"/>
                <a:cs typeface="Calibri"/>
              </a:rPr>
              <a:t>The quantitative data regarding terrorism in Pakistan for the 2024-2025 period indicates a profound escalation in violence, challenging the state's monopoly on force in critical regions. According to the Global Terrorism Index (GTI) 2025, Pakistan remained among the countries most impacted by terrorism globally. The lethality of the operational environment is underscored by the presence of three of the world's four deadliest terrorist groups—Islamic State (IS), Jamaat Nusrat Al-Islam wal Muslimeen (JNIM), and the Tehrik-e-Taliban Pakistan (TTP)—active within or near its borders.</a:t>
            </a:r>
            <a:endParaRPr lang="en-US" sz="1600">
              <a:latin typeface="Calibri"/>
              <a:ea typeface="Calibri"/>
              <a:cs typeface="Calibri"/>
            </a:endParaRPr>
          </a:p>
        </p:txBody>
      </p:sp>
      <p:sp>
        <p:nvSpPr>
          <p:cNvPr id="1412318262" name="Google Shape;102;p13"/>
          <p:cNvSpPr txBox="1"/>
          <p:nvPr/>
        </p:nvSpPr>
        <p:spPr bwMode="auto">
          <a:xfrm>
            <a:off x="648653" y="1529001"/>
            <a:ext cx="255270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100" b="1" i="0" u="none" strike="noStrike" cap="none">
                <a:solidFill>
                  <a:srgbClr val="DEFF9A"/>
                </a:solidFill>
                <a:latin typeface="Calibri"/>
                <a:ea typeface="Calibri"/>
                <a:cs typeface="Calibri"/>
              </a:rPr>
              <a:t>Muhammad Aliyan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2000" advClick="1">
        <p159:morph option="byObject"/>
      </p:transition>
    </mc:Choice>
    <mc:Fallback>
      <p:transition spd="slow" advClick="1">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A0A0A"/>
        </a:solidFill>
      </p:bgPr>
    </p:bg>
    <p:spTree>
      <p:nvGrpSpPr>
        <p:cNvPr id="1" name=""/>
        <p:cNvGrpSpPr/>
        <p:nvPr/>
      </p:nvGrpSpPr>
      <p:grpSpPr bwMode="auto">
        <a:xfrm>
          <a:off x="0" y="0"/>
          <a:ext cx="0" cy="0"/>
          <a:chOff x="0" y="0"/>
          <a:chExt cx="0" cy="0"/>
        </a:xfrm>
      </p:grpSpPr>
      <p:pic>
        <p:nvPicPr>
          <p:cNvPr id="42581061" name="Google Shape;96;p13" descr="image.png"/>
          <p:cNvPicPr/>
          <p:nvPr/>
        </p:nvPicPr>
        <p:blipFill rotWithShape="1">
          <a:blip r:embed="rId3">
            <a:alphaModFix/>
          </a:blip>
          <a:stretch/>
        </p:blipFill>
        <p:spPr bwMode="auto">
          <a:xfrm>
            <a:off x="6096000" y="1"/>
            <a:ext cx="6105526" cy="6712084"/>
          </a:xfrm>
          <a:prstGeom prst="rect">
            <a:avLst/>
          </a:prstGeom>
          <a:noFill/>
          <a:ln>
            <a:noFill/>
          </a:ln>
        </p:spPr>
      </p:pic>
      <p:sp>
        <p:nvSpPr>
          <p:cNvPr id="258785533" name="Google Shape;103;p13"/>
          <p:cNvSpPr txBox="1"/>
          <p:nvPr/>
        </p:nvSpPr>
        <p:spPr bwMode="auto">
          <a:xfrm>
            <a:off x="648653" y="414576"/>
            <a:ext cx="3320232"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2800" b="1" i="0" u="none" strike="noStrike" cap="none">
                <a:solidFill>
                  <a:srgbClr val="FFFFFF"/>
                </a:solidFill>
                <a:latin typeface="Urbanist"/>
                <a:ea typeface="Urbanist"/>
                <a:cs typeface="Urbanist"/>
              </a:rPr>
              <a:t>Terrorism &amp;</a:t>
            </a:r>
            <a:br>
              <a:rPr lang="en-US" sz="2800" b="0" i="0" u="none" strike="noStrike" cap="none">
                <a:solidFill>
                  <a:schemeClr val="dk1"/>
                </a:solidFill>
                <a:latin typeface="Calibri"/>
                <a:ea typeface="Calibri"/>
                <a:cs typeface="Calibri"/>
              </a:rPr>
            </a:br>
            <a:r>
              <a:rPr lang="en-US" sz="2800" b="1" i="0" u="none" strike="noStrike" cap="none">
                <a:solidFill>
                  <a:srgbClr val="FFFFFF"/>
                </a:solidFill>
                <a:latin typeface="Urbanist"/>
                <a:ea typeface="Urbanist"/>
                <a:cs typeface="Urbanist"/>
              </a:rPr>
              <a:t> Extremism</a:t>
            </a:r>
            <a:endParaRPr sz="2800"/>
          </a:p>
        </p:txBody>
      </p:sp>
      <p:sp>
        <p:nvSpPr>
          <p:cNvPr id="1552645473" name="Rectangle: Rounded Corners 8"/>
          <p:cNvSpPr/>
          <p:nvPr/>
        </p:nvSpPr>
        <p:spPr bwMode="auto">
          <a:xfrm>
            <a:off x="460948" y="1852852"/>
            <a:ext cx="5273737" cy="4804718"/>
          </a:xfrm>
          <a:prstGeom prst="roundRect">
            <a:avLst>
              <a:gd name="adj" fmla="val 16667"/>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rPr>
              <a:t>The Statistical Escalation of Violence</a:t>
            </a:r>
            <a:endParaRPr/>
          </a:p>
          <a:p>
            <a:pPr algn="ctr">
              <a:defRPr/>
            </a:pPr>
            <a:endParaRPr lang="en-GB" sz="1800">
              <a:latin typeface="Calibri"/>
              <a:ea typeface="Calibri"/>
              <a:cs typeface="Calibri"/>
            </a:endParaRPr>
          </a:p>
          <a:p>
            <a:pPr>
              <a:defRPr/>
            </a:pPr>
            <a:r>
              <a:rPr lang="en-GB" sz="1600">
                <a:latin typeface="Calibri"/>
                <a:ea typeface="Calibri"/>
                <a:cs typeface="Calibri"/>
              </a:rPr>
              <a:t>In 2024 alone, Pakistan experienced a 70% increase in terrorist attacks compared to the previous year, totalling 521 incidents. This surge is not merely numerical but reflects an intensification of violence, with fatalities rising to 1,950 individuals. The violence in 2025 continued this upward trajectory, with reports from the first quarter of 2025 indicating nearly 300 attacks in Khyber Pakhtunkhwa alone. This incredible density of attacks in a single province suggests that militant groups have moved beyond hit-and-run tactics to establishing a persistent operational tempo that challenges the state's writ.</a:t>
            </a:r>
            <a:endParaRPr lang="en-US" sz="2000">
              <a:latin typeface="Calibri"/>
              <a:ea typeface="Calibri"/>
              <a:cs typeface="Calibri"/>
            </a:endParaRPr>
          </a:p>
        </p:txBody>
      </p:sp>
      <p:sp>
        <p:nvSpPr>
          <p:cNvPr id="244640124" name="Google Shape;102;p13"/>
          <p:cNvSpPr txBox="1"/>
          <p:nvPr/>
        </p:nvSpPr>
        <p:spPr bwMode="auto">
          <a:xfrm>
            <a:off x="648653" y="1529001"/>
            <a:ext cx="255270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100" b="1" i="0" u="none" strike="noStrike" cap="none">
                <a:solidFill>
                  <a:srgbClr val="DEFF9A"/>
                </a:solidFill>
                <a:latin typeface="Calibri"/>
                <a:ea typeface="Calibri"/>
                <a:cs typeface="Calibri"/>
              </a:rPr>
              <a:t>Muhammad Aliyan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A0A0A"/>
        </a:solidFill>
      </p:bgPr>
    </p:bg>
    <p:spTree>
      <p:nvGrpSpPr>
        <p:cNvPr id="1" name=""/>
        <p:cNvGrpSpPr/>
        <p:nvPr/>
      </p:nvGrpSpPr>
      <p:grpSpPr bwMode="auto">
        <a:xfrm>
          <a:off x="0" y="0"/>
          <a:ext cx="0" cy="0"/>
          <a:chOff x="0" y="0"/>
          <a:chExt cx="0" cy="0"/>
        </a:xfrm>
      </p:grpSpPr>
      <p:sp>
        <p:nvSpPr>
          <p:cNvPr id="333831058" name="Rectangle: Rounded Corners 6"/>
          <p:cNvSpPr/>
          <p:nvPr/>
        </p:nvSpPr>
        <p:spPr bwMode="auto">
          <a:xfrm>
            <a:off x="466662" y="1852852"/>
            <a:ext cx="5273737" cy="5005148"/>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The TTP and IS-K: A Dual-Front War</a:t>
            </a:r>
            <a:endParaRPr lang="en-GB" sz="1800">
              <a:latin typeface="Calibri"/>
              <a:ea typeface="Calibri"/>
              <a:cs typeface="Calibri"/>
            </a:endParaRPr>
          </a:p>
          <a:p>
            <a:pPr>
              <a:defRPr/>
            </a:pPr>
            <a:r>
              <a:rPr lang="en-GB" sz="1600">
                <a:latin typeface="Calibri"/>
                <a:ea typeface="Calibri"/>
                <a:cs typeface="Calibri"/>
              </a:rPr>
              <a:t>The Tehrik-e-Taliban Pakistan (TTP) has emerged as the "fastest-growing terrorist group" globally in terms of lethality, with a 90% increase in attributed deaths in 2024. This resurgence is not accidental but structural. The group has successfully exploited the strategic depth provided by the Afghan hinterland to reorganize, re-equip, and launch sustained campaigns against the Pakistani state. The TTP’s operational focus has shifted from indiscriminate civilian attacks to precision strikes against the security apparatus, aiming to demoralize the police and military forces stationed in the tribal districts.   </a:t>
            </a:r>
            <a:endParaRPr/>
          </a:p>
          <a:p>
            <a:pPr algn="ctr">
              <a:defRPr/>
            </a:pPr>
            <a:endParaRPr lang="en-GB" sz="1800">
              <a:latin typeface="Calibri"/>
              <a:ea typeface="Calibri"/>
              <a:cs typeface="Calibri"/>
            </a:endParaRPr>
          </a:p>
        </p:txBody>
      </p:sp>
      <p:pic>
        <p:nvPicPr>
          <p:cNvPr id="1206122845" name="Google Shape;96;p13" descr="image.png"/>
          <p:cNvPicPr/>
          <p:nvPr/>
        </p:nvPicPr>
        <p:blipFill rotWithShape="1">
          <a:blip r:embed="rId3">
            <a:alphaModFix/>
          </a:blip>
          <a:stretch/>
        </p:blipFill>
        <p:spPr bwMode="auto">
          <a:xfrm>
            <a:off x="6096000" y="1"/>
            <a:ext cx="6105526" cy="6712084"/>
          </a:xfrm>
          <a:prstGeom prst="rect">
            <a:avLst/>
          </a:prstGeom>
          <a:noFill/>
          <a:ln>
            <a:noFill/>
          </a:ln>
        </p:spPr>
      </p:pic>
      <p:sp>
        <p:nvSpPr>
          <p:cNvPr id="686477341" name="Google Shape;103;p13"/>
          <p:cNvSpPr txBox="1"/>
          <p:nvPr/>
        </p:nvSpPr>
        <p:spPr bwMode="auto">
          <a:xfrm>
            <a:off x="648652" y="414576"/>
            <a:ext cx="4685347"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2800" b="1" i="0" u="none" strike="noStrike" cap="none">
                <a:solidFill>
                  <a:srgbClr val="FFFFFF"/>
                </a:solidFill>
                <a:latin typeface="Calibri"/>
                <a:ea typeface="Calibri"/>
                <a:cs typeface="Calibri"/>
              </a:rPr>
              <a:t>Terrorism &amp;</a:t>
            </a:r>
            <a:br>
              <a:rPr lang="en-US" sz="2800" b="0" i="0" u="none" strike="noStrike" cap="none">
                <a:solidFill>
                  <a:schemeClr val="dk1"/>
                </a:solidFill>
                <a:latin typeface="Calibri"/>
                <a:ea typeface="Calibri"/>
                <a:cs typeface="Calibri"/>
              </a:rPr>
            </a:br>
            <a:r>
              <a:rPr lang="en-US" sz="2800" b="1" i="0" u="none" strike="noStrike" cap="none">
                <a:solidFill>
                  <a:srgbClr val="FFFFFF"/>
                </a:solidFill>
                <a:latin typeface="Calibri"/>
                <a:ea typeface="Calibri"/>
                <a:cs typeface="Calibri"/>
              </a:rPr>
              <a:t> Extremism</a:t>
            </a:r>
            <a:endParaRPr sz="2800">
              <a:latin typeface="Calibri"/>
              <a:ea typeface="Calibri"/>
              <a:cs typeface="Calibri"/>
            </a:endParaRPr>
          </a:p>
        </p:txBody>
      </p:sp>
      <p:sp>
        <p:nvSpPr>
          <p:cNvPr id="944756893" name="Google Shape;102;p13"/>
          <p:cNvSpPr txBox="1"/>
          <p:nvPr/>
        </p:nvSpPr>
        <p:spPr bwMode="auto">
          <a:xfrm>
            <a:off x="648653" y="1529001"/>
            <a:ext cx="255270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100" b="1" i="0" u="none" strike="noStrike" cap="none">
                <a:solidFill>
                  <a:srgbClr val="DEFF9A"/>
                </a:solidFill>
                <a:latin typeface="Calibri"/>
                <a:ea typeface="Calibri"/>
                <a:cs typeface="Calibri"/>
              </a:rPr>
              <a:t>Muhammad Aliyan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A0A0A"/>
        </a:solidFill>
      </p:bgPr>
    </p:bg>
    <p:spTree>
      <p:nvGrpSpPr>
        <p:cNvPr id="1" name=""/>
        <p:cNvGrpSpPr/>
        <p:nvPr/>
      </p:nvGrpSpPr>
      <p:grpSpPr bwMode="auto">
        <a:xfrm>
          <a:off x="0" y="0"/>
          <a:ext cx="0" cy="0"/>
          <a:chOff x="0" y="0"/>
          <a:chExt cx="0" cy="0"/>
        </a:xfrm>
      </p:grpSpPr>
      <p:pic>
        <p:nvPicPr>
          <p:cNvPr id="749725164" name="Google Shape;96;p13" descr="image.png"/>
          <p:cNvPicPr/>
          <p:nvPr/>
        </p:nvPicPr>
        <p:blipFill rotWithShape="1">
          <a:blip r:embed="rId3">
            <a:alphaModFix/>
          </a:blip>
          <a:stretch/>
        </p:blipFill>
        <p:spPr bwMode="auto">
          <a:xfrm>
            <a:off x="6096000" y="1"/>
            <a:ext cx="6105526" cy="6712084"/>
          </a:xfrm>
          <a:prstGeom prst="rect">
            <a:avLst/>
          </a:prstGeom>
          <a:noFill/>
          <a:ln>
            <a:noFill/>
          </a:ln>
        </p:spPr>
      </p:pic>
      <p:sp>
        <p:nvSpPr>
          <p:cNvPr id="2115344345" name="Google Shape;103;p13"/>
          <p:cNvSpPr txBox="1"/>
          <p:nvPr/>
        </p:nvSpPr>
        <p:spPr bwMode="auto">
          <a:xfrm>
            <a:off x="648652" y="414576"/>
            <a:ext cx="4685347"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2800" b="1" i="0" u="none" strike="noStrike" cap="none">
                <a:solidFill>
                  <a:srgbClr val="FFFFFF"/>
                </a:solidFill>
                <a:latin typeface="Calibri"/>
                <a:ea typeface="Calibri"/>
                <a:cs typeface="Calibri"/>
              </a:rPr>
              <a:t>Terrorism &amp;</a:t>
            </a:r>
            <a:br>
              <a:rPr lang="en-US" sz="2800" b="0" i="0" u="none" strike="noStrike" cap="none">
                <a:solidFill>
                  <a:schemeClr val="dk1"/>
                </a:solidFill>
                <a:latin typeface="Calibri"/>
                <a:ea typeface="Calibri"/>
                <a:cs typeface="Calibri"/>
              </a:rPr>
            </a:br>
            <a:r>
              <a:rPr lang="en-US" sz="2800" b="1" i="0" u="none" strike="noStrike" cap="none">
                <a:solidFill>
                  <a:srgbClr val="FFFFFF"/>
                </a:solidFill>
                <a:latin typeface="Calibri"/>
                <a:ea typeface="Calibri"/>
                <a:cs typeface="Calibri"/>
              </a:rPr>
              <a:t> Extremism</a:t>
            </a:r>
            <a:endParaRPr sz="2800">
              <a:latin typeface="Calibri"/>
              <a:ea typeface="Calibri"/>
              <a:cs typeface="Calibri"/>
            </a:endParaRPr>
          </a:p>
        </p:txBody>
      </p:sp>
      <p:sp>
        <p:nvSpPr>
          <p:cNvPr id="1540904648" name="Rectangle: Rounded Corners 2"/>
          <p:cNvSpPr/>
          <p:nvPr/>
        </p:nvSpPr>
        <p:spPr bwMode="auto">
          <a:xfrm>
            <a:off x="564484" y="1767532"/>
            <a:ext cx="5273737" cy="5005148"/>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The TTP and IS-K: A Dual-Front War</a:t>
            </a:r>
            <a:endParaRPr lang="en-GB" sz="1800">
              <a:latin typeface="Calibri"/>
              <a:ea typeface="Calibri"/>
              <a:cs typeface="Calibri"/>
            </a:endParaRPr>
          </a:p>
          <a:p>
            <a:pPr>
              <a:defRPr/>
            </a:pPr>
            <a:r>
              <a:rPr lang="en-GB" sz="1600">
                <a:latin typeface="Calibri"/>
                <a:ea typeface="Calibri"/>
                <a:cs typeface="Calibri"/>
              </a:rPr>
              <a:t>Simultaneously, the Islamic State (IS), particularly its Khorasan chapter (IS-K), has expanded its footprint. In 2024, IS and its affiliates were responsible for 1,805 deaths across 22 countries, with Pakistan being a primary theatre of operation alongside Syria and the DRC. The interplay between the TTP and IS-K presents a complex threat matrix. While TTP focuses on the state and security forces—evidenced by the suicide bombing on a police mosque in Peshawar that killed 95 people, mostly police personnel —IS-K has targeted political and sectarian fault lines. The IS-K claimed responsibility for a suicide attack on a JUI-F political rally in Bajaur, killing over 50 people, and continues to target religious minorities. This division of labour—TTP attacking the "hard" state and IS-K attacking "soft" societal targets—creates a pincer movement that stretches the state's counter-terrorism capacity to its breaking point.</a:t>
            </a:r>
            <a:r>
              <a:rPr lang="en-GB" sz="2000">
                <a:latin typeface="Calibri"/>
                <a:ea typeface="Calibri"/>
                <a:cs typeface="Calibri"/>
              </a:rPr>
              <a:t> </a:t>
            </a:r>
            <a:endParaRPr/>
          </a:p>
        </p:txBody>
      </p:sp>
      <p:sp>
        <p:nvSpPr>
          <p:cNvPr id="1986052964" name="Google Shape;102;p13"/>
          <p:cNvSpPr txBox="1"/>
          <p:nvPr/>
        </p:nvSpPr>
        <p:spPr bwMode="auto">
          <a:xfrm>
            <a:off x="648653" y="1529001"/>
            <a:ext cx="255270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100" b="1" i="0" u="none" strike="noStrike" cap="none">
                <a:solidFill>
                  <a:srgbClr val="DEFF9A"/>
                </a:solidFill>
                <a:latin typeface="Calibri"/>
                <a:ea typeface="Calibri"/>
                <a:cs typeface="Calibri"/>
              </a:rPr>
              <a:t>Muhammad Aliyan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A0A0A"/>
        </a:solidFill>
      </p:bgPr>
    </p:bg>
    <p:spTree>
      <p:nvGrpSpPr>
        <p:cNvPr id="1" name=""/>
        <p:cNvGrpSpPr/>
        <p:nvPr/>
      </p:nvGrpSpPr>
      <p:grpSpPr bwMode="auto">
        <a:xfrm>
          <a:off x="0" y="0"/>
          <a:ext cx="0" cy="0"/>
          <a:chOff x="0" y="0"/>
          <a:chExt cx="0" cy="0"/>
        </a:xfrm>
      </p:grpSpPr>
      <p:pic>
        <p:nvPicPr>
          <p:cNvPr id="135964821" name="Google Shape;96;p13" descr="image.png"/>
          <p:cNvPicPr/>
          <p:nvPr/>
        </p:nvPicPr>
        <p:blipFill rotWithShape="1">
          <a:blip r:embed="rId3">
            <a:alphaModFix/>
          </a:blip>
          <a:stretch/>
        </p:blipFill>
        <p:spPr bwMode="auto">
          <a:xfrm>
            <a:off x="6096000" y="1"/>
            <a:ext cx="6105526" cy="6712084"/>
          </a:xfrm>
          <a:prstGeom prst="rect">
            <a:avLst/>
          </a:prstGeom>
          <a:noFill/>
          <a:ln>
            <a:noFill/>
          </a:ln>
        </p:spPr>
      </p:pic>
      <p:sp>
        <p:nvSpPr>
          <p:cNvPr id="1954382927" name="Google Shape;103;p13"/>
          <p:cNvSpPr txBox="1"/>
          <p:nvPr/>
        </p:nvSpPr>
        <p:spPr bwMode="auto">
          <a:xfrm>
            <a:off x="567372" y="276138"/>
            <a:ext cx="4685347"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2800" b="1" i="0" u="none" strike="noStrike" cap="none">
                <a:solidFill>
                  <a:srgbClr val="FFFFFF"/>
                </a:solidFill>
                <a:latin typeface="Calibri"/>
                <a:ea typeface="Calibri"/>
                <a:cs typeface="Calibri"/>
              </a:rPr>
              <a:t>Terrorism &amp;</a:t>
            </a:r>
            <a:br>
              <a:rPr lang="en-US" sz="2800" b="0" i="0" u="none" strike="noStrike" cap="none">
                <a:solidFill>
                  <a:schemeClr val="dk1"/>
                </a:solidFill>
                <a:latin typeface="Calibri"/>
                <a:ea typeface="Calibri"/>
                <a:cs typeface="Calibri"/>
              </a:rPr>
            </a:br>
            <a:r>
              <a:rPr lang="en-US" sz="2800" b="1" i="0" u="none" strike="noStrike" cap="none">
                <a:solidFill>
                  <a:srgbClr val="FFFFFF"/>
                </a:solidFill>
                <a:latin typeface="Calibri"/>
                <a:ea typeface="Calibri"/>
                <a:cs typeface="Calibri"/>
              </a:rPr>
              <a:t> Extremism</a:t>
            </a:r>
            <a:endParaRPr sz="2800">
              <a:latin typeface="Calibri"/>
              <a:ea typeface="Calibri"/>
              <a:cs typeface="Calibri"/>
            </a:endParaRPr>
          </a:p>
        </p:txBody>
      </p:sp>
      <p:sp>
        <p:nvSpPr>
          <p:cNvPr id="1606854426" name="Rectangle: Rounded Corners 5"/>
          <p:cNvSpPr/>
          <p:nvPr/>
        </p:nvSpPr>
        <p:spPr bwMode="auto">
          <a:xfrm>
            <a:off x="441262" y="1465520"/>
            <a:ext cx="5273737" cy="2110263"/>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Geographic Concentration</a:t>
            </a:r>
            <a:endParaRPr/>
          </a:p>
          <a:p>
            <a:pPr>
              <a:defRPr/>
            </a:pPr>
            <a:r>
              <a:rPr lang="en-GB" sz="1600">
                <a:latin typeface="Calibri"/>
                <a:ea typeface="Calibri"/>
                <a:cs typeface="Calibri"/>
              </a:rPr>
              <a:t>The distribution of violence in 2024-2025 was highly asymmetric, concentrating heavily on the western border provinces of Khyber Pakhtunkhwa (KP) and Balochistan. These regions have effectively transformed into active conflict zones, distinct from the relative calm of the eastern provinces, although spillover is increasing.</a:t>
            </a:r>
            <a:endParaRPr lang="en-GB" sz="2000">
              <a:latin typeface="Calibri"/>
              <a:ea typeface="Calibri"/>
              <a:cs typeface="Calibri"/>
            </a:endParaRPr>
          </a:p>
        </p:txBody>
      </p:sp>
      <p:sp>
        <p:nvSpPr>
          <p:cNvPr id="524317843" name="Rectangle: Rounded Corners 2"/>
          <p:cNvSpPr/>
          <p:nvPr/>
        </p:nvSpPr>
        <p:spPr bwMode="auto">
          <a:xfrm>
            <a:off x="354456" y="-5462109"/>
            <a:ext cx="5273737" cy="5005148"/>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The TTP and IS-K: A Dual-Front War</a:t>
            </a:r>
            <a:endParaRPr lang="en-GB" sz="1800">
              <a:latin typeface="Calibri"/>
              <a:ea typeface="Calibri"/>
              <a:cs typeface="Calibri"/>
            </a:endParaRPr>
          </a:p>
          <a:p>
            <a:pPr algn="ctr">
              <a:defRPr/>
            </a:pPr>
            <a:r>
              <a:rPr lang="en-GB" sz="1600">
                <a:latin typeface="Calibri"/>
                <a:ea typeface="Calibri"/>
                <a:cs typeface="Calibri"/>
              </a:rPr>
              <a:t>Simultaneously, the Islamic State (IS), particularly its Khorasan chapter (IS-K), has expanded its footprint. In 2024, IS and its affiliates were responsible for 1,805 deaths across 22 countries, with Pakistan being a primary theatre of operation alongside Syria and the DRC. The interplay between the TTP and IS-K presents a complex threat matrix. While TTP focuses on the state and security forces—evidenced by the suicide bombing on a police mosque in Peshawar that killed 95 people, mostly police personnel —IS-K has targeted political and sectarian fault lines. The IS-K claimed responsibility for a suicide attack on a JUI-F political rally in Bajaur, killing over 50 people, and continues to target religious minorities. This division of labour—TTP attacking the "hard" state and IS-K attacking "soft" societal targets—creates a pincer movement that stretches the state's counter-terrorism capacity to its breaking point.</a:t>
            </a:r>
            <a:r>
              <a:rPr lang="en-GB" sz="2000">
                <a:latin typeface="Calibri"/>
                <a:ea typeface="Calibri"/>
                <a:cs typeface="Calibri"/>
              </a:rPr>
              <a:t> </a:t>
            </a:r>
            <a:endParaRPr/>
          </a:p>
        </p:txBody>
      </p:sp>
      <p:sp>
        <p:nvSpPr>
          <p:cNvPr id="498052911" name="Google Shape;102;p13"/>
          <p:cNvSpPr txBox="1"/>
          <p:nvPr/>
        </p:nvSpPr>
        <p:spPr bwMode="auto">
          <a:xfrm>
            <a:off x="732820" y="1181541"/>
            <a:ext cx="255270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100" b="1" i="0" u="none" strike="noStrike" cap="none">
                <a:solidFill>
                  <a:srgbClr val="DEFF9A"/>
                </a:solidFill>
                <a:latin typeface="Calibri"/>
                <a:ea typeface="Calibri"/>
                <a:cs typeface="Calibri"/>
              </a:rPr>
              <a:t>Muhammad Aliyan</a:t>
            </a:r>
            <a:endParaRPr/>
          </a:p>
        </p:txBody>
      </p:sp>
      <p:sp>
        <p:nvSpPr>
          <p:cNvPr id="1070475176" name="Rectangle: Rounded Corners 3"/>
          <p:cNvSpPr/>
          <p:nvPr/>
        </p:nvSpPr>
        <p:spPr bwMode="auto">
          <a:xfrm>
            <a:off x="386824" y="3635911"/>
            <a:ext cx="5273737" cy="2743201"/>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Khyber Pakhtunkhwa</a:t>
            </a:r>
            <a:endParaRPr/>
          </a:p>
          <a:p>
            <a:pPr>
              <a:defRPr/>
            </a:pPr>
            <a:r>
              <a:rPr lang="en-GB" sz="1600">
                <a:latin typeface="Calibri"/>
                <a:ea typeface="Calibri"/>
                <a:cs typeface="Calibri"/>
              </a:rPr>
              <a:t>The province experienced a 69% increase in terrorist incidents in 2024. The intensity of the conflict here is defined by direct engagements between militants and the military. In September 2023, TTP launched coordinated, large-scale attacks on military checkpoints in Chitral, a tactic that became more frequent throughout 2024. The sheer volume of attacks in early 2025—nearly 300 in a few months—indicates that parts of the province are contesting the state's effective control.</a:t>
            </a:r>
            <a:endParaRPr lang="en-GB" sz="2000">
              <a:latin typeface="Calibri"/>
              <a:ea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A0A0A"/>
        </a:solidFill>
      </p:bgPr>
    </p:bg>
    <p:spTree>
      <p:nvGrpSpPr>
        <p:cNvPr id="1" name=""/>
        <p:cNvGrpSpPr/>
        <p:nvPr/>
      </p:nvGrpSpPr>
      <p:grpSpPr bwMode="auto">
        <a:xfrm>
          <a:off x="0" y="0"/>
          <a:ext cx="0" cy="0"/>
          <a:chOff x="0" y="0"/>
          <a:chExt cx="0" cy="0"/>
        </a:xfrm>
      </p:grpSpPr>
      <p:pic>
        <p:nvPicPr>
          <p:cNvPr id="2143357851" name="Google Shape;96;p13" descr="image.png"/>
          <p:cNvPicPr/>
          <p:nvPr/>
        </p:nvPicPr>
        <p:blipFill rotWithShape="1">
          <a:blip r:embed="rId3">
            <a:alphaModFix/>
          </a:blip>
          <a:stretch/>
        </p:blipFill>
        <p:spPr bwMode="auto">
          <a:xfrm>
            <a:off x="6096000" y="1"/>
            <a:ext cx="6105526" cy="6712084"/>
          </a:xfrm>
          <a:prstGeom prst="rect">
            <a:avLst/>
          </a:prstGeom>
          <a:noFill/>
          <a:ln>
            <a:noFill/>
          </a:ln>
        </p:spPr>
      </p:pic>
      <p:sp>
        <p:nvSpPr>
          <p:cNvPr id="1261758630" name="Google Shape;103;p13"/>
          <p:cNvSpPr txBox="1"/>
          <p:nvPr/>
        </p:nvSpPr>
        <p:spPr bwMode="auto">
          <a:xfrm>
            <a:off x="648653" y="85684"/>
            <a:ext cx="4685347"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2800" b="1" i="0" u="none" strike="noStrike" cap="none">
                <a:solidFill>
                  <a:srgbClr val="FFFFFF"/>
                </a:solidFill>
                <a:latin typeface="Calibri"/>
                <a:ea typeface="Calibri"/>
                <a:cs typeface="Calibri"/>
              </a:rPr>
              <a:t>Terrorism &amp;</a:t>
            </a:r>
            <a:br>
              <a:rPr lang="en-US" sz="2800" b="0" i="0" u="none" strike="noStrike" cap="none">
                <a:solidFill>
                  <a:schemeClr val="dk1"/>
                </a:solidFill>
                <a:latin typeface="Calibri"/>
                <a:ea typeface="Calibri"/>
                <a:cs typeface="Calibri"/>
              </a:rPr>
            </a:br>
            <a:r>
              <a:rPr lang="en-US" sz="2800" b="1" i="0" u="none" strike="noStrike" cap="none">
                <a:solidFill>
                  <a:srgbClr val="FFFFFF"/>
                </a:solidFill>
                <a:latin typeface="Calibri"/>
                <a:ea typeface="Calibri"/>
                <a:cs typeface="Calibri"/>
              </a:rPr>
              <a:t> Extremism</a:t>
            </a:r>
            <a:endParaRPr sz="2800">
              <a:latin typeface="Calibri"/>
              <a:ea typeface="Calibri"/>
              <a:cs typeface="Calibri"/>
            </a:endParaRPr>
          </a:p>
        </p:txBody>
      </p:sp>
      <p:sp>
        <p:nvSpPr>
          <p:cNvPr id="938662696" name="Rectangle: Rounded Corners 3"/>
          <p:cNvSpPr/>
          <p:nvPr/>
        </p:nvSpPr>
        <p:spPr bwMode="auto">
          <a:xfrm>
            <a:off x="477260" y="1153362"/>
            <a:ext cx="5273737" cy="3251161"/>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sz="2000" b="1">
              <a:solidFill>
                <a:srgbClr val="DEFF9A"/>
              </a:solidFill>
              <a:latin typeface="Calibri"/>
              <a:ea typeface="Calibri"/>
              <a:cs typeface="Calibri"/>
            </a:endParaRPr>
          </a:p>
          <a:p>
            <a:pPr algn="ctr">
              <a:defRPr/>
            </a:pPr>
            <a:r>
              <a:rPr lang="en-GB" sz="2000" b="1">
                <a:solidFill>
                  <a:srgbClr val="DEFF9A"/>
                </a:solidFill>
                <a:latin typeface="Calibri"/>
                <a:ea typeface="Calibri"/>
                <a:cs typeface="Calibri"/>
              </a:rPr>
              <a:t>Balochistan</a:t>
            </a:r>
            <a:endParaRPr/>
          </a:p>
          <a:p>
            <a:pPr>
              <a:defRPr/>
            </a:pPr>
            <a:r>
              <a:rPr lang="en-GB" sz="1600">
                <a:latin typeface="Calibri"/>
                <a:ea typeface="Calibri"/>
                <a:cs typeface="Calibri"/>
              </a:rPr>
              <a:t>The security situation in Balochistan deteriorated even more sharply than in KP, registering an 84% upsurge in terrorist incidents in 2024. The violence here is driven by a convergence of the ethno-nationalist Baloch Liberation Army (BLA) and Islamist militancy. The province witnessed devastating attacks on civilian gatherings, such as the suicide bombing in Mastung during a religious which killed at least 60 people. This dual threat of separatist insurgency and religious extremism creates a volatile mix that hampers all development initiatives, including CPEC projects, in the region.   </a:t>
            </a:r>
            <a:endParaRPr/>
          </a:p>
          <a:p>
            <a:pPr algn="ctr">
              <a:defRPr/>
            </a:pPr>
            <a:endParaRPr lang="en-GB" sz="1600">
              <a:latin typeface="Calibri"/>
              <a:ea typeface="Calibri"/>
              <a:cs typeface="Calibri"/>
            </a:endParaRPr>
          </a:p>
        </p:txBody>
      </p:sp>
      <p:sp>
        <p:nvSpPr>
          <p:cNvPr id="1123863765" name="Google Shape;102;p13"/>
          <p:cNvSpPr txBox="1"/>
          <p:nvPr/>
        </p:nvSpPr>
        <p:spPr bwMode="auto">
          <a:xfrm>
            <a:off x="735455" y="925849"/>
            <a:ext cx="255270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100" b="1" i="0" u="none" strike="noStrike" cap="none">
                <a:solidFill>
                  <a:srgbClr val="DEFF9A"/>
                </a:solidFill>
                <a:latin typeface="Calibri"/>
                <a:ea typeface="Calibri"/>
                <a:cs typeface="Calibri"/>
              </a:rPr>
              <a:t>Muhammad Aliyan</a:t>
            </a:r>
            <a:endParaRPr/>
          </a:p>
        </p:txBody>
      </p:sp>
      <p:sp>
        <p:nvSpPr>
          <p:cNvPr id="595033272" name="Rectangle: Rounded Corners 4"/>
          <p:cNvSpPr/>
          <p:nvPr/>
        </p:nvSpPr>
        <p:spPr bwMode="auto">
          <a:xfrm>
            <a:off x="441258" y="4449407"/>
            <a:ext cx="5273737" cy="2249843"/>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Other Provinces</a:t>
            </a:r>
            <a:endParaRPr/>
          </a:p>
          <a:p>
            <a:pPr>
              <a:defRPr/>
            </a:pPr>
            <a:r>
              <a:rPr lang="en-GB" sz="1600">
                <a:latin typeface="Calibri"/>
                <a:ea typeface="Calibri"/>
                <a:cs typeface="Calibri"/>
              </a:rPr>
              <a:t>While KP and Balochistan bore the brunt, Punjab also experienced an 83% upsurge in terrorist violence in 2024, albeit from a much lower base. This "bleed effect" suggests that the containment ring around the border zones is porous, and sleeper cells retain the capability to strike in the heartland. Conversely, Sindh recorded a 20% decline in incidents, the only province to show improvement.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A0A0A"/>
        </a:solidFill>
      </p:bgPr>
    </p:bg>
    <p:spTree>
      <p:nvGrpSpPr>
        <p:cNvPr id="1" name=""/>
        <p:cNvGrpSpPr/>
        <p:nvPr/>
      </p:nvGrpSpPr>
      <p:grpSpPr bwMode="auto">
        <a:xfrm>
          <a:off x="0" y="0"/>
          <a:ext cx="0" cy="0"/>
          <a:chOff x="0" y="0"/>
          <a:chExt cx="0" cy="0"/>
        </a:xfrm>
      </p:grpSpPr>
      <p:pic>
        <p:nvPicPr>
          <p:cNvPr id="1683070437" name="Google Shape;97;p13" descr="image.png"/>
          <p:cNvPicPr/>
          <p:nvPr/>
        </p:nvPicPr>
        <p:blipFill rotWithShape="1">
          <a:blip r:embed="rId3">
            <a:alphaModFix/>
          </a:blip>
          <a:stretch/>
        </p:blipFill>
        <p:spPr bwMode="auto">
          <a:xfrm>
            <a:off x="6042988" y="150662"/>
            <a:ext cx="6108192" cy="6711696"/>
          </a:xfrm>
          <a:prstGeom prst="rect">
            <a:avLst/>
          </a:prstGeom>
          <a:noFill/>
          <a:ln>
            <a:noFill/>
          </a:ln>
        </p:spPr>
      </p:pic>
      <p:sp>
        <p:nvSpPr>
          <p:cNvPr id="1669649403" name="Google Shape;102;p13"/>
          <p:cNvSpPr txBox="1"/>
          <p:nvPr/>
        </p:nvSpPr>
        <p:spPr bwMode="auto">
          <a:xfrm>
            <a:off x="648652" y="954970"/>
            <a:ext cx="25527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050" b="1" i="0" u="none" strike="noStrike" cap="none">
                <a:solidFill>
                  <a:srgbClr val="DEFF9A"/>
                </a:solidFill>
                <a:latin typeface="Calibri"/>
                <a:ea typeface="Calibri"/>
                <a:cs typeface="Calibri"/>
              </a:rPr>
              <a:t>Abdul Mateen</a:t>
            </a:r>
            <a:endParaRPr>
              <a:latin typeface="Calibri"/>
              <a:ea typeface="Calibri"/>
              <a:cs typeface="Calibri"/>
            </a:endParaRPr>
          </a:p>
        </p:txBody>
      </p:sp>
      <p:sp>
        <p:nvSpPr>
          <p:cNvPr id="603405484" name="Google Shape;103;p13"/>
          <p:cNvSpPr txBox="1"/>
          <p:nvPr/>
        </p:nvSpPr>
        <p:spPr bwMode="auto">
          <a:xfrm>
            <a:off x="648652" y="414576"/>
            <a:ext cx="4685347"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2800" b="1" i="0" u="none" strike="noStrike" cap="none">
                <a:solidFill>
                  <a:srgbClr val="FFFFFF"/>
                </a:solidFill>
                <a:latin typeface="Calibri"/>
                <a:ea typeface="Calibri"/>
                <a:cs typeface="Calibri"/>
              </a:rPr>
              <a:t>The Hybrid Front</a:t>
            </a:r>
            <a:endParaRPr sz="2800">
              <a:latin typeface="Calibri"/>
              <a:ea typeface="Calibri"/>
              <a:cs typeface="Calibri"/>
            </a:endParaRPr>
          </a:p>
        </p:txBody>
      </p:sp>
      <p:sp>
        <p:nvSpPr>
          <p:cNvPr id="1156133117" name="Rectangle: Rounded Corners 3"/>
          <p:cNvSpPr/>
          <p:nvPr/>
        </p:nvSpPr>
        <p:spPr bwMode="auto">
          <a:xfrm>
            <a:off x="441261" y="1357521"/>
            <a:ext cx="5273737" cy="4467631"/>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The Cyber Siege</a:t>
            </a:r>
            <a:endParaRPr/>
          </a:p>
          <a:p>
            <a:pPr algn="ctr">
              <a:defRPr/>
            </a:pPr>
            <a:r>
              <a:rPr lang="en-GB" sz="1600">
                <a:latin typeface="Calibri"/>
                <a:ea typeface="Calibri"/>
                <a:cs typeface="Calibri"/>
              </a:rPr>
              <a:t>Hybrid warfare combines military and non-military strategies, information, cyberattacks, economy, and diplomacy to weaken an opponent without full-scale war. Pakistan faces these threats from both state and non-state actors.</a:t>
            </a:r>
            <a:endParaRPr/>
          </a:p>
          <a:p>
            <a:pPr algn="ctr">
              <a:defRPr/>
            </a:pPr>
            <a:r>
              <a:rPr lang="en-GB" sz="1600" b="1">
                <a:latin typeface="Calibri"/>
                <a:ea typeface="Calibri"/>
                <a:cs typeface="Calibri"/>
              </a:rPr>
              <a:t>Information &amp; Psychological Warfare</a:t>
            </a:r>
            <a:endParaRPr/>
          </a:p>
          <a:p>
            <a:pPr>
              <a:defRPr/>
            </a:pPr>
            <a:r>
              <a:rPr lang="en-GB" sz="1600">
                <a:latin typeface="Calibri"/>
                <a:ea typeface="Calibri"/>
                <a:cs typeface="Calibri"/>
              </a:rPr>
              <a:t>The information domain is used to damage national unity and international image. Tactics include:</a:t>
            </a:r>
            <a:endParaRPr/>
          </a:p>
          <a:p>
            <a:pPr>
              <a:defRPr/>
            </a:pPr>
            <a:r>
              <a:rPr lang="en-GB" sz="1600">
                <a:latin typeface="Calibri"/>
                <a:ea typeface="Calibri"/>
                <a:cs typeface="Calibri"/>
              </a:rPr>
              <a:t>•Spreading fake news on social media to create confusion.</a:t>
            </a:r>
            <a:endParaRPr/>
          </a:p>
          <a:p>
            <a:pPr>
              <a:defRPr/>
            </a:pPr>
            <a:r>
              <a:rPr lang="en-GB" sz="1600">
                <a:latin typeface="Calibri"/>
                <a:ea typeface="Calibri"/>
                <a:cs typeface="Calibri"/>
              </a:rPr>
              <a:t>•Propaganda campaigns targeting the Armed Forces and nuclear programs.</a:t>
            </a:r>
            <a:endParaRPr/>
          </a:p>
          <a:p>
            <a:pPr>
              <a:defRPr/>
            </a:pPr>
            <a:r>
              <a:rPr lang="en-GB" sz="1600">
                <a:latin typeface="Calibri"/>
                <a:ea typeface="Calibri"/>
                <a:cs typeface="Calibri"/>
              </a:rPr>
              <a:t>•Promoting sectarian and ethnic hatred to divide society.</a:t>
            </a:r>
            <a:endParaRPr/>
          </a:p>
          <a:p>
            <a:pPr>
              <a:defRPr/>
            </a:pPr>
            <a:r>
              <a:rPr lang="en-GB" sz="1600">
                <a:latin typeface="Calibri"/>
                <a:ea typeface="Calibri"/>
                <a:cs typeface="Calibri"/>
              </a:rPr>
              <a:t>This directly targets public perception, morale, and Pakistan’s global reputation.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A0A0A"/>
        </a:solidFill>
      </p:bgPr>
    </p:bg>
    <p:spTree>
      <p:nvGrpSpPr>
        <p:cNvPr id="1" name=""/>
        <p:cNvGrpSpPr/>
        <p:nvPr/>
      </p:nvGrpSpPr>
      <p:grpSpPr bwMode="auto">
        <a:xfrm>
          <a:off x="0" y="0"/>
          <a:ext cx="0" cy="0"/>
          <a:chOff x="0" y="0"/>
          <a:chExt cx="0" cy="0"/>
        </a:xfrm>
      </p:grpSpPr>
      <p:pic>
        <p:nvPicPr>
          <p:cNvPr id="136352861" name="Google Shape;97;p13" descr="image.png"/>
          <p:cNvPicPr/>
          <p:nvPr/>
        </p:nvPicPr>
        <p:blipFill rotWithShape="1">
          <a:blip r:embed="rId3">
            <a:alphaModFix/>
          </a:blip>
          <a:stretch/>
        </p:blipFill>
        <p:spPr bwMode="auto">
          <a:xfrm>
            <a:off x="6042988" y="150662"/>
            <a:ext cx="6108192" cy="6711696"/>
          </a:xfrm>
          <a:prstGeom prst="rect">
            <a:avLst/>
          </a:prstGeom>
          <a:noFill/>
          <a:ln>
            <a:noFill/>
          </a:ln>
        </p:spPr>
      </p:pic>
      <p:sp>
        <p:nvSpPr>
          <p:cNvPr id="939961154" name="Google Shape;102;p13"/>
          <p:cNvSpPr txBox="1"/>
          <p:nvPr/>
        </p:nvSpPr>
        <p:spPr bwMode="auto">
          <a:xfrm>
            <a:off x="648652" y="954970"/>
            <a:ext cx="25527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050" b="1" i="0" u="none" strike="noStrike" cap="none">
                <a:solidFill>
                  <a:srgbClr val="DEFF9A"/>
                </a:solidFill>
                <a:latin typeface="Calibri"/>
                <a:ea typeface="Calibri"/>
                <a:cs typeface="Calibri"/>
              </a:rPr>
              <a:t>Abdul Mateen</a:t>
            </a:r>
            <a:endParaRPr>
              <a:latin typeface="Calibri"/>
              <a:ea typeface="Calibri"/>
              <a:cs typeface="Calibri"/>
            </a:endParaRPr>
          </a:p>
        </p:txBody>
      </p:sp>
      <p:sp>
        <p:nvSpPr>
          <p:cNvPr id="327809906" name="Google Shape;103;p13"/>
          <p:cNvSpPr txBox="1"/>
          <p:nvPr/>
        </p:nvSpPr>
        <p:spPr bwMode="auto">
          <a:xfrm>
            <a:off x="648652" y="414576"/>
            <a:ext cx="4685347"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2800" b="1" i="0" u="none" strike="noStrike" cap="none">
                <a:solidFill>
                  <a:srgbClr val="FFFFFF"/>
                </a:solidFill>
                <a:latin typeface="Calibri"/>
                <a:ea typeface="Calibri"/>
                <a:cs typeface="Calibri"/>
              </a:rPr>
              <a:t>The Hybrid Front</a:t>
            </a:r>
            <a:endParaRPr sz="2800">
              <a:latin typeface="Calibri"/>
              <a:ea typeface="Calibri"/>
              <a:cs typeface="Calibri"/>
            </a:endParaRPr>
          </a:p>
        </p:txBody>
      </p:sp>
      <p:sp>
        <p:nvSpPr>
          <p:cNvPr id="1004341316" name="Rectangle: Rounded Corners 3"/>
          <p:cNvSpPr/>
          <p:nvPr/>
        </p:nvSpPr>
        <p:spPr bwMode="auto">
          <a:xfrm>
            <a:off x="441261" y="1357521"/>
            <a:ext cx="5273737" cy="1661904"/>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Cyber Warfare</a:t>
            </a:r>
            <a:endParaRPr/>
          </a:p>
          <a:p>
            <a:pPr>
              <a:defRPr/>
            </a:pPr>
            <a:r>
              <a:rPr lang="en-GB" sz="1600">
                <a:latin typeface="Calibri"/>
                <a:ea typeface="Calibri"/>
                <a:cs typeface="Calibri"/>
              </a:rPr>
              <a:t>•Targeting Pakistan’s financial stability by influencing global markets.</a:t>
            </a:r>
            <a:endParaRPr/>
          </a:p>
          <a:p>
            <a:pPr>
              <a:defRPr/>
            </a:pPr>
            <a:r>
              <a:rPr lang="en-GB" sz="1600">
                <a:latin typeface="Calibri"/>
                <a:ea typeface="Calibri"/>
                <a:cs typeface="Calibri"/>
              </a:rPr>
              <a:t>•Supporting anti-economic narratives to damage business confidence.</a:t>
            </a:r>
            <a:endParaRPr/>
          </a:p>
        </p:txBody>
      </p:sp>
      <p:sp>
        <p:nvSpPr>
          <p:cNvPr id="1552560440" name="Rectangle: Rounded Corners 2"/>
          <p:cNvSpPr/>
          <p:nvPr/>
        </p:nvSpPr>
        <p:spPr bwMode="auto">
          <a:xfrm>
            <a:off x="414756" y="3119035"/>
            <a:ext cx="5273737" cy="1661904"/>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Economic Warfare</a:t>
            </a:r>
            <a:endParaRPr/>
          </a:p>
          <a:p>
            <a:pPr>
              <a:defRPr/>
            </a:pPr>
            <a:r>
              <a:rPr lang="en-GB" sz="1600">
                <a:latin typeface="Calibri"/>
                <a:ea typeface="Calibri"/>
                <a:cs typeface="Calibri"/>
              </a:rPr>
              <a:t>•Targeting financial stability by influencing global markets.</a:t>
            </a:r>
            <a:endParaRPr/>
          </a:p>
          <a:p>
            <a:pPr>
              <a:defRPr/>
            </a:pPr>
            <a:r>
              <a:rPr lang="en-GB" sz="1600">
                <a:latin typeface="Calibri"/>
                <a:ea typeface="Calibri"/>
                <a:cs typeface="Calibri"/>
              </a:rPr>
              <a:t>•Using advanced surveillance to monitor and slow down Pakistan’s technological growth.</a:t>
            </a:r>
            <a:endParaRPr/>
          </a:p>
        </p:txBody>
      </p:sp>
      <p:sp>
        <p:nvSpPr>
          <p:cNvPr id="2029930256" name="Rectangle: Rounded Corners 4"/>
          <p:cNvSpPr/>
          <p:nvPr/>
        </p:nvSpPr>
        <p:spPr bwMode="auto">
          <a:xfrm>
            <a:off x="441261" y="4955478"/>
            <a:ext cx="5273737" cy="1661904"/>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Tech Warfare</a:t>
            </a:r>
            <a:endParaRPr/>
          </a:p>
          <a:p>
            <a:pPr>
              <a:defRPr/>
            </a:pPr>
            <a:r>
              <a:rPr lang="en-GB" sz="1600">
                <a:latin typeface="Calibri"/>
                <a:ea typeface="Calibri"/>
                <a:cs typeface="Calibri"/>
              </a:rPr>
              <a:t>•Use of advanced surveillance to monitor Pakistan.</a:t>
            </a:r>
            <a:endParaRPr/>
          </a:p>
          <a:p>
            <a:pPr>
              <a:defRPr/>
            </a:pPr>
            <a:r>
              <a:rPr lang="en-GB" sz="1600">
                <a:latin typeface="Calibri"/>
                <a:ea typeface="Calibri"/>
                <a:cs typeface="Calibri"/>
              </a:rPr>
              <a:t>•Attempts to slow down Pakistan’s technological growth.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A0A0A"/>
        </a:solidFill>
      </p:bgPr>
    </p:bg>
    <p:spTree>
      <p:nvGrpSpPr>
        <p:cNvPr id="1" name=""/>
        <p:cNvGrpSpPr/>
        <p:nvPr/>
      </p:nvGrpSpPr>
      <p:grpSpPr bwMode="auto">
        <a:xfrm>
          <a:off x="0" y="0"/>
          <a:ext cx="0" cy="0"/>
          <a:chOff x="0" y="0"/>
          <a:chExt cx="0" cy="0"/>
        </a:xfrm>
      </p:grpSpPr>
      <p:pic>
        <p:nvPicPr>
          <p:cNvPr id="936999002" name="Google Shape;97;p13" descr="image.png"/>
          <p:cNvPicPr/>
          <p:nvPr/>
        </p:nvPicPr>
        <p:blipFill rotWithShape="1">
          <a:blip r:embed="rId3">
            <a:alphaModFix/>
          </a:blip>
          <a:stretch/>
        </p:blipFill>
        <p:spPr bwMode="auto">
          <a:xfrm>
            <a:off x="6042988" y="150662"/>
            <a:ext cx="6108192" cy="6711696"/>
          </a:xfrm>
          <a:prstGeom prst="rect">
            <a:avLst/>
          </a:prstGeom>
          <a:noFill/>
          <a:ln>
            <a:noFill/>
          </a:ln>
        </p:spPr>
      </p:pic>
      <p:pic>
        <p:nvPicPr>
          <p:cNvPr id="62610912" name="Google Shape;98;p13" descr="image.png"/>
          <p:cNvPicPr/>
          <p:nvPr/>
        </p:nvPicPr>
        <p:blipFill rotWithShape="1">
          <a:blip r:embed="rId4">
            <a:alphaModFix/>
          </a:blip>
          <a:stretch/>
        </p:blipFill>
        <p:spPr bwMode="auto">
          <a:xfrm>
            <a:off x="5334000" y="6943320"/>
            <a:ext cx="3028950" cy="2743200"/>
          </a:xfrm>
          <a:prstGeom prst="rect">
            <a:avLst/>
          </a:prstGeom>
          <a:noFill/>
          <a:ln>
            <a:noFill/>
          </a:ln>
        </p:spPr>
      </p:pic>
      <p:sp>
        <p:nvSpPr>
          <p:cNvPr id="861458210" name="Google Shape;102;p13"/>
          <p:cNvSpPr txBox="1"/>
          <p:nvPr/>
        </p:nvSpPr>
        <p:spPr bwMode="auto">
          <a:xfrm>
            <a:off x="648652" y="954970"/>
            <a:ext cx="25527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050" b="1" i="0" u="none" strike="noStrike" cap="none">
                <a:solidFill>
                  <a:srgbClr val="DEFF9A"/>
                </a:solidFill>
                <a:latin typeface="Calibri"/>
                <a:ea typeface="Calibri"/>
                <a:cs typeface="Calibri"/>
              </a:rPr>
              <a:t>Abdul Mateen</a:t>
            </a:r>
            <a:endParaRPr>
              <a:latin typeface="Calibri"/>
              <a:ea typeface="Calibri"/>
              <a:cs typeface="Calibri"/>
            </a:endParaRPr>
          </a:p>
        </p:txBody>
      </p:sp>
      <p:sp>
        <p:nvSpPr>
          <p:cNvPr id="2026038417" name="Google Shape;103;p13"/>
          <p:cNvSpPr txBox="1"/>
          <p:nvPr/>
        </p:nvSpPr>
        <p:spPr bwMode="auto">
          <a:xfrm>
            <a:off x="648652" y="414576"/>
            <a:ext cx="4685347"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2800" b="1" i="0" u="none" strike="noStrike" cap="none">
                <a:solidFill>
                  <a:srgbClr val="FFFFFF"/>
                </a:solidFill>
                <a:latin typeface="Calibri"/>
                <a:ea typeface="Calibri"/>
                <a:cs typeface="Calibri"/>
              </a:rPr>
              <a:t>The Hybrid Front</a:t>
            </a:r>
            <a:endParaRPr sz="2800">
              <a:latin typeface="Calibri"/>
              <a:ea typeface="Calibri"/>
              <a:cs typeface="Calibri"/>
            </a:endParaRPr>
          </a:p>
        </p:txBody>
      </p:sp>
      <p:sp>
        <p:nvSpPr>
          <p:cNvPr id="1208889505" name="Google Shape;106;p13"/>
          <p:cNvSpPr txBox="1"/>
          <p:nvPr/>
        </p:nvSpPr>
        <p:spPr bwMode="auto">
          <a:xfrm>
            <a:off x="5572125" y="8686395"/>
            <a:ext cx="25527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050" b="1" i="0" u="none" strike="noStrike" cap="none">
                <a:solidFill>
                  <a:srgbClr val="DEFF9A"/>
                </a:solidFill>
                <a:latin typeface="Calibri"/>
                <a:ea typeface="Calibri"/>
                <a:cs typeface="Calibri"/>
              </a:rPr>
              <a:t>MEMBER 03</a:t>
            </a:r>
            <a:endParaRPr>
              <a:latin typeface="Calibri"/>
              <a:ea typeface="Calibri"/>
              <a:cs typeface="Calibri"/>
            </a:endParaRPr>
          </a:p>
        </p:txBody>
      </p:sp>
      <p:sp>
        <p:nvSpPr>
          <p:cNvPr id="1034884706" name="Google Shape;107;p13"/>
          <p:cNvSpPr txBox="1"/>
          <p:nvPr/>
        </p:nvSpPr>
        <p:spPr bwMode="auto">
          <a:xfrm>
            <a:off x="5572125" y="8848320"/>
            <a:ext cx="2552700" cy="552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800" b="1" i="0" u="none" strike="noStrike" cap="none">
                <a:solidFill>
                  <a:srgbClr val="FFFFFF"/>
                </a:solidFill>
                <a:latin typeface="Calibri"/>
                <a:ea typeface="Calibri"/>
                <a:cs typeface="Calibri"/>
              </a:rPr>
              <a:t>Climate</a:t>
            </a:r>
            <a:br>
              <a:rPr lang="en-US" sz="1800" b="0" i="0" u="none" strike="noStrike" cap="none">
                <a:solidFill>
                  <a:schemeClr val="dk1"/>
                </a:solidFill>
                <a:latin typeface="Calibri"/>
                <a:ea typeface="Calibri"/>
                <a:cs typeface="Calibri"/>
              </a:rPr>
            </a:br>
            <a:r>
              <a:rPr lang="en-US" sz="1800" b="1" i="0" u="none" strike="noStrike" cap="none">
                <a:solidFill>
                  <a:srgbClr val="FFFFFF"/>
                </a:solidFill>
                <a:latin typeface="Calibri"/>
                <a:ea typeface="Calibri"/>
                <a:cs typeface="Calibri"/>
              </a:rPr>
              <a:t> Change</a:t>
            </a:r>
            <a:endParaRPr>
              <a:latin typeface="Calibri"/>
              <a:ea typeface="Calibri"/>
              <a:cs typeface="Calibri"/>
            </a:endParaRPr>
          </a:p>
        </p:txBody>
      </p:sp>
      <p:sp>
        <p:nvSpPr>
          <p:cNvPr id="968347897" name="Rectangle: Rounded Corners 3"/>
          <p:cNvSpPr/>
          <p:nvPr/>
        </p:nvSpPr>
        <p:spPr bwMode="auto">
          <a:xfrm>
            <a:off x="441261" y="1357521"/>
            <a:ext cx="5273737" cy="4804775"/>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Strategic Solutions</a:t>
            </a:r>
            <a:endParaRPr/>
          </a:p>
          <a:p>
            <a:pPr>
              <a:defRPr/>
            </a:pPr>
            <a:r>
              <a:rPr lang="en-GB" sz="1600">
                <a:latin typeface="Calibri"/>
                <a:ea typeface="Calibri"/>
                <a:cs typeface="Calibri"/>
              </a:rPr>
              <a:t>•</a:t>
            </a:r>
            <a:r>
              <a:rPr lang="en-GB" sz="1600" b="1">
                <a:latin typeface="Calibri"/>
                <a:ea typeface="Calibri"/>
                <a:cs typeface="Calibri"/>
              </a:rPr>
              <a:t>Strengthen Information Defence</a:t>
            </a:r>
            <a:endParaRPr/>
          </a:p>
          <a:p>
            <a:pPr>
              <a:defRPr/>
            </a:pPr>
            <a:r>
              <a:rPr lang="en-GB" sz="1600">
                <a:latin typeface="Calibri"/>
                <a:ea typeface="Calibri"/>
                <a:cs typeface="Calibri"/>
              </a:rPr>
              <a:t>Create a national digital media monitoring system and penalize deliberate misinformation.</a:t>
            </a:r>
            <a:endParaRPr/>
          </a:p>
          <a:p>
            <a:pPr>
              <a:defRPr/>
            </a:pPr>
            <a:r>
              <a:rPr lang="en-GB" sz="1600">
                <a:latin typeface="Calibri"/>
                <a:ea typeface="Calibri"/>
                <a:cs typeface="Calibri"/>
              </a:rPr>
              <a:t>•</a:t>
            </a:r>
            <a:r>
              <a:rPr lang="en-GB" sz="1600" b="1">
                <a:latin typeface="Calibri"/>
                <a:ea typeface="Calibri"/>
                <a:cs typeface="Calibri"/>
              </a:rPr>
              <a:t>Improve Cybersecurity</a:t>
            </a:r>
            <a:endParaRPr/>
          </a:p>
          <a:p>
            <a:pPr>
              <a:defRPr/>
            </a:pPr>
            <a:r>
              <a:rPr lang="en-GB" sz="1600">
                <a:latin typeface="Calibri"/>
                <a:ea typeface="Calibri"/>
                <a:cs typeface="Calibri"/>
              </a:rPr>
              <a:t>Establish a National Cyber Command and upgrade infrastructure.</a:t>
            </a:r>
            <a:endParaRPr/>
          </a:p>
          <a:p>
            <a:pPr>
              <a:defRPr/>
            </a:pPr>
            <a:r>
              <a:rPr lang="en-GB" sz="1600">
                <a:latin typeface="Calibri"/>
                <a:ea typeface="Calibri"/>
                <a:cs typeface="Calibri"/>
              </a:rPr>
              <a:t>•</a:t>
            </a:r>
            <a:r>
              <a:rPr lang="en-GB" sz="1600" b="1">
                <a:latin typeface="Calibri"/>
                <a:ea typeface="Calibri"/>
                <a:cs typeface="Calibri"/>
              </a:rPr>
              <a:t>Internal Stability</a:t>
            </a:r>
            <a:endParaRPr/>
          </a:p>
          <a:p>
            <a:pPr>
              <a:defRPr/>
            </a:pPr>
            <a:r>
              <a:rPr lang="en-GB" sz="1600">
                <a:latin typeface="Calibri"/>
                <a:ea typeface="Calibri"/>
                <a:cs typeface="Calibri"/>
              </a:rPr>
              <a:t>Improve development in Balochistan and KP to reduce grievances.</a:t>
            </a:r>
            <a:endParaRPr/>
          </a:p>
          <a:p>
            <a:pPr>
              <a:defRPr/>
            </a:pPr>
            <a:r>
              <a:rPr lang="en-GB" sz="1600">
                <a:latin typeface="Calibri"/>
                <a:ea typeface="Calibri"/>
                <a:cs typeface="Calibri"/>
              </a:rPr>
              <a:t>•</a:t>
            </a:r>
            <a:r>
              <a:rPr lang="en-GB" sz="1600" b="1">
                <a:latin typeface="Calibri"/>
                <a:ea typeface="Calibri"/>
                <a:cs typeface="Calibri"/>
              </a:rPr>
              <a:t>Economic Resilience</a:t>
            </a:r>
            <a:endParaRPr/>
          </a:p>
          <a:p>
            <a:pPr>
              <a:defRPr/>
            </a:pPr>
            <a:r>
              <a:rPr lang="en-GB" sz="1600">
                <a:latin typeface="Calibri"/>
                <a:ea typeface="Calibri"/>
                <a:cs typeface="Calibri"/>
              </a:rPr>
              <a:t>Expand CPEC and promote exports to reduce vulnerability.</a:t>
            </a:r>
            <a:endParaRPr/>
          </a:p>
          <a:p>
            <a:pPr>
              <a:defRPr/>
            </a:pPr>
            <a:r>
              <a:rPr lang="en-GB" sz="1600">
                <a:latin typeface="Calibri"/>
                <a:ea typeface="Calibri"/>
                <a:cs typeface="Calibri"/>
              </a:rPr>
              <a:t>•</a:t>
            </a:r>
            <a:r>
              <a:rPr lang="en-GB" sz="1600" b="1">
                <a:latin typeface="Calibri"/>
                <a:ea typeface="Calibri"/>
                <a:cs typeface="Calibri"/>
              </a:rPr>
              <a:t>Improve National Awareness</a:t>
            </a:r>
            <a:endParaRPr/>
          </a:p>
          <a:p>
            <a:pPr>
              <a:defRPr/>
            </a:pPr>
            <a:r>
              <a:rPr lang="en-GB" sz="1600">
                <a:latin typeface="Calibri"/>
                <a:ea typeface="Calibri"/>
                <a:cs typeface="Calibri"/>
              </a:rPr>
              <a:t>Conduct public awareness campaigns on media literacy. Train government officials, journalists, and students in national security awareness</a:t>
            </a:r>
            <a:endParaRPr/>
          </a:p>
        </p:txBody>
      </p:sp>
      <p:sp>
        <p:nvSpPr>
          <p:cNvPr id="1438823350" name="Rectangle: Rounded Corners 1"/>
          <p:cNvSpPr/>
          <p:nvPr/>
        </p:nvSpPr>
        <p:spPr bwMode="auto">
          <a:xfrm>
            <a:off x="298388" y="-3784602"/>
            <a:ext cx="5273737" cy="3687119"/>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Geographic Concentration</a:t>
            </a:r>
            <a:endParaRPr/>
          </a:p>
          <a:p>
            <a:pPr algn="ctr">
              <a:defRPr/>
            </a:pPr>
            <a:r>
              <a:rPr lang="en-GB" sz="1600">
                <a:latin typeface="Calibri"/>
                <a:ea typeface="Calibri"/>
                <a:cs typeface="Calibri"/>
              </a:rPr>
              <a:t>While KP and Balochistan bore the brunt, Punjab also experienced an 83% upsurge in terrorist violence in 2024, albeit from a much lower base. This "bleed effect" suggests that the containment ring around the border zones is porous, and sleeper cells retain the capability to strike in the heartland. Conversely, Sindh recorded a 20% decline in incidents, the only province to show improvement.</a:t>
            </a:r>
            <a:endParaRPr/>
          </a:p>
        </p:txBody>
      </p:sp>
      <p:sp>
        <p:nvSpPr>
          <p:cNvPr id="1055241690" name="Rectangle: Rounded Corners 6"/>
          <p:cNvSpPr/>
          <p:nvPr/>
        </p:nvSpPr>
        <p:spPr bwMode="auto">
          <a:xfrm>
            <a:off x="564483" y="7105243"/>
            <a:ext cx="5273737" cy="4467631"/>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The Cyber Siege</a:t>
            </a:r>
            <a:endParaRPr/>
          </a:p>
          <a:p>
            <a:pPr algn="ctr">
              <a:defRPr/>
            </a:pPr>
            <a:r>
              <a:rPr lang="en-GB" sz="1600">
                <a:latin typeface="Calibri"/>
                <a:ea typeface="Calibri"/>
                <a:cs typeface="Calibri"/>
              </a:rPr>
              <a:t>In the first three quarters of 2025 alone, over 5.3 million on-device attacks were detected in Pakistan. The scope of these attacks was broad, affecting 27% of all individual users and 24% of corporate entities. The vectors included physical compromise through infected USB drives, CDs, and DVDs, delivering payloads such as ransomware, worms, backdoors, and spyware. Web-based attacks were even more prevalent, with 2.5 million incidents blocked by cybersecurity firms in the same period.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A0A0A"/>
        </a:solidFill>
      </p:bgPr>
    </p:bg>
    <p:spTree>
      <p:nvGrpSpPr>
        <p:cNvPr id="1" name=""/>
        <p:cNvGrpSpPr/>
        <p:nvPr/>
      </p:nvGrpSpPr>
      <p:grpSpPr bwMode="auto">
        <a:xfrm>
          <a:off x="0" y="0"/>
          <a:ext cx="0" cy="0"/>
          <a:chOff x="0" y="0"/>
          <a:chExt cx="0" cy="0"/>
        </a:xfrm>
      </p:grpSpPr>
      <p:pic>
        <p:nvPicPr>
          <p:cNvPr id="618074066" name="Google Shape;159;p17" descr="image.png"/>
          <p:cNvPicPr/>
          <p:nvPr/>
        </p:nvPicPr>
        <p:blipFill rotWithShape="1">
          <a:blip r:embed="rId3">
            <a:alphaModFix/>
          </a:blip>
          <a:stretch/>
        </p:blipFill>
        <p:spPr bwMode="auto">
          <a:xfrm>
            <a:off x="0" y="0"/>
            <a:ext cx="12192000" cy="6858000"/>
          </a:xfrm>
          <a:prstGeom prst="rect">
            <a:avLst/>
          </a:prstGeom>
          <a:noFill/>
          <a:ln>
            <a:noFill/>
          </a:ln>
        </p:spPr>
      </p:pic>
      <p:pic>
        <p:nvPicPr>
          <p:cNvPr id="818928198" name="Google Shape;161;p17" descr="image.png"/>
          <p:cNvPicPr/>
          <p:nvPr/>
        </p:nvPicPr>
        <p:blipFill rotWithShape="1">
          <a:blip r:embed="rId4">
            <a:alphaModFix amt="50000"/>
          </a:blip>
          <a:stretch/>
        </p:blipFill>
        <p:spPr bwMode="auto">
          <a:xfrm>
            <a:off x="-12192" y="0"/>
            <a:ext cx="6108192" cy="6858000"/>
          </a:xfrm>
          <a:prstGeom prst="rect">
            <a:avLst/>
          </a:prstGeom>
          <a:noFill/>
          <a:ln>
            <a:noFill/>
          </a:ln>
        </p:spPr>
      </p:pic>
      <p:sp>
        <p:nvSpPr>
          <p:cNvPr id="154474177" name="Google Shape;103;p13"/>
          <p:cNvSpPr txBox="1"/>
          <p:nvPr/>
        </p:nvSpPr>
        <p:spPr bwMode="auto">
          <a:xfrm>
            <a:off x="6381750" y="408921"/>
            <a:ext cx="5066346"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GB" sz="2800" b="1" i="0" u="none" strike="noStrike" cap="none">
                <a:solidFill>
                  <a:srgbClr val="FFFFFF"/>
                </a:solidFill>
                <a:latin typeface="Calibri"/>
                <a:ea typeface="Calibri"/>
                <a:cs typeface="Calibri"/>
              </a:rPr>
              <a:t>Climate Change in Pakistan: A Nation on the Frontline</a:t>
            </a:r>
            <a:endParaRPr sz="2800">
              <a:latin typeface="Calibri"/>
              <a:ea typeface="Calibri"/>
              <a:cs typeface="Calibri"/>
            </a:endParaRPr>
          </a:p>
        </p:txBody>
      </p:sp>
      <p:sp>
        <p:nvSpPr>
          <p:cNvPr id="1710731267" name="Google Shape;102;p13"/>
          <p:cNvSpPr txBox="1"/>
          <p:nvPr/>
        </p:nvSpPr>
        <p:spPr bwMode="auto">
          <a:xfrm>
            <a:off x="6381750" y="1529001"/>
            <a:ext cx="255270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100" b="1" i="0" u="none" strike="noStrike" cap="none">
                <a:solidFill>
                  <a:srgbClr val="DEFF9A"/>
                </a:solidFill>
                <a:latin typeface="Calibri"/>
                <a:ea typeface="Calibri"/>
                <a:cs typeface="Calibri"/>
              </a:rPr>
              <a:t>Arooba Naeem</a:t>
            </a:r>
            <a:endParaRPr/>
          </a:p>
        </p:txBody>
      </p:sp>
      <p:sp>
        <p:nvSpPr>
          <p:cNvPr id="2016362231" name="Rectangle: Rounded Corners 4"/>
          <p:cNvSpPr/>
          <p:nvPr/>
        </p:nvSpPr>
        <p:spPr bwMode="auto">
          <a:xfrm>
            <a:off x="6381750" y="1813886"/>
            <a:ext cx="5668010" cy="3687119"/>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How Climate Change is Affecting Pakistan</a:t>
            </a:r>
            <a:endParaRPr/>
          </a:p>
          <a:p>
            <a:pPr>
              <a:defRPr/>
            </a:pPr>
            <a:r>
              <a:rPr lang="en-GB" sz="1600">
                <a:latin typeface="Calibri"/>
                <a:ea typeface="Calibri"/>
                <a:cs typeface="Calibri"/>
              </a:rPr>
              <a:t>Pakistan, despite contributing less than 1% to global greenhouse gas emissions, is one of the country's most vulnerable to the impacts of climate change. Its geography, heavy reliance on agriculture and water from glacial systems, and socioeconomic challenges make it highly susceptible to climate shifts, transforming it into a case study of climate.</a:t>
            </a:r>
            <a:endParaRPr/>
          </a:p>
          <a:p>
            <a:pPr>
              <a:defRPr/>
            </a:pPr>
            <a:r>
              <a:rPr lang="en-GB" sz="1600">
                <a:latin typeface="Calibri"/>
                <a:ea typeface="Calibri"/>
                <a:cs typeface="Calibri"/>
              </a:rPr>
              <a:t>The effects of Climate Change in Pakistan are no longer a future threat; they are a present and intensifying reality. Climate change is already a clear and dangerous reality in Pakistan, seen through five main disasters:</a:t>
            </a:r>
            <a:endParaRPr/>
          </a:p>
        </p:txBody>
      </p:sp>
      <p:sp>
        <p:nvSpPr>
          <p:cNvPr id="1095321440" name="Rectangle: Rounded Corners 7"/>
          <p:cNvSpPr/>
          <p:nvPr/>
        </p:nvSpPr>
        <p:spPr bwMode="auto">
          <a:xfrm>
            <a:off x="12323318" y="1943100"/>
            <a:ext cx="5668010" cy="4990445"/>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A. Melting Glaciers and Water Scarcity</a:t>
            </a:r>
            <a:endParaRPr/>
          </a:p>
          <a:p>
            <a:pPr algn="ctr">
              <a:defRPr/>
            </a:pPr>
            <a:r>
              <a:rPr lang="en-GB" sz="1600" b="1">
                <a:latin typeface="Calibri"/>
                <a:ea typeface="Calibri"/>
                <a:cs typeface="Calibri"/>
              </a:rPr>
              <a:t>The Indus River System:</a:t>
            </a:r>
            <a:endParaRPr/>
          </a:p>
          <a:p>
            <a:pPr algn="ctr">
              <a:defRPr/>
            </a:pPr>
            <a:r>
              <a:rPr lang="en-GB" sz="1600">
                <a:latin typeface="Calibri"/>
                <a:ea typeface="Calibri"/>
                <a:cs typeface="Calibri"/>
              </a:rPr>
              <a:t>The Indus River System is a network of rivers, primarily fed by the glaciers in the Hindu Kush, Karakoram, and Himalayan ranges, that forms the hydrological backbone of Pakistan. It is essential for the country’s water supply, agriculture, economy, and food security.</a:t>
            </a:r>
            <a:endParaRPr/>
          </a:p>
          <a:p>
            <a:pPr algn="ctr">
              <a:defRPr/>
            </a:pPr>
            <a:r>
              <a:rPr lang="en-GB" sz="1600" b="1">
                <a:latin typeface="Calibri"/>
                <a:ea typeface="Calibri"/>
                <a:cs typeface="Calibri"/>
              </a:rPr>
              <a:t>Accelerated Melting:</a:t>
            </a:r>
            <a:endParaRPr/>
          </a:p>
          <a:p>
            <a:pPr algn="ctr">
              <a:defRPr/>
            </a:pPr>
            <a:r>
              <a:rPr lang="en-GB" sz="1600">
                <a:latin typeface="Calibri"/>
                <a:ea typeface="Calibri"/>
                <a:cs typeface="Calibri"/>
              </a:rPr>
              <a:t>Rising temperatures are causing these glaciers to melt at a much faster rate than the normal rate. This accelerated melting creates a two-stage crisis:</a:t>
            </a:r>
            <a:endParaRPr/>
          </a:p>
          <a:p>
            <a:pPr algn="ctr">
              <a:defRPr/>
            </a:pPr>
            <a:r>
              <a:rPr lang="en-GB" sz="1600" b="1">
                <a:latin typeface="Calibri"/>
                <a:ea typeface="Calibri"/>
                <a:cs typeface="Calibri"/>
              </a:rPr>
              <a:t>Short-Term Impact: </a:t>
            </a:r>
            <a:r>
              <a:rPr lang="en-GB" sz="1600">
                <a:latin typeface="Calibri"/>
                <a:ea typeface="Calibri"/>
                <a:cs typeface="Calibri"/>
              </a:rPr>
              <a:t>Too much Water (Floods) The massive amount of meltwater, combined with heavy monsoon rains, overwhelms rivers, causing devastating floods (like those recently and in 2022).</a:t>
            </a:r>
            <a:endParaRPr/>
          </a:p>
          <a:p>
            <a:pPr algn="ctr">
              <a:defRPr/>
            </a:pPr>
            <a:r>
              <a:rPr lang="en-GB" sz="1600" b="1">
                <a:latin typeface="Calibri"/>
                <a:ea typeface="Calibri"/>
                <a:cs typeface="Calibri"/>
              </a:rPr>
              <a:t>Long-Term Impact: </a:t>
            </a:r>
            <a:r>
              <a:rPr lang="en-GB" sz="1600">
                <a:latin typeface="Calibri"/>
                <a:ea typeface="Calibri"/>
                <a:cs typeface="Calibri"/>
              </a:rPr>
              <a:t>Too Little Water (Scarcity) Glaciers act as “natural water towers” that store water in winter and release in summer. As they shrink and disappear, this steady water supply vanishes. This leads to a permanent water shortage for rivers like Indus.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A0A0A"/>
        </a:solidFill>
      </p:bgPr>
    </p:bg>
    <p:spTree>
      <p:nvGrpSpPr>
        <p:cNvPr id="1" name=""/>
        <p:cNvGrpSpPr/>
        <p:nvPr/>
      </p:nvGrpSpPr>
      <p:grpSpPr bwMode="auto">
        <a:xfrm>
          <a:off x="0" y="0"/>
          <a:ext cx="0" cy="0"/>
          <a:chOff x="0" y="0"/>
          <a:chExt cx="0" cy="0"/>
        </a:xfrm>
      </p:grpSpPr>
      <p:pic>
        <p:nvPicPr>
          <p:cNvPr id="379288343" name="Google Shape;159;p17" descr="image.png"/>
          <p:cNvPicPr/>
          <p:nvPr/>
        </p:nvPicPr>
        <p:blipFill rotWithShape="1">
          <a:blip r:embed="rId3">
            <a:alphaModFix/>
          </a:blip>
          <a:stretch/>
        </p:blipFill>
        <p:spPr bwMode="auto">
          <a:xfrm>
            <a:off x="0" y="0"/>
            <a:ext cx="12192000" cy="6858000"/>
          </a:xfrm>
          <a:prstGeom prst="rect">
            <a:avLst/>
          </a:prstGeom>
          <a:noFill/>
          <a:ln>
            <a:noFill/>
          </a:ln>
        </p:spPr>
      </p:pic>
      <p:pic>
        <p:nvPicPr>
          <p:cNvPr id="1205787416" name="Google Shape;161;p17" descr="image.png"/>
          <p:cNvPicPr/>
          <p:nvPr/>
        </p:nvPicPr>
        <p:blipFill rotWithShape="1">
          <a:blip r:embed="rId4">
            <a:alphaModFix amt="50000"/>
          </a:blip>
          <a:stretch/>
        </p:blipFill>
        <p:spPr bwMode="auto">
          <a:xfrm>
            <a:off x="0" y="0"/>
            <a:ext cx="6108192" cy="6858000"/>
          </a:xfrm>
          <a:prstGeom prst="rect">
            <a:avLst/>
          </a:prstGeom>
          <a:noFill/>
          <a:ln>
            <a:noFill/>
          </a:ln>
        </p:spPr>
      </p:pic>
      <p:sp>
        <p:nvSpPr>
          <p:cNvPr id="1462983651" name="Google Shape;103;p13"/>
          <p:cNvSpPr txBox="1"/>
          <p:nvPr/>
        </p:nvSpPr>
        <p:spPr bwMode="auto">
          <a:xfrm>
            <a:off x="6381750" y="408921"/>
            <a:ext cx="5066346"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GB" sz="2800" b="1" i="0" u="none" strike="noStrike" cap="none">
                <a:solidFill>
                  <a:srgbClr val="FFFFFF"/>
                </a:solidFill>
                <a:latin typeface="Calibri"/>
                <a:ea typeface="Calibri"/>
                <a:cs typeface="Calibri"/>
              </a:rPr>
              <a:t>Climate Change in Pakistan: A Nation on the Frontline</a:t>
            </a:r>
            <a:endParaRPr sz="2800">
              <a:latin typeface="Calibri"/>
              <a:ea typeface="Calibri"/>
              <a:cs typeface="Calibri"/>
            </a:endParaRPr>
          </a:p>
        </p:txBody>
      </p:sp>
      <p:sp>
        <p:nvSpPr>
          <p:cNvPr id="446564560" name="Google Shape;102;p13"/>
          <p:cNvSpPr txBox="1"/>
          <p:nvPr/>
        </p:nvSpPr>
        <p:spPr bwMode="auto">
          <a:xfrm>
            <a:off x="6381750" y="1270695"/>
            <a:ext cx="255270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100" b="1" i="0" u="none" strike="noStrike" cap="none">
                <a:solidFill>
                  <a:srgbClr val="DEFF9A"/>
                </a:solidFill>
                <a:latin typeface="Calibri"/>
                <a:ea typeface="Calibri"/>
                <a:cs typeface="Calibri"/>
              </a:rPr>
              <a:t>Arooba Naeem</a:t>
            </a:r>
            <a:endParaRPr/>
          </a:p>
        </p:txBody>
      </p:sp>
      <p:sp>
        <p:nvSpPr>
          <p:cNvPr id="475496926" name="Rectangle: Rounded Corners 4"/>
          <p:cNvSpPr/>
          <p:nvPr/>
        </p:nvSpPr>
        <p:spPr bwMode="auto">
          <a:xfrm>
            <a:off x="6381750" y="1500158"/>
            <a:ext cx="5668010" cy="1832322"/>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A. Melting Glaciers and Water Scarcity</a:t>
            </a:r>
            <a:endParaRPr/>
          </a:p>
          <a:p>
            <a:pPr algn="ctr">
              <a:defRPr/>
            </a:pPr>
            <a:r>
              <a:rPr lang="en-GB" sz="1600" b="1">
                <a:latin typeface="Calibri"/>
                <a:ea typeface="Calibri"/>
                <a:cs typeface="Calibri"/>
              </a:rPr>
              <a:t>The Indus River System:</a:t>
            </a:r>
            <a:endParaRPr/>
          </a:p>
          <a:p>
            <a:pPr>
              <a:defRPr/>
            </a:pPr>
            <a:r>
              <a:rPr lang="en-GB" sz="1600">
                <a:latin typeface="Calibri"/>
                <a:ea typeface="Calibri"/>
                <a:cs typeface="Calibri"/>
              </a:rPr>
              <a:t>The Indus River System is a network of rivers, primarily fed by the glaciers in the Hindu Kush, Karakoram, and Himalayan ranges, that forms the hydrological backbone of Pakistan. It is essential for the country’s water supply, agriculture, economy, and food security.</a:t>
            </a:r>
            <a:endParaRPr/>
          </a:p>
        </p:txBody>
      </p:sp>
      <p:sp>
        <p:nvSpPr>
          <p:cNvPr id="1843517063" name="Rectangle: Rounded Corners 1"/>
          <p:cNvSpPr/>
          <p:nvPr/>
        </p:nvSpPr>
        <p:spPr bwMode="auto">
          <a:xfrm>
            <a:off x="12323318" y="1943100"/>
            <a:ext cx="5668010" cy="3630720"/>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B. Intensified Monsoon Rains and Flooding</a:t>
            </a:r>
            <a:endParaRPr/>
          </a:p>
          <a:p>
            <a:pPr algn="ctr">
              <a:defRPr/>
            </a:pPr>
            <a:r>
              <a:rPr lang="en-GB" sz="1600" b="1">
                <a:latin typeface="Calibri"/>
                <a:ea typeface="Calibri"/>
                <a:cs typeface="Calibri"/>
              </a:rPr>
              <a:t>The 2022 Super floods:</a:t>
            </a:r>
            <a:endParaRPr/>
          </a:p>
          <a:p>
            <a:pPr algn="ctr">
              <a:defRPr/>
            </a:pPr>
            <a:r>
              <a:rPr lang="en-GB" sz="1600">
                <a:latin typeface="Calibri"/>
                <a:ea typeface="Calibri"/>
                <a:cs typeface="Calibri"/>
              </a:rPr>
              <a:t> A prime example of this intensification, the 2022 monsoon season brought catastrophic floods that submerged a third of the country, affecting the 33 million people, and causing over $30 billion in damages.</a:t>
            </a:r>
            <a:endParaRPr/>
          </a:p>
          <a:p>
            <a:pPr algn="ctr">
              <a:defRPr/>
            </a:pPr>
            <a:r>
              <a:rPr lang="en-GB" sz="1600" b="1">
                <a:latin typeface="Calibri"/>
                <a:ea typeface="Calibri"/>
                <a:cs typeface="Calibri"/>
              </a:rPr>
              <a:t>Warmer oceans: </a:t>
            </a:r>
            <a:endParaRPr/>
          </a:p>
          <a:p>
            <a:pPr algn="ctr">
              <a:defRPr/>
            </a:pPr>
            <a:r>
              <a:rPr lang="en-GB" sz="1600">
                <a:latin typeface="Calibri"/>
                <a:ea typeface="Calibri"/>
                <a:cs typeface="Calibri"/>
              </a:rPr>
              <a:t>A warmer Arabian Sea leads to great evaporation, super changing the monsoon system and leading to more intense and erratic</a:t>
            </a:r>
            <a:endParaRPr/>
          </a:p>
          <a:p>
            <a:pPr algn="ctr">
              <a:defRPr/>
            </a:pPr>
            <a:r>
              <a:rPr lang="en-GB" sz="1600">
                <a:latin typeface="Calibri"/>
                <a:ea typeface="Calibri"/>
                <a:cs typeface="Calibri"/>
              </a:rPr>
              <a:t>rainfall patterns, overwhelming river systems and causing widespread riverine and urban flooding.</a:t>
            </a:r>
            <a:endParaRPr/>
          </a:p>
        </p:txBody>
      </p:sp>
      <p:sp>
        <p:nvSpPr>
          <p:cNvPr id="476786375" name="Rectangle: Rounded Corners 5"/>
          <p:cNvSpPr/>
          <p:nvPr/>
        </p:nvSpPr>
        <p:spPr bwMode="auto">
          <a:xfrm>
            <a:off x="6316091" y="3429000"/>
            <a:ext cx="5668010" cy="3246120"/>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1600" b="1">
                <a:latin typeface="Calibri"/>
                <a:ea typeface="Calibri"/>
                <a:cs typeface="Calibri"/>
              </a:rPr>
              <a:t>Accelerated Melting:</a:t>
            </a:r>
            <a:endParaRPr/>
          </a:p>
          <a:p>
            <a:pPr>
              <a:defRPr/>
            </a:pPr>
            <a:r>
              <a:rPr lang="en-GB" sz="1600">
                <a:latin typeface="Calibri"/>
                <a:ea typeface="Calibri"/>
                <a:cs typeface="Calibri"/>
              </a:rPr>
              <a:t>Rising temperatures are causing these glaciers to melt at a much faster rate than the normal rate. This accelerated melting creates a two-stage crisis:</a:t>
            </a:r>
            <a:endParaRPr/>
          </a:p>
          <a:p>
            <a:pPr>
              <a:defRPr/>
            </a:pPr>
            <a:r>
              <a:rPr lang="en-GB" sz="1600" b="1">
                <a:latin typeface="Calibri"/>
                <a:ea typeface="Calibri"/>
                <a:cs typeface="Calibri"/>
              </a:rPr>
              <a:t>Short-Term Impact: </a:t>
            </a:r>
            <a:r>
              <a:rPr lang="en-GB" sz="1600">
                <a:latin typeface="Calibri"/>
                <a:ea typeface="Calibri"/>
                <a:cs typeface="Calibri"/>
              </a:rPr>
              <a:t>Too much Water (Floods) The massive amount of meltwater, combined with heavy monsoon rains, overwhelms rivers, causing devastating floods (like those recently and in 2022).</a:t>
            </a:r>
            <a:endParaRPr/>
          </a:p>
          <a:p>
            <a:pPr>
              <a:defRPr/>
            </a:pPr>
            <a:r>
              <a:rPr lang="en-GB" sz="1600" b="1">
                <a:latin typeface="Calibri"/>
                <a:ea typeface="Calibri"/>
                <a:cs typeface="Calibri"/>
              </a:rPr>
              <a:t>Long-Term Impact: </a:t>
            </a:r>
            <a:r>
              <a:rPr lang="en-GB" sz="1600">
                <a:latin typeface="Calibri"/>
                <a:ea typeface="Calibri"/>
                <a:cs typeface="Calibri"/>
              </a:rPr>
              <a:t>Too Little Water (Scarcity) Glaciers act as “natural water towers” that store water in winter and release in summer. As they shrink and disappear, this steady water supply vanishes. This leads to a permanent water shortage for rivers like Indus.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A0A0A"/>
        </a:solidFill>
      </p:bgPr>
    </p:bg>
    <p:spTree>
      <p:nvGrpSpPr>
        <p:cNvPr id="1" name=""/>
        <p:cNvGrpSpPr/>
        <p:nvPr/>
      </p:nvGrpSpPr>
      <p:grpSpPr bwMode="auto">
        <a:xfrm>
          <a:off x="0" y="0"/>
          <a:ext cx="0" cy="0"/>
          <a:chOff x="0" y="0"/>
          <a:chExt cx="0" cy="0"/>
        </a:xfrm>
      </p:grpSpPr>
      <p:pic>
        <p:nvPicPr>
          <p:cNvPr id="738897677" name="Google Shape;159;p17" descr="image.png"/>
          <p:cNvPicPr/>
          <p:nvPr/>
        </p:nvPicPr>
        <p:blipFill rotWithShape="1">
          <a:blip r:embed="rId3">
            <a:alphaModFix/>
          </a:blip>
          <a:stretch/>
        </p:blipFill>
        <p:spPr bwMode="auto">
          <a:xfrm>
            <a:off x="0" y="0"/>
            <a:ext cx="12192000" cy="6858000"/>
          </a:xfrm>
          <a:prstGeom prst="rect">
            <a:avLst/>
          </a:prstGeom>
          <a:noFill/>
          <a:ln>
            <a:noFill/>
          </a:ln>
        </p:spPr>
      </p:pic>
      <p:pic>
        <p:nvPicPr>
          <p:cNvPr id="299657907" name="Google Shape;161;p17" descr="image.png"/>
          <p:cNvPicPr/>
          <p:nvPr/>
        </p:nvPicPr>
        <p:blipFill rotWithShape="1">
          <a:blip r:embed="rId4">
            <a:alphaModFix amt="50000"/>
          </a:blip>
          <a:stretch/>
        </p:blipFill>
        <p:spPr bwMode="auto">
          <a:xfrm>
            <a:off x="31050" y="0"/>
            <a:ext cx="6108192" cy="6858000"/>
          </a:xfrm>
          <a:prstGeom prst="rect">
            <a:avLst/>
          </a:prstGeom>
          <a:noFill/>
          <a:ln>
            <a:noFill/>
          </a:ln>
        </p:spPr>
      </p:pic>
      <p:sp>
        <p:nvSpPr>
          <p:cNvPr id="1442361692" name="Google Shape;103;p13"/>
          <p:cNvSpPr txBox="1"/>
          <p:nvPr/>
        </p:nvSpPr>
        <p:spPr bwMode="auto">
          <a:xfrm>
            <a:off x="6381750" y="142240"/>
            <a:ext cx="5066346"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GB" sz="2800" b="1" i="0" u="none" strike="noStrike" cap="none">
                <a:solidFill>
                  <a:srgbClr val="FFFFFF"/>
                </a:solidFill>
                <a:latin typeface="Calibri"/>
                <a:ea typeface="Calibri"/>
                <a:cs typeface="Calibri"/>
              </a:rPr>
              <a:t>Climate Change in Pakistan: A Nation on the Frontline</a:t>
            </a:r>
            <a:endParaRPr sz="2800">
              <a:latin typeface="Calibri"/>
              <a:ea typeface="Calibri"/>
              <a:cs typeface="Calibri"/>
            </a:endParaRPr>
          </a:p>
        </p:txBody>
      </p:sp>
      <p:sp>
        <p:nvSpPr>
          <p:cNvPr id="1617612436" name="Google Shape;102;p13"/>
          <p:cNvSpPr txBox="1"/>
          <p:nvPr/>
        </p:nvSpPr>
        <p:spPr bwMode="auto">
          <a:xfrm>
            <a:off x="6362223" y="976977"/>
            <a:ext cx="255270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100" b="1" i="0" u="none" strike="noStrike" cap="none">
                <a:solidFill>
                  <a:srgbClr val="DEFF9A"/>
                </a:solidFill>
                <a:latin typeface="Calibri"/>
                <a:ea typeface="Calibri"/>
                <a:cs typeface="Calibri"/>
              </a:rPr>
              <a:t>Arooba Naeem</a:t>
            </a:r>
            <a:endParaRPr/>
          </a:p>
        </p:txBody>
      </p:sp>
      <p:sp>
        <p:nvSpPr>
          <p:cNvPr id="380405034" name="Rectangle: Rounded Corners 4"/>
          <p:cNvSpPr/>
          <p:nvPr/>
        </p:nvSpPr>
        <p:spPr bwMode="auto">
          <a:xfrm>
            <a:off x="6381750" y="1229360"/>
            <a:ext cx="5668010" cy="2844800"/>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B. Intensified Monsoon Rains and Flooding</a:t>
            </a:r>
            <a:endParaRPr/>
          </a:p>
          <a:p>
            <a:pPr algn="ctr">
              <a:defRPr/>
            </a:pPr>
            <a:r>
              <a:rPr lang="en-GB" sz="1600" b="1">
                <a:latin typeface="Calibri"/>
                <a:ea typeface="Calibri"/>
                <a:cs typeface="Calibri"/>
              </a:rPr>
              <a:t>The 2022 Super floods:</a:t>
            </a:r>
            <a:endParaRPr/>
          </a:p>
          <a:p>
            <a:pPr>
              <a:defRPr/>
            </a:pPr>
            <a:r>
              <a:rPr lang="en-GB" sz="1600">
                <a:latin typeface="Calibri"/>
                <a:ea typeface="Calibri"/>
                <a:cs typeface="Calibri"/>
              </a:rPr>
              <a:t> A prime example of this intensification, the 2022 monsoon season brought catastrophic floods that submerged a third of the country, affecting the 33 million people, and causing over $30 billion in damages.</a:t>
            </a:r>
            <a:endParaRPr/>
          </a:p>
          <a:p>
            <a:pPr algn="ctr">
              <a:defRPr/>
            </a:pPr>
            <a:r>
              <a:rPr lang="en-GB" sz="1600" b="1">
                <a:latin typeface="Calibri"/>
                <a:ea typeface="Calibri"/>
                <a:cs typeface="Calibri"/>
              </a:rPr>
              <a:t>Warmer oceans: </a:t>
            </a:r>
            <a:endParaRPr/>
          </a:p>
          <a:p>
            <a:pPr>
              <a:defRPr/>
            </a:pPr>
            <a:r>
              <a:rPr lang="en-GB" sz="1600">
                <a:latin typeface="Calibri"/>
                <a:ea typeface="Calibri"/>
                <a:cs typeface="Calibri"/>
              </a:rPr>
              <a:t>A warmer Arabian Sea leads to great evaporation, super changing the monsoon system and leading to more intense and erratic rainfall patterns, overwhelming river systems and causing widespread riverine and urban flooding.</a:t>
            </a:r>
            <a:endParaRPr/>
          </a:p>
        </p:txBody>
      </p:sp>
      <p:sp>
        <p:nvSpPr>
          <p:cNvPr id="692608349" name="Rectangle: Rounded Corners 5"/>
          <p:cNvSpPr/>
          <p:nvPr/>
        </p:nvSpPr>
        <p:spPr bwMode="auto">
          <a:xfrm>
            <a:off x="12465558" y="1698279"/>
            <a:ext cx="5668010" cy="3630720"/>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C. Increased Frequency and Severity of Heatwaves:</a:t>
            </a:r>
            <a:endParaRPr/>
          </a:p>
          <a:p>
            <a:pPr algn="ctr">
              <a:defRPr/>
            </a:pPr>
            <a:r>
              <a:rPr lang="en-GB" sz="1600" b="1">
                <a:latin typeface="Calibri"/>
                <a:ea typeface="Calibri"/>
                <a:cs typeface="Calibri"/>
              </a:rPr>
              <a:t>Record-Breaking Temperatures:</a:t>
            </a:r>
            <a:endParaRPr/>
          </a:p>
          <a:p>
            <a:pPr algn="ctr">
              <a:defRPr/>
            </a:pPr>
            <a:r>
              <a:rPr lang="en-GB" sz="1600">
                <a:latin typeface="Calibri"/>
                <a:ea typeface="Calibri"/>
                <a:cs typeface="Calibri"/>
              </a:rPr>
              <a:t>Pakistan regularly experiences some of the highest temperatures in the world. Cities like Jacobabad surpassed 52°C (126°F).</a:t>
            </a:r>
            <a:endParaRPr/>
          </a:p>
          <a:p>
            <a:pPr algn="ctr">
              <a:defRPr/>
            </a:pPr>
            <a:r>
              <a:rPr lang="en-GB" sz="1600" b="1">
                <a:latin typeface="Calibri"/>
                <a:ea typeface="Calibri"/>
                <a:cs typeface="Calibri"/>
              </a:rPr>
              <a:t>Health and Livelihood Impacts:</a:t>
            </a:r>
            <a:endParaRPr/>
          </a:p>
          <a:p>
            <a:pPr algn="ctr">
              <a:defRPr/>
            </a:pPr>
            <a:r>
              <a:rPr lang="en-GB" sz="1600">
                <a:latin typeface="Calibri"/>
                <a:ea typeface="Calibri"/>
                <a:cs typeface="Calibri"/>
              </a:rPr>
              <a:t>Extreme heat poses severe to public health, leads to heat stroke deaths, reduces and damages crops, labour productivity, exacerbating food insecurity.</a:t>
            </a:r>
            <a:endParaRPr/>
          </a:p>
        </p:txBody>
      </p:sp>
      <p:sp>
        <p:nvSpPr>
          <p:cNvPr id="1072042778" name="Rectangle: Rounded Corners 1"/>
          <p:cNvSpPr/>
          <p:nvPr/>
        </p:nvSpPr>
        <p:spPr bwMode="auto">
          <a:xfrm>
            <a:off x="6381750" y="4157266"/>
            <a:ext cx="5668010" cy="2558494"/>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C. Increased Frequency and Severity of Heatwaves:</a:t>
            </a:r>
            <a:endParaRPr/>
          </a:p>
          <a:p>
            <a:pPr algn="ctr">
              <a:defRPr/>
            </a:pPr>
            <a:r>
              <a:rPr lang="en-GB" sz="1600" b="1">
                <a:latin typeface="Calibri"/>
                <a:ea typeface="Calibri"/>
                <a:cs typeface="Calibri"/>
              </a:rPr>
              <a:t>Record-Breaking Temperatures:</a:t>
            </a:r>
            <a:endParaRPr/>
          </a:p>
          <a:p>
            <a:pPr>
              <a:defRPr/>
            </a:pPr>
            <a:r>
              <a:rPr lang="en-GB" sz="1600">
                <a:latin typeface="Calibri"/>
                <a:ea typeface="Calibri"/>
                <a:cs typeface="Calibri"/>
              </a:rPr>
              <a:t>Pakistan regularly experiences some of the highest temperatures in the world. Cities like Jacobabad surpassed 52°C (126°F).</a:t>
            </a:r>
            <a:endParaRPr/>
          </a:p>
          <a:p>
            <a:pPr algn="ctr">
              <a:defRPr/>
            </a:pPr>
            <a:r>
              <a:rPr lang="en-GB" sz="1600" b="1">
                <a:latin typeface="Calibri"/>
                <a:ea typeface="Calibri"/>
                <a:cs typeface="Calibri"/>
              </a:rPr>
              <a:t>Health and Livelihood Impacts:</a:t>
            </a:r>
            <a:endParaRPr/>
          </a:p>
          <a:p>
            <a:pPr>
              <a:defRPr/>
            </a:pPr>
            <a:r>
              <a:rPr lang="en-GB" sz="1600">
                <a:latin typeface="Calibri"/>
                <a:ea typeface="Calibri"/>
                <a:cs typeface="Calibri"/>
              </a:rPr>
              <a:t>Extreme heat poses severe to public health, leads to heat stroke deaths, reduces and damages crops, labour productivity, exacerbating food insecurity.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A0A0A"/>
        </a:solidFill>
      </p:bgPr>
    </p:bg>
    <p:spTree>
      <p:nvGrpSpPr>
        <p:cNvPr id="1" name=""/>
        <p:cNvGrpSpPr/>
        <p:nvPr/>
      </p:nvGrpSpPr>
      <p:grpSpPr bwMode="auto">
        <a:xfrm>
          <a:off x="0" y="0"/>
          <a:ext cx="0" cy="0"/>
          <a:chOff x="0" y="0"/>
          <a:chExt cx="0" cy="0"/>
        </a:xfrm>
      </p:grpSpPr>
      <p:pic>
        <p:nvPicPr>
          <p:cNvPr id="236838989" name="Google Shape;159;p17" descr="image.png"/>
          <p:cNvPicPr/>
          <p:nvPr/>
        </p:nvPicPr>
        <p:blipFill rotWithShape="1">
          <a:blip r:embed="rId3">
            <a:alphaModFix/>
          </a:blip>
          <a:stretch/>
        </p:blipFill>
        <p:spPr bwMode="auto">
          <a:xfrm>
            <a:off x="0" y="0"/>
            <a:ext cx="12192000" cy="6858000"/>
          </a:xfrm>
          <a:prstGeom prst="rect">
            <a:avLst/>
          </a:prstGeom>
          <a:noFill/>
          <a:ln>
            <a:noFill/>
          </a:ln>
        </p:spPr>
      </p:pic>
      <p:pic>
        <p:nvPicPr>
          <p:cNvPr id="972042973" name="Google Shape;161;p17" descr="image.png"/>
          <p:cNvPicPr/>
          <p:nvPr/>
        </p:nvPicPr>
        <p:blipFill rotWithShape="1">
          <a:blip r:embed="rId4">
            <a:alphaModFix amt="50000"/>
          </a:blip>
          <a:stretch/>
        </p:blipFill>
        <p:spPr bwMode="auto">
          <a:xfrm>
            <a:off x="0" y="0"/>
            <a:ext cx="6108192" cy="6858000"/>
          </a:xfrm>
          <a:prstGeom prst="rect">
            <a:avLst/>
          </a:prstGeom>
          <a:noFill/>
          <a:ln>
            <a:noFill/>
          </a:ln>
        </p:spPr>
      </p:pic>
      <p:sp>
        <p:nvSpPr>
          <p:cNvPr id="1162418337" name="Google Shape;103;p13"/>
          <p:cNvSpPr txBox="1"/>
          <p:nvPr/>
        </p:nvSpPr>
        <p:spPr bwMode="auto">
          <a:xfrm>
            <a:off x="6381750" y="408921"/>
            <a:ext cx="5066346"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GB" sz="2800" b="1" i="0" u="none" strike="noStrike" cap="none">
                <a:solidFill>
                  <a:srgbClr val="FFFFFF"/>
                </a:solidFill>
                <a:latin typeface="Calibri"/>
                <a:ea typeface="Calibri"/>
                <a:cs typeface="Calibri"/>
              </a:rPr>
              <a:t>Climate Change in Pakistan: A Nation on the Frontline</a:t>
            </a:r>
            <a:endParaRPr sz="2800">
              <a:latin typeface="Calibri"/>
              <a:ea typeface="Calibri"/>
              <a:cs typeface="Calibri"/>
            </a:endParaRPr>
          </a:p>
        </p:txBody>
      </p:sp>
      <p:sp>
        <p:nvSpPr>
          <p:cNvPr id="2130413563" name="Google Shape;102;p13"/>
          <p:cNvSpPr txBox="1"/>
          <p:nvPr/>
        </p:nvSpPr>
        <p:spPr bwMode="auto">
          <a:xfrm>
            <a:off x="6381750" y="1529001"/>
            <a:ext cx="255270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100" b="1" i="0" u="none" strike="noStrike" cap="none">
                <a:solidFill>
                  <a:srgbClr val="DEFF9A"/>
                </a:solidFill>
                <a:latin typeface="Calibri"/>
                <a:ea typeface="Calibri"/>
                <a:cs typeface="Calibri"/>
              </a:rPr>
              <a:t>Arooba Naeem</a:t>
            </a:r>
            <a:endParaRPr/>
          </a:p>
        </p:txBody>
      </p:sp>
      <p:sp>
        <p:nvSpPr>
          <p:cNvPr id="672632965" name="Rectangle: Rounded Corners 1"/>
          <p:cNvSpPr/>
          <p:nvPr/>
        </p:nvSpPr>
        <p:spPr bwMode="auto">
          <a:xfrm>
            <a:off x="6381750" y="1698278"/>
            <a:ext cx="5668010" cy="4750801"/>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Key Vulnerabilities and Contributing Factors:</a:t>
            </a:r>
            <a:endParaRPr/>
          </a:p>
          <a:p>
            <a:pPr>
              <a:defRPr/>
            </a:pPr>
            <a:r>
              <a:rPr lang="en-GB" sz="1600">
                <a:latin typeface="Calibri"/>
                <a:ea typeface="Calibri"/>
                <a:cs typeface="Calibri"/>
              </a:rPr>
              <a:t>Several factors exacerbate Pakistan’s susceptibility to climate change.</a:t>
            </a:r>
            <a:endParaRPr/>
          </a:p>
          <a:p>
            <a:pPr algn="ctr">
              <a:defRPr/>
            </a:pPr>
            <a:r>
              <a:rPr lang="en-GB" sz="1600" b="1">
                <a:latin typeface="Calibri"/>
                <a:ea typeface="Calibri"/>
                <a:cs typeface="Calibri"/>
              </a:rPr>
              <a:t>Agricultural Dependence: </a:t>
            </a:r>
            <a:endParaRPr/>
          </a:p>
          <a:p>
            <a:pPr>
              <a:defRPr/>
            </a:pPr>
            <a:r>
              <a:rPr lang="en-GB" sz="1600">
                <a:latin typeface="Calibri"/>
                <a:ea typeface="Calibri"/>
                <a:cs typeface="Calibri"/>
              </a:rPr>
              <a:t>A large portion of the population and economy is tied to climate-sensitive agriculture</a:t>
            </a:r>
            <a:r>
              <a:rPr lang="en-GB" sz="1600" b="1">
                <a:latin typeface="Calibri"/>
                <a:ea typeface="Calibri"/>
                <a:cs typeface="Calibri"/>
              </a:rPr>
              <a:t>.</a:t>
            </a:r>
            <a:endParaRPr/>
          </a:p>
          <a:p>
            <a:pPr algn="ctr">
              <a:defRPr/>
            </a:pPr>
            <a:r>
              <a:rPr lang="en-GB" sz="1600" b="1">
                <a:latin typeface="Calibri"/>
                <a:ea typeface="Calibri"/>
                <a:cs typeface="Calibri"/>
              </a:rPr>
              <a:t>Rapid population growth and Urbanization: </a:t>
            </a:r>
            <a:endParaRPr/>
          </a:p>
          <a:p>
            <a:pPr>
              <a:defRPr/>
            </a:pPr>
            <a:r>
              <a:rPr lang="en-GB" sz="1600">
                <a:latin typeface="Calibri"/>
                <a:ea typeface="Calibri"/>
                <a:cs typeface="Calibri"/>
              </a:rPr>
              <a:t>This puts immense pressure on limited natural resources and infrastructure, which is often unable to cope with extreme weather events.</a:t>
            </a:r>
            <a:endParaRPr lang="en-GB" sz="1600" b="1">
              <a:latin typeface="Calibri"/>
              <a:ea typeface="Calibri"/>
              <a:cs typeface="Calibri"/>
            </a:endParaRPr>
          </a:p>
          <a:p>
            <a:pPr algn="ctr">
              <a:defRPr/>
            </a:pPr>
            <a:r>
              <a:rPr lang="en-GB" sz="1600" b="1">
                <a:latin typeface="Calibri"/>
                <a:ea typeface="Calibri"/>
                <a:cs typeface="Calibri"/>
              </a:rPr>
              <a:t>Lack of Infrastructure: </a:t>
            </a:r>
            <a:endParaRPr/>
          </a:p>
          <a:p>
            <a:pPr>
              <a:defRPr/>
            </a:pPr>
            <a:r>
              <a:rPr lang="en-GB" sz="1600">
                <a:latin typeface="Calibri"/>
                <a:ea typeface="Calibri"/>
                <a:cs typeface="Calibri"/>
              </a:rPr>
              <a:t>Weak Infrastructure: Inadequate drainage, poor water management systems, and non-resilient housing make the population highly vulnerable to floods and heatwaves.</a:t>
            </a:r>
            <a:endParaRPr/>
          </a:p>
          <a:p>
            <a:pPr algn="ctr">
              <a:defRPr/>
            </a:pPr>
            <a:r>
              <a:rPr lang="en-GB" sz="1600" b="1">
                <a:latin typeface="Calibri"/>
                <a:ea typeface="Calibri"/>
                <a:cs typeface="Calibri"/>
              </a:rPr>
              <a:t>Socioeconomic Challenges: </a:t>
            </a:r>
            <a:endParaRPr/>
          </a:p>
          <a:p>
            <a:pPr>
              <a:defRPr/>
            </a:pPr>
            <a:r>
              <a:rPr lang="en-GB" sz="1600">
                <a:latin typeface="Calibri"/>
                <a:ea typeface="Calibri"/>
                <a:cs typeface="Calibri"/>
              </a:rPr>
              <a:t>High poverty levels limit the adaptive capacity of individuals and communities, forcing them to live in high-risk areas.</a:t>
            </a:r>
            <a:endParaRPr/>
          </a:p>
        </p:txBody>
      </p:sp>
      <p:sp>
        <p:nvSpPr>
          <p:cNvPr id="2132505458" name="Rectangle: Rounded Corners 4"/>
          <p:cNvSpPr/>
          <p:nvPr/>
        </p:nvSpPr>
        <p:spPr bwMode="auto">
          <a:xfrm>
            <a:off x="6381750" y="7025091"/>
            <a:ext cx="5668010" cy="5023364"/>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National Response and Key Initiatives:</a:t>
            </a:r>
            <a:endParaRPr/>
          </a:p>
          <a:p>
            <a:pPr algn="ctr">
              <a:defRPr/>
            </a:pPr>
            <a:r>
              <a:rPr lang="en-GB" sz="1600">
                <a:latin typeface="Calibri"/>
                <a:ea typeface="Calibri"/>
                <a:cs typeface="Calibri"/>
              </a:rPr>
              <a:t>Recognizing the severity of the threat, Pakistan has limited several policies and projects.</a:t>
            </a:r>
            <a:endParaRPr/>
          </a:p>
          <a:p>
            <a:pPr algn="ctr">
              <a:defRPr/>
            </a:pPr>
            <a:r>
              <a:rPr lang="en-GB" sz="1600" b="1">
                <a:latin typeface="Calibri"/>
                <a:ea typeface="Calibri"/>
                <a:cs typeface="Calibri"/>
              </a:rPr>
              <a:t>National Climate Change Policy (NCCP): </a:t>
            </a:r>
            <a:endParaRPr/>
          </a:p>
          <a:p>
            <a:pPr algn="ctr">
              <a:defRPr/>
            </a:pPr>
            <a:r>
              <a:rPr lang="en-GB" sz="1600">
                <a:latin typeface="Calibri"/>
                <a:ea typeface="Calibri"/>
                <a:cs typeface="Calibri"/>
              </a:rPr>
              <a:t>Provides a comprehensive framework for addressing climate change, focusing on both adaption and mitigation.</a:t>
            </a:r>
            <a:endParaRPr/>
          </a:p>
          <a:p>
            <a:pPr algn="ctr">
              <a:defRPr/>
            </a:pPr>
            <a:r>
              <a:rPr lang="en-GB" sz="1600" b="1">
                <a:latin typeface="Calibri"/>
                <a:ea typeface="Calibri"/>
                <a:cs typeface="Calibri"/>
              </a:rPr>
              <a:t>Pakistan’s Nationally Determined Contributions (NDCs): </a:t>
            </a:r>
            <a:endParaRPr/>
          </a:p>
          <a:p>
            <a:pPr algn="ctr">
              <a:defRPr/>
            </a:pPr>
            <a:r>
              <a:rPr lang="en-GB" sz="1600">
                <a:latin typeface="Calibri"/>
                <a:ea typeface="Calibri"/>
                <a:cs typeface="Calibri"/>
              </a:rPr>
              <a:t>As part of the Paris Agreement, Pakistan has committed to reducing it greenhouse gas emissions by 50% by 2030, conditional on international finance.</a:t>
            </a:r>
            <a:endParaRPr/>
          </a:p>
          <a:p>
            <a:pPr algn="ctr">
              <a:defRPr/>
            </a:pPr>
            <a:r>
              <a:rPr lang="en-GB" sz="1600" b="1">
                <a:latin typeface="Calibri"/>
                <a:ea typeface="Calibri"/>
                <a:cs typeface="Calibri"/>
              </a:rPr>
              <a:t>The Living Indus Initiative:</a:t>
            </a:r>
            <a:endParaRPr/>
          </a:p>
          <a:p>
            <a:pPr algn="ctr">
              <a:defRPr/>
            </a:pPr>
            <a:r>
              <a:rPr lang="en-GB" sz="1600" b="1">
                <a:latin typeface="Calibri"/>
                <a:ea typeface="Calibri"/>
                <a:cs typeface="Calibri"/>
              </a:rPr>
              <a:t> </a:t>
            </a:r>
            <a:r>
              <a:rPr lang="en-GB" sz="1600">
                <a:latin typeface="Calibri"/>
                <a:ea typeface="Calibri"/>
                <a:cs typeface="Calibri"/>
              </a:rPr>
              <a:t>A major project focused on the ecological restoration of the Indus River Basin, which is critical for the country’s water, food, and environmental security.</a:t>
            </a:r>
            <a:endParaRPr/>
          </a:p>
          <a:p>
            <a:pPr algn="ctr">
              <a:defRPr/>
            </a:pPr>
            <a:r>
              <a:rPr lang="en-GB" sz="1600" b="1">
                <a:latin typeface="Calibri"/>
                <a:ea typeface="Calibri"/>
                <a:cs typeface="Calibri"/>
              </a:rPr>
              <a:t>The Ten Billion Tre Tsunami Programme: </a:t>
            </a:r>
            <a:endParaRPr/>
          </a:p>
          <a:p>
            <a:pPr algn="ctr">
              <a:defRPr/>
            </a:pPr>
            <a:r>
              <a:rPr lang="en-GB" sz="1600">
                <a:latin typeface="Calibri"/>
                <a:ea typeface="Calibri"/>
                <a:cs typeface="Calibri"/>
              </a:rPr>
              <a:t>A flagship afforestation project aimed at restoring degraded forests, reducing Carbon, and creating green jobs.</a:t>
            </a:r>
            <a:endParaRPr/>
          </a:p>
          <a:p>
            <a:pPr algn="ctr">
              <a:defRPr/>
            </a:pPr>
            <a:r>
              <a:rPr lang="en-GB" sz="1600" b="1">
                <a:latin typeface="Calibri"/>
                <a:ea typeface="Calibri"/>
                <a:cs typeface="Calibri"/>
              </a:rPr>
              <a:t>Early Warning Systems: </a:t>
            </a:r>
            <a:endParaRPr/>
          </a:p>
          <a:p>
            <a:pPr algn="ctr">
              <a:defRPr/>
            </a:pPr>
            <a:r>
              <a:rPr lang="en-GB" sz="1600">
                <a:latin typeface="Calibri"/>
                <a:ea typeface="Calibri"/>
                <a:cs typeface="Calibri"/>
              </a:rPr>
              <a:t>Efforts are underway to improve meteorological forecasting and early warning systems for floods and cyclones.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A0A0A"/>
        </a:solidFill>
      </p:bgPr>
    </p:bg>
    <p:spTree>
      <p:nvGrpSpPr>
        <p:cNvPr id="1" name=""/>
        <p:cNvGrpSpPr/>
        <p:nvPr/>
      </p:nvGrpSpPr>
      <p:grpSpPr bwMode="auto">
        <a:xfrm>
          <a:off x="0" y="0"/>
          <a:ext cx="0" cy="0"/>
          <a:chOff x="0" y="0"/>
          <a:chExt cx="0" cy="0"/>
        </a:xfrm>
      </p:grpSpPr>
      <p:pic>
        <p:nvPicPr>
          <p:cNvPr id="1020687445" name="Google Shape;159;p17" descr="image.png"/>
          <p:cNvPicPr/>
          <p:nvPr/>
        </p:nvPicPr>
        <p:blipFill rotWithShape="1">
          <a:blip r:embed="rId3">
            <a:alphaModFix/>
          </a:blip>
          <a:stretch/>
        </p:blipFill>
        <p:spPr bwMode="auto">
          <a:xfrm>
            <a:off x="0" y="0"/>
            <a:ext cx="12192000" cy="6858000"/>
          </a:xfrm>
          <a:prstGeom prst="rect">
            <a:avLst/>
          </a:prstGeom>
          <a:noFill/>
          <a:ln>
            <a:noFill/>
          </a:ln>
        </p:spPr>
      </p:pic>
      <p:pic>
        <p:nvPicPr>
          <p:cNvPr id="1530913459" name="Google Shape;161;p17" descr="image.png"/>
          <p:cNvPicPr/>
          <p:nvPr/>
        </p:nvPicPr>
        <p:blipFill rotWithShape="1">
          <a:blip r:embed="rId4">
            <a:alphaModFix amt="50000"/>
          </a:blip>
          <a:stretch/>
        </p:blipFill>
        <p:spPr bwMode="auto">
          <a:xfrm>
            <a:off x="0" y="0"/>
            <a:ext cx="6108192" cy="6858000"/>
          </a:xfrm>
          <a:prstGeom prst="rect">
            <a:avLst/>
          </a:prstGeom>
          <a:noFill/>
          <a:ln>
            <a:noFill/>
          </a:ln>
        </p:spPr>
      </p:pic>
      <p:sp>
        <p:nvSpPr>
          <p:cNvPr id="1169977257" name="Google Shape;103;p13"/>
          <p:cNvSpPr txBox="1"/>
          <p:nvPr/>
        </p:nvSpPr>
        <p:spPr bwMode="auto">
          <a:xfrm>
            <a:off x="6381750" y="187072"/>
            <a:ext cx="5066346"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GB" sz="2800" b="1" i="0" u="none" strike="noStrike" cap="none">
                <a:solidFill>
                  <a:srgbClr val="FFFFFF"/>
                </a:solidFill>
                <a:latin typeface="Calibri"/>
                <a:ea typeface="Calibri"/>
                <a:cs typeface="Calibri"/>
              </a:rPr>
              <a:t>Climate Change in Pakistan: A Nation on the Frontline</a:t>
            </a:r>
            <a:endParaRPr sz="2800">
              <a:latin typeface="Calibri"/>
              <a:ea typeface="Calibri"/>
              <a:cs typeface="Calibri"/>
            </a:endParaRPr>
          </a:p>
        </p:txBody>
      </p:sp>
      <p:sp>
        <p:nvSpPr>
          <p:cNvPr id="1252251660" name="Google Shape;102;p13"/>
          <p:cNvSpPr txBox="1"/>
          <p:nvPr/>
        </p:nvSpPr>
        <p:spPr bwMode="auto">
          <a:xfrm>
            <a:off x="6381750" y="1069904"/>
            <a:ext cx="255270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100" b="1" i="0" u="none" strike="noStrike" cap="none">
                <a:solidFill>
                  <a:srgbClr val="DEFF9A"/>
                </a:solidFill>
                <a:latin typeface="Calibri"/>
                <a:ea typeface="Calibri"/>
                <a:cs typeface="Calibri"/>
              </a:rPr>
              <a:t>Arooba Naeem</a:t>
            </a:r>
            <a:endParaRPr/>
          </a:p>
        </p:txBody>
      </p:sp>
      <p:sp>
        <p:nvSpPr>
          <p:cNvPr id="1050747493" name="Rectangle: Rounded Corners 1"/>
          <p:cNvSpPr/>
          <p:nvPr/>
        </p:nvSpPr>
        <p:spPr bwMode="auto">
          <a:xfrm>
            <a:off x="6362223" y="1304443"/>
            <a:ext cx="5544779" cy="5342164"/>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National Response and Key Initiatives:</a:t>
            </a:r>
            <a:endParaRPr/>
          </a:p>
          <a:p>
            <a:pPr>
              <a:defRPr/>
            </a:pPr>
            <a:r>
              <a:rPr lang="en-GB" sz="1600">
                <a:latin typeface="Calibri"/>
                <a:ea typeface="Calibri"/>
                <a:cs typeface="Calibri"/>
              </a:rPr>
              <a:t>Recognizing the severity of the threat, Pakistan has limited several policies and projects.</a:t>
            </a:r>
            <a:endParaRPr/>
          </a:p>
          <a:p>
            <a:pPr algn="ctr">
              <a:defRPr/>
            </a:pPr>
            <a:r>
              <a:rPr lang="en-GB" sz="1600" b="1">
                <a:latin typeface="Calibri"/>
                <a:ea typeface="Calibri"/>
                <a:cs typeface="Calibri"/>
              </a:rPr>
              <a:t>National Climate Change Policy (NCCP): </a:t>
            </a:r>
            <a:endParaRPr/>
          </a:p>
          <a:p>
            <a:pPr>
              <a:defRPr/>
            </a:pPr>
            <a:r>
              <a:rPr lang="en-GB" sz="1600">
                <a:latin typeface="Calibri"/>
                <a:ea typeface="Calibri"/>
                <a:cs typeface="Calibri"/>
              </a:rPr>
              <a:t>Provides a comprehensive framework for addressing climate change, focusing on both adaption and mitigation.</a:t>
            </a:r>
            <a:endParaRPr/>
          </a:p>
          <a:p>
            <a:pPr algn="ctr">
              <a:defRPr/>
            </a:pPr>
            <a:r>
              <a:rPr lang="en-GB" sz="1600" b="1">
                <a:latin typeface="Calibri"/>
                <a:ea typeface="Calibri"/>
                <a:cs typeface="Calibri"/>
              </a:rPr>
              <a:t>Pakistan’s Nationally Determined Contributions (NDCs): </a:t>
            </a:r>
            <a:endParaRPr/>
          </a:p>
          <a:p>
            <a:pPr>
              <a:defRPr/>
            </a:pPr>
            <a:r>
              <a:rPr lang="en-GB" sz="1600">
                <a:latin typeface="Calibri"/>
                <a:ea typeface="Calibri"/>
                <a:cs typeface="Calibri"/>
              </a:rPr>
              <a:t>As part of the Paris Agreement, Pakistan has committed to reducing it greenhouse gas emissions by 50% by 2030, conditional on international finance.</a:t>
            </a:r>
            <a:endParaRPr/>
          </a:p>
          <a:p>
            <a:pPr algn="ctr">
              <a:defRPr/>
            </a:pPr>
            <a:r>
              <a:rPr lang="en-GB" sz="1600" b="1">
                <a:latin typeface="Calibri"/>
                <a:ea typeface="Calibri"/>
                <a:cs typeface="Calibri"/>
              </a:rPr>
              <a:t>The Living Indus Initiative:</a:t>
            </a:r>
            <a:endParaRPr/>
          </a:p>
          <a:p>
            <a:pPr>
              <a:defRPr/>
            </a:pPr>
            <a:r>
              <a:rPr lang="en-GB" sz="1600" b="1">
                <a:latin typeface="Calibri"/>
                <a:ea typeface="Calibri"/>
                <a:cs typeface="Calibri"/>
              </a:rPr>
              <a:t> </a:t>
            </a:r>
            <a:r>
              <a:rPr lang="en-GB" sz="1600">
                <a:latin typeface="Calibri"/>
                <a:ea typeface="Calibri"/>
                <a:cs typeface="Calibri"/>
              </a:rPr>
              <a:t>A major project focused on the ecological restoration of the Indus River Basin, which is critical for the country’s water, food, and environmental security.</a:t>
            </a:r>
            <a:endParaRPr/>
          </a:p>
          <a:p>
            <a:pPr algn="ctr">
              <a:defRPr/>
            </a:pPr>
            <a:r>
              <a:rPr lang="en-GB" sz="1600" b="1">
                <a:latin typeface="Calibri"/>
                <a:ea typeface="Calibri"/>
                <a:cs typeface="Calibri"/>
              </a:rPr>
              <a:t>The Ten Billion Tre Tsunami Programme: </a:t>
            </a:r>
            <a:endParaRPr/>
          </a:p>
          <a:p>
            <a:pPr>
              <a:defRPr/>
            </a:pPr>
            <a:r>
              <a:rPr lang="en-GB" sz="1600">
                <a:latin typeface="Calibri"/>
                <a:ea typeface="Calibri"/>
                <a:cs typeface="Calibri"/>
              </a:rPr>
              <a:t>A flagship afforestation project aimed at restoring degraded forests, reducing Carbon, and creating green jobs.</a:t>
            </a:r>
            <a:endParaRPr/>
          </a:p>
          <a:p>
            <a:pPr algn="ctr">
              <a:defRPr/>
            </a:pPr>
            <a:r>
              <a:rPr lang="en-GB" sz="1600" b="1">
                <a:latin typeface="Calibri"/>
                <a:ea typeface="Calibri"/>
                <a:cs typeface="Calibri"/>
              </a:rPr>
              <a:t>Early Warning Systems: </a:t>
            </a:r>
            <a:endParaRPr/>
          </a:p>
          <a:p>
            <a:pPr>
              <a:defRPr/>
            </a:pPr>
            <a:r>
              <a:rPr lang="en-GB" sz="1600">
                <a:latin typeface="Calibri"/>
                <a:ea typeface="Calibri"/>
                <a:cs typeface="Calibri"/>
              </a:rPr>
              <a:t>Efforts are underway to improve meteorological forecasting and early warning systems for floods</a:t>
            </a:r>
            <a:endParaRPr/>
          </a:p>
        </p:txBody>
      </p:sp>
      <p:sp>
        <p:nvSpPr>
          <p:cNvPr id="316496248" name="Rectangle: Rounded Corners 4"/>
          <p:cNvSpPr/>
          <p:nvPr/>
        </p:nvSpPr>
        <p:spPr bwMode="auto">
          <a:xfrm>
            <a:off x="6256420" y="6923260"/>
            <a:ext cx="5935580" cy="4892842"/>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The way Forward: Challenges and Recommendations:</a:t>
            </a:r>
            <a:endParaRPr/>
          </a:p>
          <a:p>
            <a:pPr algn="ctr">
              <a:defRPr/>
            </a:pPr>
            <a:r>
              <a:rPr lang="en-GB" sz="1600">
                <a:latin typeface="Calibri"/>
                <a:ea typeface="Calibri"/>
                <a:cs typeface="Calibri"/>
              </a:rPr>
              <a:t>Addressing climate change in Pakistan requires a multi-pronged approach:</a:t>
            </a:r>
            <a:endParaRPr/>
          </a:p>
          <a:p>
            <a:pPr algn="ctr">
              <a:defRPr/>
            </a:pPr>
            <a:r>
              <a:rPr lang="en-GB" sz="1600" b="1">
                <a:latin typeface="Calibri"/>
                <a:ea typeface="Calibri"/>
                <a:cs typeface="Calibri"/>
              </a:rPr>
              <a:t>Prioritize Adaptation: </a:t>
            </a:r>
            <a:endParaRPr/>
          </a:p>
          <a:p>
            <a:pPr algn="ctr">
              <a:defRPr/>
            </a:pPr>
            <a:r>
              <a:rPr lang="en-GB" sz="1600">
                <a:latin typeface="Calibri"/>
                <a:ea typeface="Calibri"/>
                <a:cs typeface="Calibri"/>
              </a:rPr>
              <a:t>Investing in climate-resilient infrastructure, drought-resistant crops, efficient irrigation, and early warning systems is crucial </a:t>
            </a:r>
            <a:r>
              <a:rPr lang="en-GB" sz="1600" b="1">
                <a:latin typeface="Calibri"/>
                <a:ea typeface="Calibri"/>
                <a:cs typeface="Calibri"/>
              </a:rPr>
              <a:t>Integrated Water Resource Management: </a:t>
            </a:r>
            <a:endParaRPr/>
          </a:p>
          <a:p>
            <a:pPr algn="ctr">
              <a:defRPr/>
            </a:pPr>
            <a:r>
              <a:rPr lang="en-GB" sz="1600">
                <a:latin typeface="Calibri"/>
                <a:ea typeface="Calibri"/>
                <a:cs typeface="Calibri"/>
              </a:rPr>
              <a:t>Modernizing water governance, building water storage capacity, and promoting water conservation are essential to managing both floods and droughts.</a:t>
            </a:r>
            <a:endParaRPr/>
          </a:p>
          <a:p>
            <a:pPr algn="ctr">
              <a:defRPr/>
            </a:pPr>
            <a:r>
              <a:rPr lang="en-GB" sz="1600" b="1">
                <a:latin typeface="Calibri"/>
                <a:ea typeface="Calibri"/>
                <a:cs typeface="Calibri"/>
              </a:rPr>
              <a:t>Mainstreaming Climate Change: </a:t>
            </a:r>
            <a:endParaRPr/>
          </a:p>
          <a:p>
            <a:pPr algn="ctr">
              <a:defRPr/>
            </a:pPr>
            <a:r>
              <a:rPr lang="en-GB" sz="1600">
                <a:latin typeface="Calibri"/>
                <a:ea typeface="Calibri"/>
                <a:cs typeface="Calibri"/>
              </a:rPr>
              <a:t>Climate considerations must be integrated into all national planning, from agriculture and urban development to energy and health.</a:t>
            </a:r>
            <a:endParaRPr/>
          </a:p>
          <a:p>
            <a:pPr algn="ctr">
              <a:defRPr/>
            </a:pPr>
            <a:r>
              <a:rPr lang="en-GB" sz="1600" b="1">
                <a:latin typeface="Calibri"/>
                <a:ea typeface="Calibri"/>
                <a:cs typeface="Calibri"/>
              </a:rPr>
              <a:t>Access to International Climate Finance:</a:t>
            </a:r>
            <a:endParaRPr/>
          </a:p>
          <a:p>
            <a:pPr algn="ctr">
              <a:defRPr/>
            </a:pPr>
            <a:r>
              <a:rPr lang="en-GB" sz="1600" b="1">
                <a:latin typeface="Calibri"/>
                <a:ea typeface="Calibri"/>
                <a:cs typeface="Calibri"/>
              </a:rPr>
              <a:t> </a:t>
            </a:r>
            <a:r>
              <a:rPr lang="en-GB" sz="1600">
                <a:latin typeface="Calibri"/>
                <a:ea typeface="Calibri"/>
                <a:cs typeface="Calibri"/>
              </a:rPr>
              <a:t>Pakistan urgently needs access to grants and concessional finance from international mechanism like Green Climate Fund to implement its ambitious climate lans.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A0A0A"/>
        </a:solidFill>
      </p:bgPr>
    </p:bg>
    <p:spTree>
      <p:nvGrpSpPr>
        <p:cNvPr id="1" name=""/>
        <p:cNvGrpSpPr/>
        <p:nvPr/>
      </p:nvGrpSpPr>
      <p:grpSpPr bwMode="auto">
        <a:xfrm>
          <a:off x="0" y="0"/>
          <a:ext cx="0" cy="0"/>
          <a:chOff x="0" y="0"/>
          <a:chExt cx="0" cy="0"/>
        </a:xfrm>
      </p:grpSpPr>
      <p:pic>
        <p:nvPicPr>
          <p:cNvPr id="1357721578" name="Google Shape;159;p17" descr="image.png"/>
          <p:cNvPicPr/>
          <p:nvPr/>
        </p:nvPicPr>
        <p:blipFill rotWithShape="1">
          <a:blip r:embed="rId3">
            <a:alphaModFix/>
          </a:blip>
          <a:stretch/>
        </p:blipFill>
        <p:spPr bwMode="auto">
          <a:xfrm>
            <a:off x="0" y="0"/>
            <a:ext cx="12192000" cy="6858000"/>
          </a:xfrm>
          <a:prstGeom prst="rect">
            <a:avLst/>
          </a:prstGeom>
          <a:noFill/>
          <a:ln>
            <a:noFill/>
          </a:ln>
        </p:spPr>
      </p:pic>
      <p:pic>
        <p:nvPicPr>
          <p:cNvPr id="1616779991" name="Google Shape;161;p17" descr="image.png"/>
          <p:cNvPicPr/>
          <p:nvPr/>
        </p:nvPicPr>
        <p:blipFill rotWithShape="1">
          <a:blip r:embed="rId4">
            <a:alphaModFix amt="50000"/>
          </a:blip>
          <a:stretch/>
        </p:blipFill>
        <p:spPr bwMode="auto">
          <a:xfrm>
            <a:off x="0" y="0"/>
            <a:ext cx="6108192" cy="6858000"/>
          </a:xfrm>
          <a:prstGeom prst="rect">
            <a:avLst/>
          </a:prstGeom>
          <a:noFill/>
          <a:ln>
            <a:noFill/>
          </a:ln>
        </p:spPr>
      </p:pic>
      <p:sp>
        <p:nvSpPr>
          <p:cNvPr id="1284886947" name="Google Shape;103;p13"/>
          <p:cNvSpPr txBox="1"/>
          <p:nvPr/>
        </p:nvSpPr>
        <p:spPr bwMode="auto">
          <a:xfrm>
            <a:off x="6381750" y="408921"/>
            <a:ext cx="5066346"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GB" sz="2800" b="1" i="0" u="none" strike="noStrike" cap="none">
                <a:solidFill>
                  <a:srgbClr val="FFFFFF"/>
                </a:solidFill>
                <a:latin typeface="Calibri"/>
                <a:ea typeface="Calibri"/>
                <a:cs typeface="Calibri"/>
              </a:rPr>
              <a:t>Climate Change in Pakistan: A Nation on the Frontline</a:t>
            </a:r>
            <a:endParaRPr sz="2800">
              <a:latin typeface="Calibri"/>
              <a:ea typeface="Calibri"/>
              <a:cs typeface="Calibri"/>
            </a:endParaRPr>
          </a:p>
        </p:txBody>
      </p:sp>
      <p:sp>
        <p:nvSpPr>
          <p:cNvPr id="47231282" name="Google Shape;102;p13"/>
          <p:cNvSpPr txBox="1"/>
          <p:nvPr/>
        </p:nvSpPr>
        <p:spPr bwMode="auto">
          <a:xfrm>
            <a:off x="6381750" y="1529001"/>
            <a:ext cx="255270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100" b="1" i="0" u="none" strike="noStrike" cap="none">
                <a:solidFill>
                  <a:srgbClr val="DEFF9A"/>
                </a:solidFill>
                <a:latin typeface="Calibri"/>
                <a:ea typeface="Calibri"/>
                <a:cs typeface="Calibri"/>
              </a:rPr>
              <a:t>Arooba Naeem</a:t>
            </a:r>
            <a:endParaRPr/>
          </a:p>
        </p:txBody>
      </p:sp>
      <p:sp>
        <p:nvSpPr>
          <p:cNvPr id="346576498" name="Rectangle: Rounded Corners 1"/>
          <p:cNvSpPr/>
          <p:nvPr/>
        </p:nvSpPr>
        <p:spPr bwMode="auto">
          <a:xfrm>
            <a:off x="6256420" y="1828800"/>
            <a:ext cx="5935580" cy="4892842"/>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The way Forward: Challenges and Recommendations:</a:t>
            </a:r>
            <a:endParaRPr/>
          </a:p>
          <a:p>
            <a:pPr algn="ctr">
              <a:defRPr/>
            </a:pPr>
            <a:r>
              <a:rPr lang="en-GB" sz="1600">
                <a:latin typeface="Calibri"/>
                <a:ea typeface="Calibri"/>
                <a:cs typeface="Calibri"/>
              </a:rPr>
              <a:t>Addressing climate change in Pakistan requires a multi-pronged approach:</a:t>
            </a:r>
            <a:endParaRPr/>
          </a:p>
          <a:p>
            <a:pPr algn="ctr">
              <a:defRPr/>
            </a:pPr>
            <a:r>
              <a:rPr lang="en-GB" sz="1600" b="1">
                <a:latin typeface="Calibri"/>
                <a:ea typeface="Calibri"/>
                <a:cs typeface="Calibri"/>
              </a:rPr>
              <a:t>Prioritize Adaptation: </a:t>
            </a:r>
            <a:endParaRPr/>
          </a:p>
          <a:p>
            <a:pPr algn="ctr">
              <a:defRPr/>
            </a:pPr>
            <a:r>
              <a:rPr lang="en-GB" sz="1600">
                <a:latin typeface="Calibri"/>
                <a:ea typeface="Calibri"/>
                <a:cs typeface="Calibri"/>
              </a:rPr>
              <a:t>Investing in climate-resilient infrastructure, drought-resistant crops, efficient irrigation, and early warning systems is crucial </a:t>
            </a:r>
            <a:r>
              <a:rPr lang="en-GB" sz="1600" b="1">
                <a:latin typeface="Calibri"/>
                <a:ea typeface="Calibri"/>
                <a:cs typeface="Calibri"/>
              </a:rPr>
              <a:t>Integrated Water Resource Management: </a:t>
            </a:r>
            <a:endParaRPr/>
          </a:p>
          <a:p>
            <a:pPr algn="ctr">
              <a:defRPr/>
            </a:pPr>
            <a:r>
              <a:rPr lang="en-GB" sz="1600">
                <a:latin typeface="Calibri"/>
                <a:ea typeface="Calibri"/>
                <a:cs typeface="Calibri"/>
              </a:rPr>
              <a:t>Modernizing water governance, building water storage capacity, and promoting water conservation are essential to managing both floods and droughts.</a:t>
            </a:r>
            <a:endParaRPr/>
          </a:p>
          <a:p>
            <a:pPr algn="ctr">
              <a:defRPr/>
            </a:pPr>
            <a:r>
              <a:rPr lang="en-GB" sz="1600" b="1">
                <a:latin typeface="Calibri"/>
                <a:ea typeface="Calibri"/>
                <a:cs typeface="Calibri"/>
              </a:rPr>
              <a:t>Mainstreaming Climate Change: </a:t>
            </a:r>
            <a:endParaRPr/>
          </a:p>
          <a:p>
            <a:pPr algn="ctr">
              <a:defRPr/>
            </a:pPr>
            <a:r>
              <a:rPr lang="en-GB" sz="1600">
                <a:latin typeface="Calibri"/>
                <a:ea typeface="Calibri"/>
                <a:cs typeface="Calibri"/>
              </a:rPr>
              <a:t>Climate considerations must be integrated into all national planning, from agriculture and urban development to energy and health.</a:t>
            </a:r>
            <a:endParaRPr/>
          </a:p>
          <a:p>
            <a:pPr algn="ctr">
              <a:defRPr/>
            </a:pPr>
            <a:r>
              <a:rPr lang="en-GB" sz="1600" b="1">
                <a:latin typeface="Calibri"/>
                <a:ea typeface="Calibri"/>
                <a:cs typeface="Calibri"/>
              </a:rPr>
              <a:t>Access to International Climate Finance:</a:t>
            </a:r>
            <a:endParaRPr/>
          </a:p>
          <a:p>
            <a:pPr algn="ctr">
              <a:defRPr/>
            </a:pPr>
            <a:r>
              <a:rPr lang="en-GB" sz="1600" b="1">
                <a:latin typeface="Calibri"/>
                <a:ea typeface="Calibri"/>
                <a:cs typeface="Calibri"/>
              </a:rPr>
              <a:t> </a:t>
            </a:r>
            <a:r>
              <a:rPr lang="en-GB" sz="1600">
                <a:latin typeface="Calibri"/>
                <a:ea typeface="Calibri"/>
                <a:cs typeface="Calibri"/>
              </a:rPr>
              <a:t>Pakistan urgently needs access to grants and concessional finance from international mechanism like Green Climate Fund to implement its ambitious climate lans.</a:t>
            </a:r>
            <a:endParaRPr/>
          </a:p>
        </p:txBody>
      </p:sp>
      <p:sp>
        <p:nvSpPr>
          <p:cNvPr id="1082079722" name="Rectangle: Rounded Corners 4"/>
          <p:cNvSpPr/>
          <p:nvPr/>
        </p:nvSpPr>
        <p:spPr bwMode="auto">
          <a:xfrm>
            <a:off x="6256420" y="7004564"/>
            <a:ext cx="5935580" cy="3924300"/>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Conclusion:</a:t>
            </a:r>
            <a:endParaRPr/>
          </a:p>
          <a:p>
            <a:pPr algn="ctr">
              <a:defRPr/>
            </a:pPr>
            <a:r>
              <a:rPr lang="en-GB" sz="1600">
                <a:latin typeface="Calibri"/>
                <a:ea typeface="Calibri"/>
                <a:cs typeface="Calibri"/>
              </a:rPr>
              <a:t>Pakistan stands at a critical juncture. The country is experiencing more extreme weather, from devastating floods to unbearable heatwaves and droughts. This is happening because the world is getting warmer, and Pakistan is suffering the effects despite contributing very little to the problem. This crisis threatens the nation’s food supply, water security, and the livelihoods of millions of people. To survive, Pakistan must urgently built stronger defences, manage its water wisely, and adapt farming practices that can with stand harsh weather. At the same time, the international community must provide support and funding, as they bear greater responsibility for causing this global problem. Ultimately, tackling this challenge requires efforts from everyone—the government, local communities, and all citizens to secure a safer future.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A0A0A"/>
        </a:solidFill>
      </p:bgPr>
    </p:bg>
    <p:spTree>
      <p:nvGrpSpPr>
        <p:cNvPr id="1" name=""/>
        <p:cNvGrpSpPr/>
        <p:nvPr/>
      </p:nvGrpSpPr>
      <p:grpSpPr bwMode="auto">
        <a:xfrm>
          <a:off x="0" y="0"/>
          <a:ext cx="0" cy="0"/>
          <a:chOff x="0" y="0"/>
          <a:chExt cx="0" cy="0"/>
        </a:xfrm>
      </p:grpSpPr>
      <p:pic>
        <p:nvPicPr>
          <p:cNvPr id="1354887223" name="Google Shape;159;p17" descr="image.png"/>
          <p:cNvPicPr/>
          <p:nvPr/>
        </p:nvPicPr>
        <p:blipFill rotWithShape="1">
          <a:blip r:embed="rId3">
            <a:alphaModFix/>
          </a:blip>
          <a:stretch/>
        </p:blipFill>
        <p:spPr bwMode="auto">
          <a:xfrm>
            <a:off x="0" y="0"/>
            <a:ext cx="12192000" cy="6858000"/>
          </a:xfrm>
          <a:prstGeom prst="rect">
            <a:avLst/>
          </a:prstGeom>
          <a:noFill/>
          <a:ln>
            <a:noFill/>
          </a:ln>
        </p:spPr>
      </p:pic>
      <p:pic>
        <p:nvPicPr>
          <p:cNvPr id="1052549186" name="Google Shape;161;p17" descr="image.png"/>
          <p:cNvPicPr/>
          <p:nvPr/>
        </p:nvPicPr>
        <p:blipFill rotWithShape="1">
          <a:blip r:embed="rId4">
            <a:alphaModFix amt="50000"/>
          </a:blip>
          <a:stretch/>
        </p:blipFill>
        <p:spPr bwMode="auto">
          <a:xfrm>
            <a:off x="-12192" y="0"/>
            <a:ext cx="6108192" cy="6858000"/>
          </a:xfrm>
          <a:prstGeom prst="rect">
            <a:avLst/>
          </a:prstGeom>
          <a:noFill/>
          <a:ln>
            <a:noFill/>
          </a:ln>
        </p:spPr>
      </p:pic>
      <p:sp>
        <p:nvSpPr>
          <p:cNvPr id="1251811091" name="Google Shape;103;p13"/>
          <p:cNvSpPr txBox="1"/>
          <p:nvPr/>
        </p:nvSpPr>
        <p:spPr bwMode="auto">
          <a:xfrm>
            <a:off x="6381750" y="408921"/>
            <a:ext cx="5066346"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GB" sz="2800" b="1" i="0" u="none" strike="noStrike" cap="none">
                <a:solidFill>
                  <a:srgbClr val="FFFFFF"/>
                </a:solidFill>
                <a:latin typeface="Calibri"/>
                <a:ea typeface="Calibri"/>
                <a:cs typeface="Calibri"/>
              </a:rPr>
              <a:t>Climate Change in Pakistan: A Nation on the Frontline</a:t>
            </a:r>
            <a:endParaRPr sz="2800">
              <a:latin typeface="Calibri"/>
              <a:ea typeface="Calibri"/>
              <a:cs typeface="Calibri"/>
            </a:endParaRPr>
          </a:p>
        </p:txBody>
      </p:sp>
      <p:sp>
        <p:nvSpPr>
          <p:cNvPr id="626326695" name="Google Shape;102;p13"/>
          <p:cNvSpPr txBox="1"/>
          <p:nvPr/>
        </p:nvSpPr>
        <p:spPr bwMode="auto">
          <a:xfrm>
            <a:off x="6381750" y="1529001"/>
            <a:ext cx="255270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100" b="1" i="0" u="none" strike="noStrike" cap="none">
                <a:solidFill>
                  <a:srgbClr val="DEFF9A"/>
                </a:solidFill>
                <a:latin typeface="Calibri"/>
                <a:ea typeface="Calibri"/>
                <a:cs typeface="Calibri"/>
              </a:rPr>
              <a:t>Arooba Naeem</a:t>
            </a:r>
            <a:endParaRPr/>
          </a:p>
        </p:txBody>
      </p:sp>
      <p:sp>
        <p:nvSpPr>
          <p:cNvPr id="363204868" name="Rectangle: Rounded Corners 1"/>
          <p:cNvSpPr/>
          <p:nvPr/>
        </p:nvSpPr>
        <p:spPr bwMode="auto">
          <a:xfrm>
            <a:off x="6256420" y="1828800"/>
            <a:ext cx="5935580" cy="3924300"/>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Conclusion:</a:t>
            </a:r>
            <a:endParaRPr/>
          </a:p>
          <a:p>
            <a:pPr algn="ctr">
              <a:defRPr/>
            </a:pPr>
            <a:r>
              <a:rPr lang="en-GB" sz="1600">
                <a:latin typeface="Calibri"/>
                <a:ea typeface="Calibri"/>
                <a:cs typeface="Calibri"/>
              </a:rPr>
              <a:t>Pakistan stands at a critical juncture. The country is experiencing more extreme weather, from devastating floods to unbearable heatwaves and droughts. This is happening because the world is getting warmer, and Pakistan is suffering the effects despite contributing very little to the problem. This crisis threatens the nation’s food supply, water security, and the livelihoods of millions of people. To survive, Pakistan must urgently built stronger defences, manage its water wisely, and adapt farming practices that can with stand harsh weather. At the same time, the international community must provide support and funding, as they bear greater responsibility for causing this global problem. Ultimately, tackling this challenge requires efforts from everyone—the government, local communities, and all citizens to secure a safer future.</a:t>
            </a:r>
            <a:endParaRPr/>
          </a:p>
        </p:txBody>
      </p:sp>
      <p:pic>
        <p:nvPicPr>
          <p:cNvPr id="1025700678" name="Google Shape;161;p17"/>
          <p:cNvPicPr/>
          <p:nvPr/>
        </p:nvPicPr>
        <p:blipFill rotWithShape="1">
          <a:blip r:embed="rId5">
            <a:alphaModFix amt="50000"/>
          </a:blip>
          <a:stretch/>
        </p:blipFill>
        <p:spPr bwMode="auto">
          <a:xfrm>
            <a:off x="-6393942" y="0"/>
            <a:ext cx="6108192" cy="6858000"/>
          </a:xfrm>
          <a:prstGeom prst="rect">
            <a:avLst/>
          </a:prstGeom>
          <a:noFill/>
          <a:ln>
            <a:noFill/>
          </a:ln>
        </p:spPr>
      </p:pic>
      <p:sp>
        <p:nvSpPr>
          <p:cNvPr id="255299733" name="Rectangle: Rounded Corners 5"/>
          <p:cNvSpPr/>
          <p:nvPr/>
        </p:nvSpPr>
        <p:spPr bwMode="auto">
          <a:xfrm>
            <a:off x="6256420" y="-5272300"/>
            <a:ext cx="5791201" cy="5013994"/>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gn="ctr">
              <a:buAutoNum type="arabicPeriod"/>
              <a:defRPr/>
            </a:pPr>
            <a:r>
              <a:rPr lang="en-GB" sz="2000" b="1">
                <a:solidFill>
                  <a:srgbClr val="DEFF9A"/>
                </a:solidFill>
                <a:latin typeface="Calibri"/>
                <a:ea typeface="Calibri"/>
                <a:cs typeface="Calibri"/>
              </a:rPr>
              <a:t>Foundational Instability &amp; First Martial Law (1947–1969)</a:t>
            </a:r>
            <a:endParaRPr/>
          </a:p>
          <a:p>
            <a:pPr marL="342900" indent="-342900" algn="ctr">
              <a:buAutoNum type="arabicPeriod"/>
              <a:defRPr/>
            </a:pPr>
            <a:r>
              <a:rPr lang="en-GB" sz="1600" b="1">
                <a:latin typeface="Calibri"/>
                <a:ea typeface="Calibri"/>
                <a:cs typeface="Calibri"/>
              </a:rPr>
              <a:t>Early Challenges:</a:t>
            </a:r>
            <a:endParaRPr/>
          </a:p>
          <a:p>
            <a:pPr marL="342900" indent="-342900" algn="ctr">
              <a:buAutoNum type="arabicPeriod"/>
              <a:defRPr/>
            </a:pPr>
            <a:r>
              <a:rPr lang="en-GB" sz="1600">
                <a:latin typeface="Calibri"/>
                <a:ea typeface="Calibri"/>
                <a:cs typeface="Calibri"/>
              </a:rPr>
              <a:t> The new state faced a leadership vacuum, refugee crises, and no constitution (1947–1956). leadership changed frequently; Prime Ministers rarely lasted more than a few months, and Governor Generals were also replaced.</a:t>
            </a:r>
            <a:endParaRPr/>
          </a:p>
          <a:p>
            <a:pPr marL="342900" indent="-342900" algn="ctr">
              <a:buAutoNum type="arabicPeriod"/>
              <a:defRPr/>
            </a:pPr>
            <a:r>
              <a:rPr lang="en-GB" sz="1600" b="1">
                <a:latin typeface="Calibri"/>
                <a:ea typeface="Calibri"/>
                <a:cs typeface="Calibri"/>
              </a:rPr>
              <a:t>1958 Coup:</a:t>
            </a:r>
            <a:endParaRPr/>
          </a:p>
          <a:p>
            <a:pPr marL="342900" indent="-342900" algn="ctr">
              <a:buAutoNum type="arabicPeriod"/>
              <a:defRPr/>
            </a:pPr>
            <a:r>
              <a:rPr lang="en-GB" sz="1600">
                <a:latin typeface="Calibri"/>
                <a:ea typeface="Calibri"/>
                <a:cs typeface="Calibri"/>
              </a:rPr>
              <a:t> Political conflict led General Ayub Khan to impose the first Martial Law, dismissing the 1956 Constitution</a:t>
            </a:r>
            <a:endParaRPr/>
          </a:p>
          <a:p>
            <a:pPr marL="342900" indent="-342900" algn="ctr">
              <a:buAutoNum type="arabicPeriod"/>
              <a:defRPr/>
            </a:pPr>
            <a:r>
              <a:rPr lang="en-GB" sz="1600" b="1">
                <a:latin typeface="Calibri"/>
                <a:ea typeface="Calibri"/>
                <a:cs typeface="Calibri"/>
              </a:rPr>
              <a:t>Ayub Era:</a:t>
            </a:r>
            <a:endParaRPr/>
          </a:p>
          <a:p>
            <a:pPr marL="342900" indent="-342900" algn="ctr">
              <a:buAutoNum type="arabicPeriod"/>
              <a:defRPr/>
            </a:pPr>
            <a:r>
              <a:rPr lang="en-GB" sz="1600">
                <a:latin typeface="Calibri"/>
                <a:ea typeface="Calibri"/>
                <a:cs typeface="Calibri"/>
              </a:rPr>
              <a:t> Brought economic growth (Green Revolution) and the 1962 Constitution but suppressed political freedom,</a:t>
            </a:r>
            <a:endParaRPr/>
          </a:p>
          <a:p>
            <a:pPr marL="342900" indent="-342900" algn="ctr">
              <a:buAutoNum type="arabicPeriod"/>
              <a:defRPr/>
            </a:pPr>
            <a:r>
              <a:rPr lang="en-GB" sz="1600" b="1">
                <a:latin typeface="Calibri"/>
                <a:ea typeface="Calibri"/>
                <a:cs typeface="Calibri"/>
              </a:rPr>
              <a:t>Problems and Protests: </a:t>
            </a:r>
            <a:endParaRPr/>
          </a:p>
          <a:p>
            <a:pPr marL="342900" indent="-342900" algn="ctr">
              <a:buAutoNum type="arabicPeriod"/>
              <a:defRPr/>
            </a:pPr>
            <a:r>
              <a:rPr lang="en-GB" sz="1600">
                <a:latin typeface="Calibri"/>
                <a:ea typeface="Calibri"/>
                <a:cs typeface="Calibri"/>
              </a:rPr>
              <a:t>Despite economic gains, the populace lacked political freedom, and East Pakistan felt neglected or ignored. This resulted in protests led by students and the opposition.</a:t>
            </a:r>
            <a:endParaRPr/>
          </a:p>
          <a:p>
            <a:pPr marL="342900" indent="-342900" algn="ctr">
              <a:buAutoNum type="arabicPeriod"/>
              <a:defRPr/>
            </a:pPr>
            <a:r>
              <a:rPr lang="en-GB" sz="1600" b="1">
                <a:latin typeface="Calibri"/>
                <a:ea typeface="Calibri"/>
                <a:cs typeface="Calibri"/>
              </a:rPr>
              <a:t>Transfer of Power: </a:t>
            </a:r>
            <a:endParaRPr/>
          </a:p>
          <a:p>
            <a:pPr marL="342900" indent="-342900" algn="ctr">
              <a:buAutoNum type="arabicPeriod"/>
              <a:defRPr/>
            </a:pPr>
            <a:r>
              <a:rPr lang="en-GB" sz="1600">
                <a:latin typeface="Calibri"/>
                <a:ea typeface="Calibri"/>
                <a:cs typeface="Calibri"/>
              </a:rPr>
              <a:t>When opposition intensified, Ayub Khan transferred power to General Yahya Khan in 1969.</a:t>
            </a:r>
            <a:endParaRPr/>
          </a:p>
          <a:p>
            <a:pPr marL="342900" indent="-342900" algn="ctr">
              <a:buAutoNum type="arabicPeriod"/>
              <a:defRPr/>
            </a:pPr>
            <a:endParaRPr lang="en-GB" sz="1600">
              <a:latin typeface="Calibri"/>
              <a:ea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A0A0A"/>
        </a:solidFill>
      </p:bgPr>
    </p:bg>
    <p:spTree>
      <p:nvGrpSpPr>
        <p:cNvPr id="1" name=""/>
        <p:cNvGrpSpPr/>
        <p:nvPr/>
      </p:nvGrpSpPr>
      <p:grpSpPr bwMode="auto">
        <a:xfrm>
          <a:off x="0" y="0"/>
          <a:ext cx="0" cy="0"/>
          <a:chOff x="0" y="0"/>
          <a:chExt cx="0" cy="0"/>
        </a:xfrm>
      </p:grpSpPr>
      <p:pic>
        <p:nvPicPr>
          <p:cNvPr id="2027558725" name="Google Shape;159;p17" descr="image.png"/>
          <p:cNvPicPr/>
          <p:nvPr/>
        </p:nvPicPr>
        <p:blipFill rotWithShape="1">
          <a:blip r:embed="rId3">
            <a:alphaModFix/>
          </a:blip>
          <a:stretch/>
        </p:blipFill>
        <p:spPr bwMode="auto">
          <a:xfrm>
            <a:off x="0" y="0"/>
            <a:ext cx="12192000" cy="6858000"/>
          </a:xfrm>
          <a:prstGeom prst="rect">
            <a:avLst/>
          </a:prstGeom>
          <a:noFill/>
          <a:ln>
            <a:noFill/>
          </a:ln>
        </p:spPr>
      </p:pic>
      <p:pic>
        <p:nvPicPr>
          <p:cNvPr id="310183777" name="Google Shape;161;p17"/>
          <p:cNvPicPr/>
          <p:nvPr/>
        </p:nvPicPr>
        <p:blipFill rotWithShape="1">
          <a:blip r:embed="rId4">
            <a:alphaModFix amt="50000"/>
          </a:blip>
          <a:stretch/>
        </p:blipFill>
        <p:spPr bwMode="auto">
          <a:xfrm>
            <a:off x="-12192" y="0"/>
            <a:ext cx="6108192" cy="6858000"/>
          </a:xfrm>
          <a:prstGeom prst="rect">
            <a:avLst/>
          </a:prstGeom>
          <a:noFill/>
          <a:ln>
            <a:noFill/>
          </a:ln>
        </p:spPr>
      </p:pic>
      <p:sp>
        <p:nvSpPr>
          <p:cNvPr id="346375663" name="Google Shape;103;p13"/>
          <p:cNvSpPr txBox="1"/>
          <p:nvPr/>
        </p:nvSpPr>
        <p:spPr bwMode="auto">
          <a:xfrm>
            <a:off x="6381750" y="408921"/>
            <a:ext cx="5066346"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GB" sz="2800" b="1" i="0" u="none" strike="noStrike" cap="none">
                <a:solidFill>
                  <a:srgbClr val="FFFFFF"/>
                </a:solidFill>
                <a:latin typeface="Calibri"/>
                <a:ea typeface="Calibri"/>
                <a:cs typeface="Calibri"/>
              </a:rPr>
              <a:t>Political History and Governance Crisis in Pakistan</a:t>
            </a:r>
            <a:endParaRPr sz="2800">
              <a:latin typeface="Calibri"/>
              <a:ea typeface="Calibri"/>
              <a:cs typeface="Calibri"/>
            </a:endParaRPr>
          </a:p>
        </p:txBody>
      </p:sp>
      <p:sp>
        <p:nvSpPr>
          <p:cNvPr id="617009319" name="Google Shape;102;p13"/>
          <p:cNvSpPr txBox="1"/>
          <p:nvPr/>
        </p:nvSpPr>
        <p:spPr bwMode="auto">
          <a:xfrm>
            <a:off x="6381750" y="1270695"/>
            <a:ext cx="255270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100" b="1" i="0" u="none" strike="noStrike" cap="none">
                <a:solidFill>
                  <a:srgbClr val="DEFF9A"/>
                </a:solidFill>
                <a:latin typeface="Calibri"/>
                <a:ea typeface="Calibri"/>
                <a:cs typeface="Calibri"/>
              </a:rPr>
              <a:t>Noor Fatima</a:t>
            </a:r>
            <a:endParaRPr/>
          </a:p>
        </p:txBody>
      </p:sp>
      <p:sp>
        <p:nvSpPr>
          <p:cNvPr id="175491915" name="Rectangle: Rounded Corners 1"/>
          <p:cNvSpPr/>
          <p:nvPr/>
        </p:nvSpPr>
        <p:spPr bwMode="auto">
          <a:xfrm>
            <a:off x="6256420" y="1439972"/>
            <a:ext cx="5791201" cy="5418028"/>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Foundational Instability &amp; First Martial Law (1947–1969)</a:t>
            </a:r>
            <a:endParaRPr/>
          </a:p>
          <a:p>
            <a:pPr algn="ctr">
              <a:defRPr/>
            </a:pPr>
            <a:r>
              <a:rPr lang="en-GB" sz="1600" b="1">
                <a:latin typeface="Calibri"/>
                <a:ea typeface="Calibri"/>
                <a:cs typeface="Calibri"/>
              </a:rPr>
              <a:t>Early Challenges:</a:t>
            </a:r>
            <a:endParaRPr/>
          </a:p>
          <a:p>
            <a:pPr>
              <a:defRPr/>
            </a:pPr>
            <a:r>
              <a:rPr lang="en-GB" sz="1600">
                <a:latin typeface="Calibri"/>
                <a:ea typeface="Calibri"/>
                <a:cs typeface="Calibri"/>
              </a:rPr>
              <a:t> The new state faced a leadership vacuum, refugee crises, and no constitution (1947–1956). leadership changed frequently; Prime Ministers rarely lasted more than a few months, and Governor Generals were also replaced.</a:t>
            </a:r>
            <a:endParaRPr/>
          </a:p>
          <a:p>
            <a:pPr algn="ctr">
              <a:defRPr/>
            </a:pPr>
            <a:r>
              <a:rPr lang="en-GB" sz="1600" b="1">
                <a:latin typeface="Calibri"/>
                <a:ea typeface="Calibri"/>
                <a:cs typeface="Calibri"/>
              </a:rPr>
              <a:t>1958 Coup:</a:t>
            </a:r>
            <a:endParaRPr/>
          </a:p>
          <a:p>
            <a:pPr>
              <a:defRPr/>
            </a:pPr>
            <a:r>
              <a:rPr lang="en-GB" sz="1600">
                <a:latin typeface="Calibri"/>
                <a:ea typeface="Calibri"/>
                <a:cs typeface="Calibri"/>
              </a:rPr>
              <a:t> Political conflict led General Ayub Khan to impose the first Martial Law, dismissing the 1956 Constitution</a:t>
            </a:r>
            <a:endParaRPr/>
          </a:p>
          <a:p>
            <a:pPr algn="ctr">
              <a:defRPr/>
            </a:pPr>
            <a:r>
              <a:rPr lang="en-GB" sz="1600" b="1">
                <a:latin typeface="Calibri"/>
                <a:ea typeface="Calibri"/>
                <a:cs typeface="Calibri"/>
              </a:rPr>
              <a:t>Ayub Era:</a:t>
            </a:r>
            <a:endParaRPr/>
          </a:p>
          <a:p>
            <a:pPr>
              <a:defRPr/>
            </a:pPr>
            <a:r>
              <a:rPr lang="en-GB" sz="1600">
                <a:latin typeface="Calibri"/>
                <a:ea typeface="Calibri"/>
                <a:cs typeface="Calibri"/>
              </a:rPr>
              <a:t> Brought economic growth (Green Revolution) and the 1962 Constitution but suppressed political freedom.</a:t>
            </a:r>
            <a:endParaRPr/>
          </a:p>
          <a:p>
            <a:pPr algn="ctr">
              <a:defRPr/>
            </a:pPr>
            <a:r>
              <a:rPr lang="en-GB" sz="1600" b="1">
                <a:latin typeface="Calibri"/>
                <a:ea typeface="Calibri"/>
                <a:cs typeface="Calibri"/>
              </a:rPr>
              <a:t>Problems and Protests: </a:t>
            </a:r>
            <a:endParaRPr/>
          </a:p>
          <a:p>
            <a:pPr>
              <a:defRPr/>
            </a:pPr>
            <a:r>
              <a:rPr lang="en-GB" sz="1600">
                <a:latin typeface="Calibri"/>
                <a:ea typeface="Calibri"/>
                <a:cs typeface="Calibri"/>
              </a:rPr>
              <a:t>Despite economic gains, the populace lacked political freedom, and East Pakistan felt neglected or ignored. This resulted in protests led by students and the opposition.</a:t>
            </a:r>
            <a:endParaRPr/>
          </a:p>
          <a:p>
            <a:pPr algn="ctr">
              <a:defRPr/>
            </a:pPr>
            <a:r>
              <a:rPr lang="en-GB" sz="1600" b="1">
                <a:latin typeface="Calibri"/>
                <a:ea typeface="Calibri"/>
                <a:cs typeface="Calibri"/>
              </a:rPr>
              <a:t>Transfer of Power: </a:t>
            </a:r>
            <a:endParaRPr/>
          </a:p>
          <a:p>
            <a:pPr>
              <a:defRPr/>
            </a:pPr>
            <a:r>
              <a:rPr lang="en-GB" sz="1600">
                <a:latin typeface="Calibri"/>
                <a:ea typeface="Calibri"/>
                <a:cs typeface="Calibri"/>
              </a:rPr>
              <a:t>When opposition intensified, Ayub Khan transferred power to General Yahya Khan in 1969.</a:t>
            </a:r>
            <a:endParaRPr/>
          </a:p>
          <a:p>
            <a:pPr marL="342900" indent="-342900" algn="ctr">
              <a:buAutoNum type="arabicPeriod"/>
              <a:defRPr/>
            </a:pPr>
            <a:endParaRPr lang="en-GB" sz="1600">
              <a:latin typeface="Calibri"/>
              <a:ea typeface="Calibri"/>
              <a:cs typeface="Calibri"/>
            </a:endParaRPr>
          </a:p>
        </p:txBody>
      </p:sp>
      <p:sp>
        <p:nvSpPr>
          <p:cNvPr id="1566673353" name="Rectangle: Rounded Corners 5"/>
          <p:cNvSpPr/>
          <p:nvPr/>
        </p:nvSpPr>
        <p:spPr bwMode="auto">
          <a:xfrm>
            <a:off x="6256420" y="6997700"/>
            <a:ext cx="5791201" cy="5013994"/>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gn="ctr">
              <a:buAutoNum type="arabicPeriod"/>
              <a:defRPr/>
            </a:pPr>
            <a:r>
              <a:rPr lang="en-GB" sz="2000" b="1">
                <a:solidFill>
                  <a:srgbClr val="DEFF9A"/>
                </a:solidFill>
                <a:latin typeface="Calibri"/>
                <a:ea typeface="Calibri"/>
                <a:cs typeface="Calibri"/>
              </a:rPr>
              <a:t>Disintegration, Reconstruction &amp; Zia Era (1969–1988)</a:t>
            </a:r>
            <a:endParaRPr/>
          </a:p>
          <a:p>
            <a:pPr marL="457200" indent="-457200" algn="ctr">
              <a:buAutoNum type="arabicPeriod"/>
              <a:defRPr/>
            </a:pPr>
            <a:r>
              <a:rPr lang="en-GB" sz="1600" b="1">
                <a:latin typeface="Calibri"/>
                <a:ea typeface="Calibri"/>
                <a:cs typeface="Calibri"/>
              </a:rPr>
              <a:t>Fall of Dhaka:</a:t>
            </a:r>
            <a:endParaRPr/>
          </a:p>
          <a:p>
            <a:pPr marL="342900" indent="-342900" algn="ctr">
              <a:buAutoNum type="arabicPeriod"/>
              <a:defRPr/>
            </a:pPr>
            <a:r>
              <a:rPr lang="en-GB" sz="1600">
                <a:latin typeface="Calibri"/>
                <a:ea typeface="Calibri"/>
                <a:cs typeface="Calibri"/>
              </a:rPr>
              <a:t>Free elections were announced in 1970. The Awami League won in East Pakistan, while the PPP won in West Pakistan. Despite the Awami League holding the majority, power was not transferred. This decision caused protests, clashes, and military action. Led to the separation of East Pakistan (Bangladesh) in 1971.</a:t>
            </a:r>
            <a:endParaRPr/>
          </a:p>
          <a:p>
            <a:pPr marL="342900" indent="-342900" algn="ctr">
              <a:buAutoNum type="arabicPeriod"/>
              <a:defRPr/>
            </a:pPr>
            <a:r>
              <a:rPr lang="en-GB" sz="1600" b="1">
                <a:latin typeface="Calibri"/>
                <a:ea typeface="Calibri"/>
                <a:cs typeface="Calibri"/>
              </a:rPr>
              <a:t>The Bhutto Era:</a:t>
            </a:r>
            <a:endParaRPr/>
          </a:p>
          <a:p>
            <a:pPr marL="342900" indent="-342900" algn="ctr">
              <a:buAutoNum type="arabicPeriod"/>
              <a:defRPr/>
            </a:pPr>
            <a:r>
              <a:rPr lang="en-GB" sz="1600">
                <a:latin typeface="Calibri"/>
                <a:ea typeface="Calibri"/>
                <a:cs typeface="Calibri"/>
              </a:rPr>
              <a:t> Zulfiqar Ali Bhutto introduced the landmark 1973  He implemented economic reforms, pursued nationalization policies, and strengthened foreign policy. Crucially, he introduced the 1973 Constitution, which remains the foundational legal structure today. In 1977, General Zia-ul-Haq imposed martial law, arresting Bhutto, who was later executed. Fazal Ilahi Chaudhry was the President during this time.</a:t>
            </a:r>
            <a:endParaRPr/>
          </a:p>
          <a:p>
            <a:pPr marL="342900" indent="-342900" algn="ctr">
              <a:buAutoNum type="arabicPeriod"/>
              <a:defRPr/>
            </a:pPr>
            <a:r>
              <a:rPr lang="en-GB" sz="1600">
                <a:latin typeface="Calibri"/>
                <a:ea typeface="Calibri"/>
                <a:cs typeface="Calibri"/>
              </a:rPr>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A0A0A"/>
        </a:solidFill>
      </p:bgPr>
    </p:bg>
    <p:spTree>
      <p:nvGrpSpPr>
        <p:cNvPr id="1" name=""/>
        <p:cNvGrpSpPr/>
        <p:nvPr/>
      </p:nvGrpSpPr>
      <p:grpSpPr bwMode="auto">
        <a:xfrm>
          <a:off x="0" y="0"/>
          <a:ext cx="0" cy="0"/>
          <a:chOff x="0" y="0"/>
          <a:chExt cx="0" cy="0"/>
        </a:xfrm>
      </p:grpSpPr>
      <p:pic>
        <p:nvPicPr>
          <p:cNvPr id="1323715974" name="Google Shape;159;p17" descr="image.png"/>
          <p:cNvPicPr/>
          <p:nvPr/>
        </p:nvPicPr>
        <p:blipFill rotWithShape="1">
          <a:blip r:embed="rId3">
            <a:alphaModFix/>
          </a:blip>
          <a:stretch/>
        </p:blipFill>
        <p:spPr bwMode="auto">
          <a:xfrm>
            <a:off x="0" y="0"/>
            <a:ext cx="12192000" cy="6858000"/>
          </a:xfrm>
          <a:prstGeom prst="rect">
            <a:avLst/>
          </a:prstGeom>
          <a:noFill/>
          <a:ln>
            <a:noFill/>
          </a:ln>
        </p:spPr>
      </p:pic>
      <p:sp>
        <p:nvSpPr>
          <p:cNvPr id="294916302" name="Google Shape;103;p13"/>
          <p:cNvSpPr txBox="1"/>
          <p:nvPr/>
        </p:nvSpPr>
        <p:spPr bwMode="auto">
          <a:xfrm>
            <a:off x="6381750" y="408921"/>
            <a:ext cx="5066346"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GB" sz="2800" b="1" i="0" u="none" strike="noStrike" cap="none">
                <a:solidFill>
                  <a:srgbClr val="FFFFFF"/>
                </a:solidFill>
                <a:latin typeface="Calibri"/>
                <a:ea typeface="Calibri"/>
                <a:cs typeface="Calibri"/>
              </a:rPr>
              <a:t>Political History and Governance Crisis in Pakistan</a:t>
            </a:r>
            <a:endParaRPr sz="2800">
              <a:latin typeface="Calibri"/>
              <a:ea typeface="Calibri"/>
              <a:cs typeface="Calibri"/>
            </a:endParaRPr>
          </a:p>
        </p:txBody>
      </p:sp>
      <p:sp>
        <p:nvSpPr>
          <p:cNvPr id="1462240572" name="Google Shape;102;p13"/>
          <p:cNvSpPr txBox="1"/>
          <p:nvPr/>
        </p:nvSpPr>
        <p:spPr bwMode="auto">
          <a:xfrm>
            <a:off x="6381750" y="1380470"/>
            <a:ext cx="255270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100" b="1" i="0" u="none" strike="noStrike" cap="none">
                <a:solidFill>
                  <a:srgbClr val="DEFF9A"/>
                </a:solidFill>
                <a:latin typeface="Calibri"/>
                <a:ea typeface="Calibri"/>
                <a:cs typeface="Calibri"/>
              </a:rPr>
              <a:t>Noor Fatima</a:t>
            </a:r>
            <a:endParaRPr/>
          </a:p>
        </p:txBody>
      </p:sp>
      <p:sp>
        <p:nvSpPr>
          <p:cNvPr id="1507892584" name="Rectangle: Rounded Corners 1"/>
          <p:cNvSpPr/>
          <p:nvPr/>
        </p:nvSpPr>
        <p:spPr bwMode="auto">
          <a:xfrm>
            <a:off x="6256420" y="1659522"/>
            <a:ext cx="5791201" cy="2363838"/>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Disintegration, Reconstruction &amp; Zia Era (1969–1988)</a:t>
            </a:r>
            <a:endParaRPr/>
          </a:p>
          <a:p>
            <a:pPr algn="ctr">
              <a:defRPr/>
            </a:pPr>
            <a:r>
              <a:rPr lang="en-GB" sz="1600" b="1">
                <a:latin typeface="Calibri"/>
                <a:ea typeface="Calibri"/>
                <a:cs typeface="Calibri"/>
              </a:rPr>
              <a:t>Fall of Dhaka:</a:t>
            </a:r>
            <a:endParaRPr/>
          </a:p>
          <a:p>
            <a:pPr>
              <a:defRPr/>
            </a:pPr>
            <a:r>
              <a:rPr lang="en-GB" sz="1600">
                <a:latin typeface="Calibri"/>
                <a:ea typeface="Calibri"/>
                <a:cs typeface="Calibri"/>
              </a:rPr>
              <a:t>Free elections were announced in 1970. The Awami League won in East Pakistan, while the PPP won in West Pakistan. Despite the Awami League holding the majority, power was not transferred. This decision caused protests, clashes, and military action. Led to the separation of East Pakistan (Bangladesh) in 1971.</a:t>
            </a:r>
            <a:endParaRPr/>
          </a:p>
        </p:txBody>
      </p:sp>
      <p:sp>
        <p:nvSpPr>
          <p:cNvPr id="756003934" name="Rectangle: Rounded Corners 10"/>
          <p:cNvSpPr/>
          <p:nvPr/>
        </p:nvSpPr>
        <p:spPr bwMode="auto">
          <a:xfrm>
            <a:off x="12352420" y="1465108"/>
            <a:ext cx="5791201" cy="3368843"/>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gn="ctr">
              <a:buAutoNum type="arabicPeriod"/>
              <a:defRPr/>
            </a:pPr>
            <a:r>
              <a:rPr lang="en-GB" sz="2000" b="1">
                <a:solidFill>
                  <a:srgbClr val="DEFF9A"/>
                </a:solidFill>
                <a:latin typeface="Calibri"/>
                <a:ea typeface="Calibri"/>
                <a:cs typeface="Calibri"/>
              </a:rPr>
              <a:t>Disintegration, Reconstruction &amp; Zia Era (1969–1988)</a:t>
            </a:r>
            <a:endParaRPr/>
          </a:p>
          <a:p>
            <a:pPr marL="457200" indent="-457200" algn="ctr">
              <a:buAutoNum type="arabicPeriod"/>
              <a:defRPr/>
            </a:pPr>
            <a:r>
              <a:rPr lang="en-GB" sz="1600" b="1">
                <a:latin typeface="Calibri"/>
                <a:ea typeface="Calibri"/>
                <a:cs typeface="Calibri"/>
              </a:rPr>
              <a:t>Zia-ul-Haq:</a:t>
            </a:r>
            <a:endParaRPr/>
          </a:p>
          <a:p>
            <a:pPr marL="342900" indent="-342900" algn="ctr">
              <a:buAutoNum type="arabicPeriod"/>
              <a:defRPr/>
            </a:pPr>
            <a:r>
              <a:rPr lang="en-GB" sz="1600">
                <a:latin typeface="Calibri"/>
                <a:ea typeface="Calibri"/>
                <a:cs typeface="Calibri"/>
              </a:rPr>
              <a:t>Zia's era is the longest military rule in Pakistan's history.</a:t>
            </a:r>
            <a:endParaRPr/>
          </a:p>
          <a:p>
            <a:pPr marL="342900" indent="-342900" algn="ctr">
              <a:buAutoNum type="arabicPeriod"/>
              <a:defRPr/>
            </a:pPr>
            <a:r>
              <a:rPr lang="en-GB" sz="1600" b="1">
                <a:latin typeface="Calibri"/>
                <a:ea typeface="Calibri"/>
                <a:cs typeface="Calibri"/>
              </a:rPr>
              <a:t>Policies: </a:t>
            </a:r>
            <a:r>
              <a:rPr lang="en-GB" sz="1600">
                <a:latin typeface="Calibri"/>
                <a:ea typeface="Calibri"/>
                <a:cs typeface="Calibri"/>
              </a:rPr>
              <a:t>Key aspects included Islamization policies, tough actions against the opposition, and control over newspapers. The economy experienced some stabilization, partly due Afghanistan war.</a:t>
            </a:r>
            <a:endParaRPr/>
          </a:p>
          <a:p>
            <a:pPr marL="342900" indent="-342900" algn="ctr">
              <a:buAutoNum type="arabicPeriod"/>
              <a:defRPr/>
            </a:pPr>
            <a:r>
              <a:rPr lang="en-GB" sz="1600" b="1">
                <a:latin typeface="Calibri"/>
                <a:ea typeface="Calibri"/>
                <a:cs typeface="Calibri"/>
              </a:rPr>
              <a:t>Elections: </a:t>
            </a:r>
            <a:r>
              <a:rPr lang="en-GB" sz="1600">
                <a:latin typeface="Calibri"/>
                <a:ea typeface="Calibri"/>
                <a:cs typeface="Calibri"/>
              </a:rPr>
              <a:t>Non-party elections were held in 1985. Zia-ul-Haq was President.</a:t>
            </a:r>
            <a:endParaRPr/>
          </a:p>
          <a:p>
            <a:pPr marL="342900" indent="-342900" algn="ctr">
              <a:buAutoNum type="arabicPeriod"/>
              <a:defRPr/>
            </a:pPr>
            <a:r>
              <a:rPr lang="en-GB" sz="1600" b="1">
                <a:latin typeface="Calibri"/>
                <a:ea typeface="Calibri"/>
                <a:cs typeface="Calibri"/>
              </a:rPr>
              <a:t>1988: </a:t>
            </a:r>
            <a:r>
              <a:rPr lang="en-GB" sz="1600">
                <a:latin typeface="Calibri"/>
                <a:ea typeface="Calibri"/>
                <a:cs typeface="Calibri"/>
              </a:rPr>
              <a:t>Zia died in a plane crash, after which the political system moved back toward democracy..</a:t>
            </a:r>
            <a:endParaRPr/>
          </a:p>
        </p:txBody>
      </p:sp>
      <p:sp>
        <p:nvSpPr>
          <p:cNvPr id="707250345" name="Rectangle: Rounded Corners 4"/>
          <p:cNvSpPr/>
          <p:nvPr/>
        </p:nvSpPr>
        <p:spPr bwMode="auto">
          <a:xfrm>
            <a:off x="6381750" y="4138023"/>
            <a:ext cx="5791201" cy="2120910"/>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latin typeface="Calibri"/>
                <a:ea typeface="Calibri"/>
                <a:cs typeface="Calibri"/>
              </a:rPr>
              <a:t>Bhutto Era</a:t>
            </a:r>
            <a:endParaRPr lang="en-GB" sz="2000" b="1">
              <a:solidFill>
                <a:srgbClr val="DEFF9A"/>
              </a:solidFill>
              <a:latin typeface="Calibri"/>
              <a:ea typeface="Calibri"/>
              <a:cs typeface="Calibri"/>
            </a:endParaRPr>
          </a:p>
          <a:p>
            <a:pPr lvl="0">
              <a:defRPr/>
            </a:pPr>
            <a:r>
              <a:rPr lang="en-GB" sz="1600">
                <a:latin typeface="Calibri"/>
                <a:ea typeface="Calibri"/>
                <a:cs typeface="Calibri"/>
              </a:rPr>
              <a:t> Zulfiqar Ali Bhutto introduced the landmark 1973  He implemented economic reforms, pursued nationalization policies, and strengthened foreign policy. Crucially, he introduced the 1973 Constitution, which remains the foundational legal structure today. In 1977, General Zia-ul-Haq imposed martial law, arresting Bhutto, who was later executed. Fazal Ilahi Chaudhry was the President during this time.</a:t>
            </a:r>
            <a:endParaRPr/>
          </a:p>
        </p:txBody>
      </p:sp>
      <p:pic>
        <p:nvPicPr>
          <p:cNvPr id="1800348004" name="Google Shape;161;p17"/>
          <p:cNvPicPr/>
          <p:nvPr/>
        </p:nvPicPr>
        <p:blipFill rotWithShape="1">
          <a:blip r:embed="rId4">
            <a:alphaModFix amt="50000"/>
          </a:blip>
          <a:stretch/>
        </p:blipFill>
        <p:spPr bwMode="auto">
          <a:xfrm>
            <a:off x="19049" y="0"/>
            <a:ext cx="6108192" cy="68580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A0A0A"/>
        </a:solidFill>
      </p:bgPr>
    </p:bg>
    <p:spTree>
      <p:nvGrpSpPr>
        <p:cNvPr id="1" name=""/>
        <p:cNvGrpSpPr/>
        <p:nvPr/>
      </p:nvGrpSpPr>
      <p:grpSpPr bwMode="auto">
        <a:xfrm>
          <a:off x="0" y="0"/>
          <a:ext cx="0" cy="0"/>
          <a:chOff x="0" y="0"/>
          <a:chExt cx="0" cy="0"/>
        </a:xfrm>
      </p:grpSpPr>
      <p:pic>
        <p:nvPicPr>
          <p:cNvPr id="1670783681" name="Google Shape;159;p17" descr="image.png"/>
          <p:cNvPicPr/>
          <p:nvPr/>
        </p:nvPicPr>
        <p:blipFill rotWithShape="1">
          <a:blip r:embed="rId3">
            <a:alphaModFix/>
          </a:blip>
          <a:stretch/>
        </p:blipFill>
        <p:spPr bwMode="auto">
          <a:xfrm>
            <a:off x="0" y="0"/>
            <a:ext cx="12192000" cy="6858000"/>
          </a:xfrm>
          <a:prstGeom prst="rect">
            <a:avLst/>
          </a:prstGeom>
          <a:noFill/>
          <a:ln>
            <a:noFill/>
          </a:ln>
        </p:spPr>
      </p:pic>
      <p:sp>
        <p:nvSpPr>
          <p:cNvPr id="486856624" name="Google Shape;103;p13"/>
          <p:cNvSpPr txBox="1"/>
          <p:nvPr/>
        </p:nvSpPr>
        <p:spPr bwMode="auto">
          <a:xfrm>
            <a:off x="6381750" y="408921"/>
            <a:ext cx="5066346"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GB" sz="2800" b="1" i="0" u="none" strike="noStrike" cap="none">
                <a:solidFill>
                  <a:srgbClr val="FFFFFF"/>
                </a:solidFill>
                <a:latin typeface="Calibri"/>
                <a:ea typeface="Calibri"/>
                <a:cs typeface="Calibri"/>
              </a:rPr>
              <a:t>Political History and Governance Crisis in Pakistan</a:t>
            </a:r>
            <a:endParaRPr sz="2800">
              <a:latin typeface="Calibri"/>
              <a:ea typeface="Calibri"/>
              <a:cs typeface="Calibri"/>
            </a:endParaRPr>
          </a:p>
        </p:txBody>
      </p:sp>
      <p:sp>
        <p:nvSpPr>
          <p:cNvPr id="1659776521" name="Google Shape;102;p13"/>
          <p:cNvSpPr txBox="1"/>
          <p:nvPr/>
        </p:nvSpPr>
        <p:spPr bwMode="auto">
          <a:xfrm>
            <a:off x="6381750" y="1380470"/>
            <a:ext cx="255270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100" b="1" i="0" u="none" strike="noStrike" cap="none">
                <a:solidFill>
                  <a:srgbClr val="DEFF9A"/>
                </a:solidFill>
                <a:latin typeface="Calibri"/>
                <a:ea typeface="Calibri"/>
                <a:cs typeface="Calibri"/>
              </a:rPr>
              <a:t>Noor Fatima</a:t>
            </a:r>
            <a:endParaRPr/>
          </a:p>
        </p:txBody>
      </p:sp>
      <p:sp>
        <p:nvSpPr>
          <p:cNvPr id="1446576055" name="Rectangle: Rounded Corners 1"/>
          <p:cNvSpPr/>
          <p:nvPr/>
        </p:nvSpPr>
        <p:spPr bwMode="auto">
          <a:xfrm>
            <a:off x="6256420" y="1659522"/>
            <a:ext cx="5791201" cy="3368843"/>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Disintegration, Reconstruction &amp; Zia Era (1969–1988)</a:t>
            </a:r>
            <a:endParaRPr/>
          </a:p>
          <a:p>
            <a:pPr algn="ctr">
              <a:defRPr/>
            </a:pPr>
            <a:r>
              <a:rPr lang="en-GB" sz="1600" b="1">
                <a:latin typeface="Calibri"/>
                <a:ea typeface="Calibri"/>
                <a:cs typeface="Calibri"/>
              </a:rPr>
              <a:t>Zia-ul-Haq:</a:t>
            </a:r>
            <a:endParaRPr/>
          </a:p>
          <a:p>
            <a:pPr>
              <a:defRPr/>
            </a:pPr>
            <a:r>
              <a:rPr lang="en-GB" sz="1600">
                <a:latin typeface="Calibri"/>
                <a:ea typeface="Calibri"/>
                <a:cs typeface="Calibri"/>
              </a:rPr>
              <a:t>Zia's era is the longest military rule in Pakistan's history.</a:t>
            </a:r>
            <a:endParaRPr/>
          </a:p>
          <a:p>
            <a:pPr>
              <a:defRPr/>
            </a:pPr>
            <a:r>
              <a:rPr lang="en-GB" sz="1600" b="1">
                <a:latin typeface="Calibri"/>
                <a:ea typeface="Calibri"/>
                <a:cs typeface="Calibri"/>
              </a:rPr>
              <a:t>Policies: </a:t>
            </a:r>
            <a:r>
              <a:rPr lang="en-GB" sz="1600">
                <a:latin typeface="Calibri"/>
                <a:ea typeface="Calibri"/>
                <a:cs typeface="Calibri"/>
              </a:rPr>
              <a:t>Key aspects included Islamization policies, tough actions against the opposition, and control over newspapers. The economy experienced some stabilization, partly due Afghanistan war.</a:t>
            </a:r>
            <a:endParaRPr/>
          </a:p>
          <a:p>
            <a:pPr>
              <a:defRPr/>
            </a:pPr>
            <a:r>
              <a:rPr lang="en-GB" sz="1600" b="1">
                <a:latin typeface="Calibri"/>
                <a:ea typeface="Calibri"/>
                <a:cs typeface="Calibri"/>
              </a:rPr>
              <a:t>Elections: </a:t>
            </a:r>
            <a:r>
              <a:rPr lang="en-GB" sz="1600">
                <a:latin typeface="Calibri"/>
                <a:ea typeface="Calibri"/>
                <a:cs typeface="Calibri"/>
              </a:rPr>
              <a:t>Non-party elections were held in 1985. Zia-ul-Haq was President.</a:t>
            </a:r>
            <a:endParaRPr/>
          </a:p>
          <a:p>
            <a:pPr>
              <a:defRPr/>
            </a:pPr>
            <a:r>
              <a:rPr lang="en-GB" sz="1600" b="1">
                <a:latin typeface="Calibri"/>
                <a:ea typeface="Calibri"/>
                <a:cs typeface="Calibri"/>
              </a:rPr>
              <a:t>1988: </a:t>
            </a:r>
            <a:r>
              <a:rPr lang="en-GB" sz="1600">
                <a:latin typeface="Calibri"/>
                <a:ea typeface="Calibri"/>
                <a:cs typeface="Calibri"/>
              </a:rPr>
              <a:t>Zia died in a plane crash, after which the political system moved back toward democracy.</a:t>
            </a:r>
            <a:endParaRPr/>
          </a:p>
        </p:txBody>
      </p:sp>
      <p:sp>
        <p:nvSpPr>
          <p:cNvPr id="957855438" name="Rectangle: Rounded Corners 4"/>
          <p:cNvSpPr/>
          <p:nvPr/>
        </p:nvSpPr>
        <p:spPr bwMode="auto">
          <a:xfrm>
            <a:off x="6381750" y="6967775"/>
            <a:ext cx="5791201" cy="5187936"/>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gn="ctr">
              <a:buAutoNum type="arabicPeriod"/>
              <a:defRPr/>
            </a:pPr>
            <a:r>
              <a:rPr lang="en-GB" sz="2000" b="1">
                <a:solidFill>
                  <a:srgbClr val="DEFF9A"/>
                </a:solidFill>
                <a:latin typeface="Calibri"/>
                <a:ea typeface="Calibri"/>
                <a:cs typeface="Calibri"/>
              </a:rPr>
              <a:t>Political Volatility &amp; The Musharraf Era (1988–2008)</a:t>
            </a:r>
            <a:endParaRPr/>
          </a:p>
          <a:p>
            <a:pPr marL="457200" indent="-457200" algn="ctr">
              <a:buAutoNum type="arabicPeriod"/>
              <a:defRPr/>
            </a:pPr>
            <a:r>
              <a:rPr lang="en-GB" sz="1600" b="1">
                <a:latin typeface="Calibri"/>
                <a:ea typeface="Calibri"/>
                <a:cs typeface="Calibri"/>
              </a:rPr>
              <a:t>The 1990s "Musical Chairs“:</a:t>
            </a:r>
            <a:endParaRPr/>
          </a:p>
          <a:p>
            <a:pPr marL="457200" indent="-457200" algn="ctr">
              <a:buAutoNum type="arabicPeriod"/>
              <a:defRPr/>
            </a:pPr>
            <a:r>
              <a:rPr lang="en-GB" sz="1600">
                <a:latin typeface="Calibri"/>
                <a:ea typeface="Calibri"/>
                <a:cs typeface="Calibri"/>
              </a:rPr>
              <a:t>This period was characterized by conflicts between the executive (PM) and the presidency, often backed by the army, leading to repeated dismissals.</a:t>
            </a:r>
            <a:endParaRPr/>
          </a:p>
          <a:p>
            <a:pPr marL="457200" indent="-457200" algn="ctr">
              <a:buAutoNum type="arabicPeriod"/>
              <a:defRPr/>
            </a:pPr>
            <a:r>
              <a:rPr lang="en-GB" sz="1600" b="1">
                <a:latin typeface="Calibri"/>
                <a:ea typeface="Calibri"/>
                <a:cs typeface="Calibri"/>
              </a:rPr>
              <a:t>Benazir Bhutto (2 Terms):</a:t>
            </a:r>
            <a:endParaRPr/>
          </a:p>
          <a:p>
            <a:pPr marL="457200" indent="-457200" algn="ctr">
              <a:buAutoNum type="arabicPeriod"/>
              <a:defRPr/>
            </a:pPr>
            <a:r>
              <a:rPr lang="en-GB" sz="1600">
                <a:latin typeface="Calibri"/>
                <a:ea typeface="Calibri"/>
                <a:cs typeface="Calibri"/>
              </a:rPr>
              <a:t>First female Muslim PM. Her governments (1988–90, 1993–96) were dismissed by Presidents Ghulam Ishaq Khan and Farooq Leghari due to corruption allegations and establishment friction.</a:t>
            </a:r>
            <a:endParaRPr/>
          </a:p>
          <a:p>
            <a:pPr marL="457200" indent="-457200" algn="ctr">
              <a:buAutoNum type="arabicPeriod"/>
              <a:defRPr/>
            </a:pPr>
            <a:r>
              <a:rPr lang="en-GB" sz="1600" b="1">
                <a:latin typeface="Calibri"/>
                <a:ea typeface="Calibri"/>
                <a:cs typeface="Calibri"/>
              </a:rPr>
              <a:t>Nawaz Sharif (2 Terms):</a:t>
            </a:r>
            <a:endParaRPr/>
          </a:p>
          <a:p>
            <a:pPr marL="457200" indent="-457200" algn="ctr">
              <a:buAutoNum type="arabicPeriod"/>
              <a:defRPr/>
            </a:pPr>
            <a:r>
              <a:rPr lang="en-GB" sz="1600">
                <a:latin typeface="Calibri"/>
                <a:ea typeface="Calibri"/>
                <a:cs typeface="Calibri"/>
              </a:rPr>
              <a:t>Focused on infrastructure (Motorways) and nuclear tests. His governments (1990–93, 1997–99) faced similar dismissals. His attempt to check military power led to his ouster in 1999.</a:t>
            </a:r>
            <a:endParaRPr/>
          </a:p>
          <a:p>
            <a:pPr marL="457200" indent="-457200" algn="ctr">
              <a:buAutoNum type="arabicPeriod"/>
              <a:defRPr/>
            </a:pPr>
            <a:r>
              <a:rPr lang="en-GB" sz="1600" b="1">
                <a:latin typeface="Calibri"/>
                <a:ea typeface="Calibri"/>
                <a:cs typeface="Calibri"/>
              </a:rPr>
              <a:t>The Musharraf Regime (1999–2008):</a:t>
            </a:r>
            <a:endParaRPr/>
          </a:p>
          <a:p>
            <a:pPr marL="457200" indent="-457200" algn="ctr">
              <a:buAutoNum type="arabicPeriod"/>
              <a:defRPr/>
            </a:pPr>
            <a:r>
              <a:rPr lang="en-GB" sz="1600">
                <a:latin typeface="Calibri"/>
                <a:ea typeface="Calibri"/>
                <a:cs typeface="Calibri"/>
              </a:rPr>
              <a:t>He held dual roles (President &amp; Army Chief), liberalized the media, and oversaw initial economic growth. the Lal Masjid operation, and the 2007 Emergency weakened his grip, leading to his resignation in 2008.</a:t>
            </a:r>
            <a:endParaRPr/>
          </a:p>
        </p:txBody>
      </p:sp>
      <p:pic>
        <p:nvPicPr>
          <p:cNvPr id="75894033" name="Google Shape;161;p17"/>
          <p:cNvPicPr/>
          <p:nvPr/>
        </p:nvPicPr>
        <p:blipFill rotWithShape="1">
          <a:blip r:embed="rId4">
            <a:alphaModFix amt="50000"/>
          </a:blip>
          <a:stretch/>
        </p:blipFill>
        <p:spPr bwMode="auto">
          <a:xfrm>
            <a:off x="11449" y="0"/>
            <a:ext cx="6108192" cy="68580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A0A0A"/>
        </a:solidFill>
      </p:bgPr>
    </p:bg>
    <p:spTree>
      <p:nvGrpSpPr>
        <p:cNvPr id="1" name=""/>
        <p:cNvGrpSpPr/>
        <p:nvPr/>
      </p:nvGrpSpPr>
      <p:grpSpPr bwMode="auto">
        <a:xfrm>
          <a:off x="0" y="0"/>
          <a:ext cx="0" cy="0"/>
          <a:chOff x="0" y="0"/>
          <a:chExt cx="0" cy="0"/>
        </a:xfrm>
      </p:grpSpPr>
      <p:pic>
        <p:nvPicPr>
          <p:cNvPr id="616764995" name="Google Shape;159;p17" descr="image.png"/>
          <p:cNvPicPr/>
          <p:nvPr/>
        </p:nvPicPr>
        <p:blipFill rotWithShape="1">
          <a:blip r:embed="rId3">
            <a:alphaModFix/>
          </a:blip>
          <a:stretch/>
        </p:blipFill>
        <p:spPr bwMode="auto">
          <a:xfrm>
            <a:off x="0" y="0"/>
            <a:ext cx="12192000" cy="6858000"/>
          </a:xfrm>
          <a:prstGeom prst="rect">
            <a:avLst/>
          </a:prstGeom>
          <a:noFill/>
          <a:ln>
            <a:noFill/>
          </a:ln>
        </p:spPr>
      </p:pic>
      <p:sp>
        <p:nvSpPr>
          <p:cNvPr id="1677940106" name="Google Shape;103;p13"/>
          <p:cNvSpPr txBox="1"/>
          <p:nvPr/>
        </p:nvSpPr>
        <p:spPr bwMode="auto">
          <a:xfrm>
            <a:off x="6381750" y="174709"/>
            <a:ext cx="5066346"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GB" sz="2800" b="1" i="0" u="none" strike="noStrike" cap="none">
                <a:solidFill>
                  <a:srgbClr val="FFFFFF"/>
                </a:solidFill>
                <a:latin typeface="Calibri"/>
                <a:ea typeface="Calibri"/>
                <a:cs typeface="Calibri"/>
              </a:rPr>
              <a:t>Political History and Governance Crisis in Pakistan</a:t>
            </a:r>
            <a:endParaRPr sz="2800">
              <a:latin typeface="Calibri"/>
              <a:ea typeface="Calibri"/>
              <a:cs typeface="Calibri"/>
            </a:endParaRPr>
          </a:p>
        </p:txBody>
      </p:sp>
      <p:sp>
        <p:nvSpPr>
          <p:cNvPr id="2132367069" name="Google Shape;102;p13"/>
          <p:cNvSpPr txBox="1"/>
          <p:nvPr/>
        </p:nvSpPr>
        <p:spPr bwMode="auto">
          <a:xfrm>
            <a:off x="6381750" y="1039200"/>
            <a:ext cx="255270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100" b="1" i="0" u="none" strike="noStrike" cap="none">
                <a:solidFill>
                  <a:srgbClr val="DEFF9A"/>
                </a:solidFill>
                <a:latin typeface="Calibri"/>
                <a:ea typeface="Calibri"/>
                <a:cs typeface="Calibri"/>
              </a:rPr>
              <a:t>Noor Fatima</a:t>
            </a:r>
            <a:endParaRPr/>
          </a:p>
        </p:txBody>
      </p:sp>
      <p:sp>
        <p:nvSpPr>
          <p:cNvPr id="1549235202" name="Rectangle: Rounded Corners 1"/>
          <p:cNvSpPr/>
          <p:nvPr/>
        </p:nvSpPr>
        <p:spPr bwMode="auto">
          <a:xfrm>
            <a:off x="6256420" y="1195220"/>
            <a:ext cx="5791201" cy="5542464"/>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Political Volatility &amp; The Musharraf Era (1988–2008)</a:t>
            </a:r>
            <a:endParaRPr/>
          </a:p>
          <a:p>
            <a:pPr algn="ctr">
              <a:defRPr/>
            </a:pPr>
            <a:r>
              <a:rPr lang="en-GB" sz="1600" b="1">
                <a:latin typeface="Calibri"/>
                <a:ea typeface="Calibri"/>
                <a:cs typeface="Calibri"/>
              </a:rPr>
              <a:t>The 1990s "Musical Chairs“:</a:t>
            </a:r>
            <a:endParaRPr/>
          </a:p>
          <a:p>
            <a:pPr>
              <a:defRPr/>
            </a:pPr>
            <a:r>
              <a:rPr lang="en-GB" sz="1600">
                <a:latin typeface="Calibri"/>
                <a:ea typeface="Calibri"/>
                <a:cs typeface="Calibri"/>
              </a:rPr>
              <a:t>This period was characterized by conflicts between the executive (PM) and the presidency, often backed by the army, leading to repeated dismissals.</a:t>
            </a:r>
            <a:endParaRPr/>
          </a:p>
          <a:p>
            <a:pPr algn="ctr">
              <a:defRPr/>
            </a:pPr>
            <a:r>
              <a:rPr lang="en-GB" sz="1600" b="1">
                <a:latin typeface="Calibri"/>
                <a:ea typeface="Calibri"/>
                <a:cs typeface="Calibri"/>
              </a:rPr>
              <a:t>Benazir Bhutto (2 Terms):</a:t>
            </a:r>
            <a:endParaRPr/>
          </a:p>
          <a:p>
            <a:pPr>
              <a:defRPr/>
            </a:pPr>
            <a:r>
              <a:rPr lang="en-GB" sz="1600">
                <a:latin typeface="Calibri"/>
                <a:ea typeface="Calibri"/>
                <a:cs typeface="Calibri"/>
              </a:rPr>
              <a:t>First female Muslim PM. Her governments (1988–90, 1993–96) were dismissed by Presidents Ghulam Ishaq Khan and Farooq Leghari due to corruption allegations and establishment friction.</a:t>
            </a:r>
            <a:endParaRPr/>
          </a:p>
          <a:p>
            <a:pPr algn="ctr">
              <a:defRPr/>
            </a:pPr>
            <a:r>
              <a:rPr lang="en-GB" sz="1600" b="1">
                <a:latin typeface="Calibri"/>
                <a:ea typeface="Calibri"/>
                <a:cs typeface="Calibri"/>
              </a:rPr>
              <a:t>Nawaz Sharif (2 Terms):</a:t>
            </a:r>
            <a:endParaRPr/>
          </a:p>
          <a:p>
            <a:pPr>
              <a:defRPr/>
            </a:pPr>
            <a:r>
              <a:rPr lang="en-GB" sz="1600">
                <a:latin typeface="Calibri"/>
                <a:ea typeface="Calibri"/>
                <a:cs typeface="Calibri"/>
              </a:rPr>
              <a:t>Focused on infrastructure (Motorways) and nuclear tests. His governments (1990–93, 1997–99) faced similar dismissals. His attempt to check military power led to his ouster in 1999.</a:t>
            </a:r>
            <a:endParaRPr/>
          </a:p>
          <a:p>
            <a:pPr algn="ctr">
              <a:defRPr/>
            </a:pPr>
            <a:r>
              <a:rPr lang="en-GB" sz="1600" b="1">
                <a:latin typeface="Calibri"/>
                <a:ea typeface="Calibri"/>
                <a:cs typeface="Calibri"/>
              </a:rPr>
              <a:t>The Musharraf Regime (1999–2008):</a:t>
            </a:r>
            <a:endParaRPr/>
          </a:p>
          <a:p>
            <a:pPr>
              <a:defRPr/>
            </a:pPr>
            <a:r>
              <a:rPr lang="en-GB" sz="1600">
                <a:latin typeface="Calibri"/>
                <a:ea typeface="Calibri"/>
                <a:cs typeface="Calibri"/>
              </a:rPr>
              <a:t>He held dual roles (President &amp; Army Chief), liberalized the media, and oversaw initial economic growth. the Lal Masjid operation, and the 2007 Emergency weakened his grip, leading to his resignation in 2008.</a:t>
            </a:r>
            <a:endParaRPr/>
          </a:p>
        </p:txBody>
      </p:sp>
      <p:sp>
        <p:nvSpPr>
          <p:cNvPr id="1223262937" name="Rectangle: Rounded Corners 4"/>
          <p:cNvSpPr/>
          <p:nvPr/>
        </p:nvSpPr>
        <p:spPr bwMode="auto">
          <a:xfrm>
            <a:off x="6256420" y="7016737"/>
            <a:ext cx="5791201" cy="4596899"/>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gn="ctr">
              <a:buAutoNum type="arabicPeriod"/>
              <a:defRPr/>
            </a:pPr>
            <a:r>
              <a:rPr lang="en-GB" sz="2000" b="1">
                <a:solidFill>
                  <a:srgbClr val="DEFF9A"/>
                </a:solidFill>
                <a:latin typeface="Calibri"/>
                <a:ea typeface="Calibri"/>
                <a:cs typeface="Calibri"/>
              </a:rPr>
              <a:t>The Modern Democratic Cycle </a:t>
            </a:r>
            <a:endParaRPr/>
          </a:p>
          <a:p>
            <a:pPr marL="457200" indent="-457200" algn="ctr">
              <a:buAutoNum type="arabicPeriod"/>
              <a:defRPr/>
            </a:pPr>
            <a:r>
              <a:rPr lang="en-GB" sz="2000" b="1">
                <a:solidFill>
                  <a:srgbClr val="DEFF9A"/>
                </a:solidFill>
                <a:latin typeface="Calibri"/>
                <a:ea typeface="Calibri"/>
                <a:cs typeface="Calibri"/>
              </a:rPr>
              <a:t>(2008–2025)</a:t>
            </a:r>
            <a:endParaRPr/>
          </a:p>
          <a:p>
            <a:pPr marL="457200" indent="-457200" algn="ctr">
              <a:buAutoNum type="arabicPeriod"/>
              <a:defRPr/>
            </a:pPr>
            <a:r>
              <a:rPr lang="en-GB" sz="1600">
                <a:latin typeface="Calibri"/>
                <a:ea typeface="Calibri"/>
                <a:cs typeface="Calibri"/>
              </a:rPr>
              <a:t>President Asif Ali Zardari; PMs Yousaf Raza Gillani &amp; Raja Pervaiz Ashraf Restored the 1973 Constitution's parliamentary spirit but faced security challenges.</a:t>
            </a:r>
            <a:endParaRPr/>
          </a:p>
          <a:p>
            <a:pPr marL="457200" indent="-457200" algn="ctr">
              <a:buAutoNum type="arabicPeriod"/>
              <a:defRPr/>
            </a:pPr>
            <a:r>
              <a:rPr lang="en-GB" sz="1600" b="1">
                <a:latin typeface="Calibri"/>
                <a:ea typeface="Calibri"/>
                <a:cs typeface="Calibri"/>
              </a:rPr>
              <a:t>PML-N Government (2013–2018):</a:t>
            </a:r>
            <a:endParaRPr/>
          </a:p>
          <a:p>
            <a:pPr marL="457200" indent="-457200" algn="ctr">
              <a:buAutoNum type="arabicPeriod"/>
              <a:defRPr/>
            </a:pPr>
            <a:r>
              <a:rPr lang="en-GB" sz="1600">
                <a:latin typeface="Calibri"/>
                <a:ea typeface="Calibri"/>
                <a:cs typeface="Calibri"/>
              </a:rPr>
              <a:t>PM Nawaz Sharif (later Shahid Khaqan Abbasi) Focused on CPEC and energy projects. Nawaz Sharif was disqualified by the courts before completing his term.</a:t>
            </a:r>
            <a:endParaRPr/>
          </a:p>
          <a:p>
            <a:pPr marL="457200" indent="-457200" algn="ctr">
              <a:buAutoNum type="arabicPeriod"/>
              <a:defRPr/>
            </a:pPr>
            <a:r>
              <a:rPr lang="en-GB" sz="1600" b="1">
                <a:latin typeface="Calibri"/>
                <a:ea typeface="Calibri"/>
                <a:cs typeface="Calibri"/>
              </a:rPr>
              <a:t>PTI Government (2018–2022):</a:t>
            </a:r>
            <a:endParaRPr/>
          </a:p>
          <a:p>
            <a:pPr marL="457200" indent="-457200" algn="ctr">
              <a:buAutoNum type="arabicPeriod"/>
              <a:defRPr/>
            </a:pPr>
            <a:r>
              <a:rPr lang="en-GB" sz="1600">
                <a:latin typeface="Calibri"/>
                <a:ea typeface="Calibri"/>
                <a:cs typeface="Calibri"/>
              </a:rPr>
              <a:t>PM Imran Khan Focused on accountability and social welfare. Removed via a Vote of No Confidence in 2022 amid economic turmoil.</a:t>
            </a:r>
            <a:endParaRPr/>
          </a:p>
          <a:p>
            <a:pPr marL="457200" indent="-457200" algn="ctr">
              <a:buAutoNum type="arabicPeriod"/>
              <a:defRPr/>
            </a:pPr>
            <a:r>
              <a:rPr lang="en-GB" sz="1600" b="1">
                <a:latin typeface="Calibri"/>
                <a:ea typeface="Calibri"/>
                <a:cs typeface="Calibri"/>
              </a:rPr>
              <a:t>Coalition &amp; Current Setup (2022–2025):</a:t>
            </a:r>
            <a:endParaRPr/>
          </a:p>
          <a:p>
            <a:pPr marL="457200" indent="-457200" algn="ctr">
              <a:buAutoNum type="arabicPeriod"/>
              <a:defRPr/>
            </a:pPr>
            <a:r>
              <a:rPr lang="en-GB" sz="1600">
                <a:latin typeface="Calibri"/>
                <a:ea typeface="Calibri"/>
                <a:cs typeface="Calibri"/>
              </a:rPr>
              <a:t>Leadership: PM Shehbaz Sharif (PDM Coalition, then 2024 elections).  A period marked by severe economic crisis (inflation) and political polarization.</a:t>
            </a:r>
            <a:endParaRPr/>
          </a:p>
        </p:txBody>
      </p:sp>
      <p:pic>
        <p:nvPicPr>
          <p:cNvPr id="1195125489" name="Google Shape;161;p17"/>
          <p:cNvPicPr/>
          <p:nvPr/>
        </p:nvPicPr>
        <p:blipFill rotWithShape="1">
          <a:blip r:embed="rId4">
            <a:alphaModFix amt="50000"/>
          </a:blip>
          <a:stretch/>
        </p:blipFill>
        <p:spPr bwMode="auto">
          <a:xfrm>
            <a:off x="11449" y="0"/>
            <a:ext cx="6108192" cy="68580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A0A0A"/>
        </a:solidFill>
      </p:bgPr>
    </p:bg>
    <p:spTree>
      <p:nvGrpSpPr>
        <p:cNvPr id="1" name=""/>
        <p:cNvGrpSpPr/>
        <p:nvPr/>
      </p:nvGrpSpPr>
      <p:grpSpPr bwMode="auto">
        <a:xfrm>
          <a:off x="0" y="0"/>
          <a:ext cx="0" cy="0"/>
          <a:chOff x="0" y="0"/>
          <a:chExt cx="0" cy="0"/>
        </a:xfrm>
      </p:grpSpPr>
      <p:pic>
        <p:nvPicPr>
          <p:cNvPr id="214169642" name="Google Shape;159;p17" descr="image.png"/>
          <p:cNvPicPr/>
          <p:nvPr/>
        </p:nvPicPr>
        <p:blipFill rotWithShape="1">
          <a:blip r:embed="rId3">
            <a:alphaModFix/>
          </a:blip>
          <a:stretch/>
        </p:blipFill>
        <p:spPr bwMode="auto">
          <a:xfrm>
            <a:off x="0" y="0"/>
            <a:ext cx="12192000" cy="6858000"/>
          </a:xfrm>
          <a:prstGeom prst="rect">
            <a:avLst/>
          </a:prstGeom>
          <a:noFill/>
          <a:ln>
            <a:noFill/>
          </a:ln>
        </p:spPr>
      </p:pic>
      <p:sp>
        <p:nvSpPr>
          <p:cNvPr id="2119014216" name="Google Shape;103;p13"/>
          <p:cNvSpPr txBox="1"/>
          <p:nvPr/>
        </p:nvSpPr>
        <p:spPr bwMode="auto">
          <a:xfrm>
            <a:off x="6381750" y="408921"/>
            <a:ext cx="5066346"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GB" sz="2800" b="1" i="0" u="none" strike="noStrike" cap="none">
                <a:solidFill>
                  <a:srgbClr val="FFFFFF"/>
                </a:solidFill>
                <a:latin typeface="Calibri"/>
                <a:ea typeface="Calibri"/>
                <a:cs typeface="Calibri"/>
              </a:rPr>
              <a:t>Political History and Governance Crisis in Pakistan</a:t>
            </a:r>
            <a:endParaRPr sz="2800">
              <a:latin typeface="Calibri"/>
              <a:ea typeface="Calibri"/>
              <a:cs typeface="Calibri"/>
            </a:endParaRPr>
          </a:p>
        </p:txBody>
      </p:sp>
      <p:sp>
        <p:nvSpPr>
          <p:cNvPr id="1237125887" name="Google Shape;102;p13"/>
          <p:cNvSpPr txBox="1"/>
          <p:nvPr/>
        </p:nvSpPr>
        <p:spPr bwMode="auto">
          <a:xfrm>
            <a:off x="6381750" y="1380470"/>
            <a:ext cx="255270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100" b="1" i="0" u="none" strike="noStrike" cap="none">
                <a:solidFill>
                  <a:srgbClr val="DEFF9A"/>
                </a:solidFill>
                <a:latin typeface="Calibri"/>
                <a:ea typeface="Calibri"/>
                <a:cs typeface="Calibri"/>
              </a:rPr>
              <a:t>Noor Fatima</a:t>
            </a:r>
            <a:endParaRPr/>
          </a:p>
        </p:txBody>
      </p:sp>
      <p:sp>
        <p:nvSpPr>
          <p:cNvPr id="992385788" name="Rectangle: Rounded Corners 1"/>
          <p:cNvSpPr/>
          <p:nvPr/>
        </p:nvSpPr>
        <p:spPr bwMode="auto">
          <a:xfrm>
            <a:off x="6256420" y="1659522"/>
            <a:ext cx="5791201" cy="4596899"/>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The Modern Democratic Cycle </a:t>
            </a:r>
            <a:endParaRPr/>
          </a:p>
          <a:p>
            <a:pPr algn="ctr">
              <a:defRPr/>
            </a:pPr>
            <a:r>
              <a:rPr lang="en-GB" sz="2000" b="1">
                <a:solidFill>
                  <a:srgbClr val="DEFF9A"/>
                </a:solidFill>
                <a:latin typeface="Calibri"/>
                <a:ea typeface="Calibri"/>
                <a:cs typeface="Calibri"/>
              </a:rPr>
              <a:t>(2008–2025)</a:t>
            </a:r>
            <a:endParaRPr/>
          </a:p>
          <a:p>
            <a:pPr>
              <a:defRPr/>
            </a:pPr>
            <a:r>
              <a:rPr lang="en-GB" sz="1600">
                <a:latin typeface="Calibri"/>
                <a:ea typeface="Calibri"/>
                <a:cs typeface="Calibri"/>
              </a:rPr>
              <a:t>President Asif Ali Zardari; PMs Yousaf Raza Gillani &amp; Raja Pervaiz Ashraf Restored the 1973 Constitution's parliamentary spirit but faced security challenges.</a:t>
            </a:r>
            <a:endParaRPr/>
          </a:p>
          <a:p>
            <a:pPr algn="ctr">
              <a:defRPr/>
            </a:pPr>
            <a:r>
              <a:rPr lang="en-GB" sz="1600" b="1">
                <a:latin typeface="Calibri"/>
                <a:ea typeface="Calibri"/>
                <a:cs typeface="Calibri"/>
              </a:rPr>
              <a:t>PML-N Government (2013–2018):</a:t>
            </a:r>
            <a:endParaRPr/>
          </a:p>
          <a:p>
            <a:pPr>
              <a:defRPr/>
            </a:pPr>
            <a:r>
              <a:rPr lang="en-GB" sz="1600">
                <a:latin typeface="Calibri"/>
                <a:ea typeface="Calibri"/>
                <a:cs typeface="Calibri"/>
              </a:rPr>
              <a:t>PM Nawaz Sharif (later Shahid Khaqan Abbasi) Focused on CPEC and energy projects. Nawaz Sharif was disqualified by the courts before completing his term.</a:t>
            </a:r>
            <a:endParaRPr/>
          </a:p>
          <a:p>
            <a:pPr algn="ctr">
              <a:defRPr/>
            </a:pPr>
            <a:r>
              <a:rPr lang="en-GB" sz="1600" b="1">
                <a:latin typeface="Calibri"/>
                <a:ea typeface="Calibri"/>
                <a:cs typeface="Calibri"/>
              </a:rPr>
              <a:t>PTI Government (2018–2022):</a:t>
            </a:r>
            <a:endParaRPr/>
          </a:p>
          <a:p>
            <a:pPr>
              <a:defRPr/>
            </a:pPr>
            <a:r>
              <a:rPr lang="en-GB" sz="1600">
                <a:latin typeface="Calibri"/>
                <a:ea typeface="Calibri"/>
                <a:cs typeface="Calibri"/>
              </a:rPr>
              <a:t>PM Imran Khan Focused on accountability and social welfare. Removed via a Vote of No Confidence in 2022 amid economic turmoil.</a:t>
            </a:r>
            <a:endParaRPr/>
          </a:p>
          <a:p>
            <a:pPr algn="ctr">
              <a:defRPr/>
            </a:pPr>
            <a:r>
              <a:rPr lang="en-GB" sz="1600" b="1">
                <a:latin typeface="Calibri"/>
                <a:ea typeface="Calibri"/>
                <a:cs typeface="Calibri"/>
              </a:rPr>
              <a:t>Coalition &amp; Current Setup (2022–2025):</a:t>
            </a:r>
            <a:endParaRPr/>
          </a:p>
          <a:p>
            <a:pPr>
              <a:defRPr/>
            </a:pPr>
            <a:r>
              <a:rPr lang="en-GB" sz="1600">
                <a:latin typeface="Calibri"/>
                <a:ea typeface="Calibri"/>
                <a:cs typeface="Calibri"/>
              </a:rPr>
              <a:t>Leadership: PM Shehbaz Sharif (PDM Coalition, then 2024 elections).  A period marked by severe economic crisis (inflation) and political polarization.</a:t>
            </a:r>
            <a:endParaRPr/>
          </a:p>
        </p:txBody>
      </p:sp>
      <p:sp>
        <p:nvSpPr>
          <p:cNvPr id="243385494" name="Rectangle: Rounded Corners 7"/>
          <p:cNvSpPr/>
          <p:nvPr/>
        </p:nvSpPr>
        <p:spPr bwMode="auto">
          <a:xfrm>
            <a:off x="6256420" y="6985500"/>
            <a:ext cx="5791201" cy="1860886"/>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gn="ctr">
              <a:buAutoNum type="arabicPeriod"/>
              <a:defRPr/>
            </a:pPr>
            <a:r>
              <a:rPr lang="en-GB" sz="2000" b="1">
                <a:solidFill>
                  <a:srgbClr val="DEFF9A"/>
                </a:solidFill>
                <a:latin typeface="Calibri"/>
                <a:ea typeface="Calibri"/>
                <a:cs typeface="Calibri"/>
              </a:rPr>
              <a:t>Reasons of Governance crisis:</a:t>
            </a:r>
            <a:endParaRPr/>
          </a:p>
          <a:p>
            <a:pPr lvl="0">
              <a:defRPr/>
            </a:pPr>
            <a:r>
              <a:rPr lang="en-GB" sz="1600">
                <a:latin typeface="Calibri"/>
                <a:ea typeface="Calibri"/>
                <a:cs typeface="Calibri"/>
              </a:rPr>
              <a:t>• Unnecessary military interference in government matters</a:t>
            </a:r>
            <a:endParaRPr/>
          </a:p>
          <a:p>
            <a:pPr lvl="0">
              <a:defRPr/>
            </a:pPr>
            <a:r>
              <a:rPr lang="en-GB" sz="1600">
                <a:latin typeface="Calibri"/>
                <a:ea typeface="Calibri"/>
                <a:cs typeface="Calibri"/>
              </a:rPr>
              <a:t>• Political leaders more interested in gaining and holding power</a:t>
            </a:r>
            <a:endParaRPr/>
          </a:p>
          <a:p>
            <a:pPr lvl="0">
              <a:defRPr/>
            </a:pPr>
            <a:r>
              <a:rPr lang="en-GB" sz="1600">
                <a:latin typeface="Calibri"/>
                <a:ea typeface="Calibri"/>
                <a:cs typeface="Calibri"/>
              </a:rPr>
              <a:t>• Corruption and misuse of public resources</a:t>
            </a:r>
            <a:endParaRPr/>
          </a:p>
          <a:p>
            <a:pPr lvl="0">
              <a:defRPr/>
            </a:pPr>
            <a:r>
              <a:rPr lang="en-GB" sz="1600">
                <a:latin typeface="Calibri"/>
                <a:ea typeface="Calibri"/>
                <a:cs typeface="Calibri"/>
              </a:rPr>
              <a:t>• Frequent conflicts between military and civilian governments</a:t>
            </a:r>
            <a:endParaRPr/>
          </a:p>
          <a:p>
            <a:pPr lvl="0">
              <a:defRPr/>
            </a:pPr>
            <a:r>
              <a:rPr lang="en-GB" sz="1600">
                <a:latin typeface="Calibri"/>
                <a:ea typeface="Calibri"/>
                <a:cs typeface="Calibri"/>
              </a:rPr>
              <a:t>• Weak democratic institutions and lack of accountability</a:t>
            </a:r>
            <a:endParaRPr/>
          </a:p>
        </p:txBody>
      </p:sp>
      <p:sp>
        <p:nvSpPr>
          <p:cNvPr id="1553743029" name="Rectangle: Rounded Corners 8"/>
          <p:cNvSpPr/>
          <p:nvPr/>
        </p:nvSpPr>
        <p:spPr bwMode="auto">
          <a:xfrm>
            <a:off x="6256418" y="8973886"/>
            <a:ext cx="5791201" cy="2120910"/>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gn="ctr">
              <a:buAutoNum type="arabicPeriod"/>
              <a:defRPr/>
            </a:pPr>
            <a:r>
              <a:rPr lang="en-GB" sz="2000" b="1">
                <a:solidFill>
                  <a:srgbClr val="DEFF9A"/>
                </a:solidFill>
                <a:latin typeface="Calibri"/>
                <a:ea typeface="Calibri"/>
                <a:cs typeface="Calibri"/>
              </a:rPr>
              <a:t>Effects of Crisis of Governance in Pakistan</a:t>
            </a:r>
            <a:endParaRPr/>
          </a:p>
          <a:p>
            <a:pPr lvl="0">
              <a:defRPr/>
            </a:pPr>
            <a:r>
              <a:rPr lang="en-GB" sz="1600">
                <a:latin typeface="Calibri"/>
                <a:ea typeface="Calibri"/>
                <a:cs typeface="Calibri"/>
              </a:rPr>
              <a:t>• Slow economic growth</a:t>
            </a:r>
            <a:endParaRPr/>
          </a:p>
          <a:p>
            <a:pPr lvl="0">
              <a:defRPr/>
            </a:pPr>
            <a:r>
              <a:rPr lang="en-GB" sz="1600">
                <a:latin typeface="Calibri"/>
                <a:ea typeface="Calibri"/>
                <a:cs typeface="Calibri"/>
              </a:rPr>
              <a:t>• Poor education and health systems</a:t>
            </a:r>
            <a:endParaRPr/>
          </a:p>
          <a:p>
            <a:pPr lvl="0">
              <a:defRPr/>
            </a:pPr>
            <a:r>
              <a:rPr lang="en-GB" sz="1600">
                <a:latin typeface="Calibri"/>
                <a:ea typeface="Calibri"/>
                <a:cs typeface="Calibri"/>
              </a:rPr>
              <a:t>• Rising corruption</a:t>
            </a:r>
            <a:endParaRPr/>
          </a:p>
          <a:p>
            <a:pPr lvl="0">
              <a:defRPr/>
            </a:pPr>
            <a:r>
              <a:rPr lang="en-GB" sz="1600">
                <a:latin typeface="Calibri"/>
                <a:ea typeface="Calibri"/>
                <a:cs typeface="Calibri"/>
              </a:rPr>
              <a:t>• Lack of rule of law</a:t>
            </a:r>
            <a:endParaRPr/>
          </a:p>
          <a:p>
            <a:pPr lvl="0">
              <a:defRPr/>
            </a:pPr>
            <a:r>
              <a:rPr lang="en-GB" sz="1600">
                <a:latin typeface="Calibri"/>
                <a:ea typeface="Calibri"/>
                <a:cs typeface="Calibri"/>
              </a:rPr>
              <a:t>• Public dissatisfaction and protests</a:t>
            </a:r>
            <a:endParaRPr/>
          </a:p>
          <a:p>
            <a:pPr lvl="0">
              <a:defRPr/>
            </a:pPr>
            <a:r>
              <a:rPr lang="en-GB" sz="1600">
                <a:latin typeface="Calibri"/>
                <a:ea typeface="Calibri"/>
                <a:cs typeface="Calibri"/>
              </a:rPr>
              <a:t>• Weak democracy</a:t>
            </a:r>
            <a:endParaRPr/>
          </a:p>
          <a:p>
            <a:pPr lvl="0">
              <a:defRPr/>
            </a:pPr>
            <a:r>
              <a:rPr lang="en-GB" sz="1600">
                <a:latin typeface="Calibri"/>
                <a:ea typeface="Calibri"/>
                <a:cs typeface="Calibri"/>
              </a:rPr>
              <a:t>• Poor global image of Pakistan</a:t>
            </a:r>
            <a:endParaRPr/>
          </a:p>
        </p:txBody>
      </p:sp>
      <p:pic>
        <p:nvPicPr>
          <p:cNvPr id="493390632" name="Google Shape;161;p17"/>
          <p:cNvPicPr/>
          <p:nvPr/>
        </p:nvPicPr>
        <p:blipFill rotWithShape="1">
          <a:blip r:embed="rId4">
            <a:alphaModFix amt="50000"/>
          </a:blip>
          <a:stretch/>
        </p:blipFill>
        <p:spPr bwMode="auto">
          <a:xfrm>
            <a:off x="11449" y="0"/>
            <a:ext cx="6108192" cy="68580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A0A0A"/>
        </a:solidFill>
      </p:bgPr>
    </p:bg>
    <p:spTree>
      <p:nvGrpSpPr>
        <p:cNvPr id="1" name=""/>
        <p:cNvGrpSpPr/>
        <p:nvPr/>
      </p:nvGrpSpPr>
      <p:grpSpPr bwMode="auto">
        <a:xfrm>
          <a:off x="0" y="0"/>
          <a:ext cx="0" cy="0"/>
          <a:chOff x="0" y="0"/>
          <a:chExt cx="0" cy="0"/>
        </a:xfrm>
      </p:grpSpPr>
      <p:pic>
        <p:nvPicPr>
          <p:cNvPr id="2119287730" name="Google Shape;159;p17" descr="image.png"/>
          <p:cNvPicPr/>
          <p:nvPr/>
        </p:nvPicPr>
        <p:blipFill rotWithShape="1">
          <a:blip r:embed="rId3">
            <a:alphaModFix/>
          </a:blip>
          <a:stretch/>
        </p:blipFill>
        <p:spPr bwMode="auto">
          <a:xfrm>
            <a:off x="0" y="0"/>
            <a:ext cx="12192000" cy="6858000"/>
          </a:xfrm>
          <a:prstGeom prst="rect">
            <a:avLst/>
          </a:prstGeom>
          <a:noFill/>
          <a:ln>
            <a:noFill/>
          </a:ln>
        </p:spPr>
      </p:pic>
      <p:sp>
        <p:nvSpPr>
          <p:cNvPr id="83569556" name="Google Shape;103;p13"/>
          <p:cNvSpPr txBox="1"/>
          <p:nvPr/>
        </p:nvSpPr>
        <p:spPr bwMode="auto">
          <a:xfrm>
            <a:off x="6381750" y="408921"/>
            <a:ext cx="5066346"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GB" sz="2800" b="1" i="0" u="none" strike="noStrike" cap="none">
                <a:solidFill>
                  <a:srgbClr val="FFFFFF"/>
                </a:solidFill>
                <a:latin typeface="Calibri"/>
                <a:ea typeface="Calibri"/>
                <a:cs typeface="Calibri"/>
              </a:rPr>
              <a:t>Political History and Governance Crisis in Pakistan</a:t>
            </a:r>
            <a:endParaRPr sz="2800">
              <a:latin typeface="Calibri"/>
              <a:ea typeface="Calibri"/>
              <a:cs typeface="Calibri"/>
            </a:endParaRPr>
          </a:p>
        </p:txBody>
      </p:sp>
      <p:sp>
        <p:nvSpPr>
          <p:cNvPr id="1991208348" name="Google Shape;102;p13"/>
          <p:cNvSpPr txBox="1"/>
          <p:nvPr/>
        </p:nvSpPr>
        <p:spPr bwMode="auto">
          <a:xfrm>
            <a:off x="6381750" y="1380470"/>
            <a:ext cx="255270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100" b="1" i="0" u="none" strike="noStrike" cap="none">
                <a:solidFill>
                  <a:srgbClr val="DEFF9A"/>
                </a:solidFill>
                <a:latin typeface="Calibri"/>
                <a:ea typeface="Calibri"/>
                <a:cs typeface="Calibri"/>
              </a:rPr>
              <a:t>Noor Fatima</a:t>
            </a:r>
            <a:endParaRPr/>
          </a:p>
        </p:txBody>
      </p:sp>
      <p:sp>
        <p:nvSpPr>
          <p:cNvPr id="908887089" name="Rectangle: Rounded Corners 1"/>
          <p:cNvSpPr/>
          <p:nvPr/>
        </p:nvSpPr>
        <p:spPr bwMode="auto">
          <a:xfrm>
            <a:off x="6256420" y="1659522"/>
            <a:ext cx="5791201" cy="1860886"/>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Reasons of Governance crisis:</a:t>
            </a:r>
            <a:endParaRPr/>
          </a:p>
          <a:p>
            <a:pPr lvl="0">
              <a:defRPr/>
            </a:pPr>
            <a:r>
              <a:rPr lang="en-GB" sz="1600">
                <a:latin typeface="Calibri"/>
                <a:ea typeface="Calibri"/>
                <a:cs typeface="Calibri"/>
              </a:rPr>
              <a:t>• Unnecessary military interference in government matters</a:t>
            </a:r>
            <a:endParaRPr/>
          </a:p>
          <a:p>
            <a:pPr lvl="0">
              <a:defRPr/>
            </a:pPr>
            <a:r>
              <a:rPr lang="en-GB" sz="1600">
                <a:latin typeface="Calibri"/>
                <a:ea typeface="Calibri"/>
                <a:cs typeface="Calibri"/>
              </a:rPr>
              <a:t>• Political leaders more interested in gaining and holding power</a:t>
            </a:r>
            <a:endParaRPr/>
          </a:p>
          <a:p>
            <a:pPr lvl="0">
              <a:defRPr/>
            </a:pPr>
            <a:r>
              <a:rPr lang="en-GB" sz="1600">
                <a:latin typeface="Calibri"/>
                <a:ea typeface="Calibri"/>
                <a:cs typeface="Calibri"/>
              </a:rPr>
              <a:t>• Corruption and misuse of public resources</a:t>
            </a:r>
            <a:endParaRPr/>
          </a:p>
          <a:p>
            <a:pPr lvl="0">
              <a:defRPr/>
            </a:pPr>
            <a:r>
              <a:rPr lang="en-GB" sz="1600">
                <a:latin typeface="Calibri"/>
                <a:ea typeface="Calibri"/>
                <a:cs typeface="Calibri"/>
              </a:rPr>
              <a:t>• Frequent conflicts between military and civilian governments</a:t>
            </a:r>
            <a:endParaRPr/>
          </a:p>
          <a:p>
            <a:pPr lvl="0">
              <a:defRPr/>
            </a:pPr>
            <a:r>
              <a:rPr lang="en-GB" sz="1600">
                <a:latin typeface="Calibri"/>
                <a:ea typeface="Calibri"/>
                <a:cs typeface="Calibri"/>
              </a:rPr>
              <a:t>• Weak democratic institutions and lack of accountability</a:t>
            </a:r>
            <a:endParaRPr/>
          </a:p>
        </p:txBody>
      </p:sp>
      <p:sp>
        <p:nvSpPr>
          <p:cNvPr id="878534476" name="Rectangle: Rounded Corners 4"/>
          <p:cNvSpPr/>
          <p:nvPr/>
        </p:nvSpPr>
        <p:spPr bwMode="auto">
          <a:xfrm>
            <a:off x="6248399" y="3632190"/>
            <a:ext cx="5791201" cy="2120910"/>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Effects of Crisis of Governance in Pakistan</a:t>
            </a:r>
            <a:endParaRPr/>
          </a:p>
          <a:p>
            <a:pPr lvl="0">
              <a:defRPr/>
            </a:pPr>
            <a:r>
              <a:rPr lang="en-GB" sz="1600">
                <a:latin typeface="Calibri"/>
                <a:ea typeface="Calibri"/>
                <a:cs typeface="Calibri"/>
              </a:rPr>
              <a:t>• Slow economic growth</a:t>
            </a:r>
            <a:endParaRPr/>
          </a:p>
          <a:p>
            <a:pPr lvl="0">
              <a:defRPr/>
            </a:pPr>
            <a:r>
              <a:rPr lang="en-GB" sz="1600">
                <a:latin typeface="Calibri"/>
                <a:ea typeface="Calibri"/>
                <a:cs typeface="Calibri"/>
              </a:rPr>
              <a:t>• Poor education and health systems</a:t>
            </a:r>
            <a:endParaRPr/>
          </a:p>
          <a:p>
            <a:pPr lvl="0">
              <a:defRPr/>
            </a:pPr>
            <a:r>
              <a:rPr lang="en-GB" sz="1600">
                <a:latin typeface="Calibri"/>
                <a:ea typeface="Calibri"/>
                <a:cs typeface="Calibri"/>
              </a:rPr>
              <a:t>• Rising corruption</a:t>
            </a:r>
            <a:endParaRPr/>
          </a:p>
          <a:p>
            <a:pPr lvl="0">
              <a:defRPr/>
            </a:pPr>
            <a:r>
              <a:rPr lang="en-GB" sz="1600">
                <a:latin typeface="Calibri"/>
                <a:ea typeface="Calibri"/>
                <a:cs typeface="Calibri"/>
              </a:rPr>
              <a:t>• Lack of rule of law</a:t>
            </a:r>
            <a:endParaRPr/>
          </a:p>
          <a:p>
            <a:pPr lvl="0">
              <a:defRPr/>
            </a:pPr>
            <a:r>
              <a:rPr lang="en-GB" sz="1600">
                <a:latin typeface="Calibri"/>
                <a:ea typeface="Calibri"/>
                <a:cs typeface="Calibri"/>
              </a:rPr>
              <a:t>• Public dissatisfaction and protests</a:t>
            </a:r>
            <a:endParaRPr/>
          </a:p>
          <a:p>
            <a:pPr lvl="0">
              <a:defRPr/>
            </a:pPr>
            <a:r>
              <a:rPr lang="en-GB" sz="1600">
                <a:latin typeface="Calibri"/>
                <a:ea typeface="Calibri"/>
                <a:cs typeface="Calibri"/>
              </a:rPr>
              <a:t>• Weak democracy</a:t>
            </a:r>
            <a:endParaRPr/>
          </a:p>
          <a:p>
            <a:pPr lvl="0">
              <a:defRPr/>
            </a:pPr>
            <a:r>
              <a:rPr lang="en-GB" sz="1600">
                <a:latin typeface="Calibri"/>
                <a:ea typeface="Calibri"/>
                <a:cs typeface="Calibri"/>
              </a:rPr>
              <a:t>• Poor global image of Pakistan</a:t>
            </a:r>
            <a:endParaRPr/>
          </a:p>
        </p:txBody>
      </p:sp>
      <p:pic>
        <p:nvPicPr>
          <p:cNvPr id="881235151" name="Google Shape;161;p17"/>
          <p:cNvPicPr/>
          <p:nvPr/>
        </p:nvPicPr>
        <p:blipFill rotWithShape="1">
          <a:blip r:embed="rId4">
            <a:alphaModFix amt="50000"/>
          </a:blip>
          <a:stretch/>
        </p:blipFill>
        <p:spPr bwMode="auto">
          <a:xfrm>
            <a:off x="11449" y="0"/>
            <a:ext cx="6108192" cy="68580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A0A0A"/>
        </a:solidFill>
      </p:bgPr>
    </p:bg>
    <p:spTree>
      <p:nvGrpSpPr>
        <p:cNvPr id="1" name=""/>
        <p:cNvGrpSpPr/>
        <p:nvPr/>
      </p:nvGrpSpPr>
      <p:grpSpPr bwMode="auto">
        <a:xfrm>
          <a:off x="0" y="0"/>
          <a:ext cx="0" cy="0"/>
          <a:chOff x="0" y="0"/>
          <a:chExt cx="0" cy="0"/>
        </a:xfrm>
      </p:grpSpPr>
      <p:pic>
        <p:nvPicPr>
          <p:cNvPr id="1432568544" name="Google Shape;161;p17"/>
          <p:cNvPicPr/>
          <p:nvPr/>
        </p:nvPicPr>
        <p:blipFill rotWithShape="1">
          <a:blip r:embed="rId3">
            <a:alphaModFix amt="50000"/>
          </a:blip>
          <a:stretch/>
        </p:blipFill>
        <p:spPr bwMode="auto">
          <a:xfrm>
            <a:off x="-285135" y="0"/>
            <a:ext cx="6381135" cy="6858000"/>
          </a:xfrm>
          <a:prstGeom prst="rect">
            <a:avLst/>
          </a:prstGeom>
          <a:noFill/>
          <a:ln>
            <a:noFill/>
          </a:ln>
        </p:spPr>
      </p:pic>
      <p:sp>
        <p:nvSpPr>
          <p:cNvPr id="842555506" name="Google Shape;103;p13"/>
          <p:cNvSpPr txBox="1"/>
          <p:nvPr/>
        </p:nvSpPr>
        <p:spPr bwMode="auto">
          <a:xfrm>
            <a:off x="6381750" y="408921"/>
            <a:ext cx="5066346"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GB" sz="2800" b="1" i="0" u="none" strike="noStrike" cap="none">
                <a:solidFill>
                  <a:srgbClr val="FFFFFF"/>
                </a:solidFill>
                <a:latin typeface="Calibri"/>
                <a:ea typeface="Calibri"/>
                <a:cs typeface="Calibri"/>
              </a:rPr>
              <a:t>Socio-Economic Inequality in Pakistan</a:t>
            </a:r>
            <a:endParaRPr sz="2800">
              <a:latin typeface="Calibri"/>
              <a:ea typeface="Calibri"/>
              <a:cs typeface="Calibri"/>
            </a:endParaRPr>
          </a:p>
        </p:txBody>
      </p:sp>
      <p:sp>
        <p:nvSpPr>
          <p:cNvPr id="1504976068" name="Google Shape;102;p13"/>
          <p:cNvSpPr txBox="1"/>
          <p:nvPr/>
        </p:nvSpPr>
        <p:spPr bwMode="auto">
          <a:xfrm>
            <a:off x="6381750" y="1380470"/>
            <a:ext cx="255270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100" b="1" i="0" u="none" strike="noStrike" cap="none">
                <a:solidFill>
                  <a:srgbClr val="DEFF9A"/>
                </a:solidFill>
                <a:latin typeface="Calibri"/>
                <a:ea typeface="Calibri"/>
                <a:cs typeface="Calibri"/>
              </a:rPr>
              <a:t>Wajiha Eman</a:t>
            </a:r>
            <a:endParaRPr/>
          </a:p>
        </p:txBody>
      </p:sp>
      <p:sp>
        <p:nvSpPr>
          <p:cNvPr id="106528570" name="Rectangle: Rounded Corners 1"/>
          <p:cNvSpPr/>
          <p:nvPr/>
        </p:nvSpPr>
        <p:spPr bwMode="auto">
          <a:xfrm>
            <a:off x="6256420" y="1659522"/>
            <a:ext cx="5791201" cy="2120910"/>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Main Aspects of Socio-Economic Inequality in Pakistan</a:t>
            </a:r>
            <a:endParaRPr/>
          </a:p>
          <a:p>
            <a:pPr lvl="0">
              <a:defRPr/>
            </a:pPr>
            <a:r>
              <a:rPr lang="en-GB" sz="1600">
                <a:latin typeface="Calibri"/>
                <a:ea typeface="Calibri"/>
                <a:cs typeface="Calibri"/>
              </a:rPr>
              <a:t>In Pakistan, socio-economic inequality is visible in the unequal distribution of income, education, healthcare, and opportunities among different regions, genders, and social classes.</a:t>
            </a:r>
            <a:endParaRPr/>
          </a:p>
        </p:txBody>
      </p:sp>
      <p:sp>
        <p:nvSpPr>
          <p:cNvPr id="1346711465" name="Rectangle: Rounded Corners 7"/>
          <p:cNvSpPr/>
          <p:nvPr/>
        </p:nvSpPr>
        <p:spPr bwMode="auto">
          <a:xfrm>
            <a:off x="6256418" y="4021394"/>
            <a:ext cx="5791201" cy="2334762"/>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1. Income Inequality</a:t>
            </a:r>
            <a:endParaRPr/>
          </a:p>
          <a:p>
            <a:pPr>
              <a:defRPr/>
            </a:pPr>
            <a:r>
              <a:rPr lang="en-GB" sz="1600">
                <a:latin typeface="Calibri"/>
                <a:ea typeface="Calibri"/>
                <a:cs typeface="Calibri"/>
              </a:rPr>
              <a:t>•A small percentage of Pakistanis (industrialists, politicians, business owners) hold most wealth.</a:t>
            </a:r>
            <a:endParaRPr/>
          </a:p>
          <a:p>
            <a:pPr>
              <a:defRPr/>
            </a:pPr>
            <a:r>
              <a:rPr lang="en-GB" sz="1600">
                <a:latin typeface="Calibri"/>
                <a:ea typeface="Calibri"/>
                <a:cs typeface="Calibri"/>
              </a:rPr>
              <a:t>•Millions of people live below the poverty line, struggling for necessities like food, water, and electricity.</a:t>
            </a:r>
            <a:endParaRPr/>
          </a:p>
          <a:p>
            <a:pPr>
              <a:defRPr/>
            </a:pPr>
            <a:r>
              <a:rPr lang="en-GB" sz="1600">
                <a:latin typeface="Calibri"/>
                <a:ea typeface="Calibri"/>
                <a:cs typeface="Calibri"/>
              </a:rPr>
              <a:t>•Example: Urban elites in Karachi or Lahore earn millions, while rural farmers in Sindh or Balochistan earn very little.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A0A0A"/>
        </a:solidFill>
      </p:bgPr>
    </p:bg>
    <p:spTree>
      <p:nvGrpSpPr>
        <p:cNvPr id="1" name=""/>
        <p:cNvGrpSpPr/>
        <p:nvPr/>
      </p:nvGrpSpPr>
      <p:grpSpPr bwMode="auto">
        <a:xfrm>
          <a:off x="0" y="0"/>
          <a:ext cx="0" cy="0"/>
          <a:chOff x="0" y="0"/>
          <a:chExt cx="0" cy="0"/>
        </a:xfrm>
      </p:grpSpPr>
      <p:pic>
        <p:nvPicPr>
          <p:cNvPr id="98955104" name="Google Shape;161;p17"/>
          <p:cNvPicPr/>
          <p:nvPr/>
        </p:nvPicPr>
        <p:blipFill rotWithShape="1">
          <a:blip r:embed="rId3">
            <a:alphaModFix amt="50000"/>
          </a:blip>
          <a:stretch/>
        </p:blipFill>
        <p:spPr bwMode="auto">
          <a:xfrm>
            <a:off x="-285135" y="0"/>
            <a:ext cx="6381135" cy="6858000"/>
          </a:xfrm>
          <a:prstGeom prst="rect">
            <a:avLst/>
          </a:prstGeom>
          <a:noFill/>
          <a:ln>
            <a:noFill/>
          </a:ln>
        </p:spPr>
      </p:pic>
      <p:sp>
        <p:nvSpPr>
          <p:cNvPr id="1652378256" name="Google Shape;103;p13"/>
          <p:cNvSpPr txBox="1"/>
          <p:nvPr/>
        </p:nvSpPr>
        <p:spPr bwMode="auto">
          <a:xfrm>
            <a:off x="6381750" y="408921"/>
            <a:ext cx="5066346"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GB" sz="2800" b="1" i="0" u="none" strike="noStrike" cap="none">
                <a:solidFill>
                  <a:srgbClr val="FFFFFF"/>
                </a:solidFill>
                <a:latin typeface="Calibri"/>
                <a:ea typeface="Calibri"/>
                <a:cs typeface="Calibri"/>
              </a:rPr>
              <a:t>Socio-Economic Inequality in Pakistan</a:t>
            </a:r>
            <a:endParaRPr sz="2800">
              <a:latin typeface="Calibri"/>
              <a:ea typeface="Calibri"/>
              <a:cs typeface="Calibri"/>
            </a:endParaRPr>
          </a:p>
        </p:txBody>
      </p:sp>
      <p:sp>
        <p:nvSpPr>
          <p:cNvPr id="1207592219" name="Google Shape;102;p13"/>
          <p:cNvSpPr txBox="1"/>
          <p:nvPr/>
        </p:nvSpPr>
        <p:spPr bwMode="auto">
          <a:xfrm>
            <a:off x="6381750" y="1380470"/>
            <a:ext cx="255270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100" b="1" i="0" u="none" strike="noStrike" cap="none">
                <a:solidFill>
                  <a:srgbClr val="DEFF9A"/>
                </a:solidFill>
                <a:latin typeface="Calibri"/>
                <a:ea typeface="Calibri"/>
                <a:cs typeface="Calibri"/>
              </a:rPr>
              <a:t>Wajiha Eman</a:t>
            </a:r>
            <a:endParaRPr/>
          </a:p>
        </p:txBody>
      </p:sp>
      <p:sp>
        <p:nvSpPr>
          <p:cNvPr id="1207952852" name="Rectangle: Rounded Corners 1"/>
          <p:cNvSpPr/>
          <p:nvPr/>
        </p:nvSpPr>
        <p:spPr bwMode="auto">
          <a:xfrm>
            <a:off x="6256420" y="1659522"/>
            <a:ext cx="5791201" cy="1614619"/>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2. Education Inequality</a:t>
            </a:r>
            <a:endParaRPr/>
          </a:p>
          <a:p>
            <a:pPr lvl="0">
              <a:defRPr/>
            </a:pPr>
            <a:r>
              <a:rPr lang="en-GB" sz="1600">
                <a:latin typeface="Calibri"/>
                <a:ea typeface="Calibri"/>
                <a:cs typeface="Calibri"/>
              </a:rPr>
              <a:t>•Private schools in urban areas provide high-quality education.</a:t>
            </a:r>
            <a:endParaRPr/>
          </a:p>
          <a:p>
            <a:pPr lvl="0">
              <a:defRPr/>
            </a:pPr>
            <a:r>
              <a:rPr lang="en-GB" sz="1600">
                <a:latin typeface="Calibri"/>
                <a:ea typeface="Calibri"/>
                <a:cs typeface="Calibri"/>
              </a:rPr>
              <a:t>•Public schools, especially in rural areas, suffer from poor infrastructure, lack of teachers, and outdated curricula.</a:t>
            </a:r>
            <a:endParaRPr/>
          </a:p>
          <a:p>
            <a:pPr lvl="0">
              <a:defRPr/>
            </a:pPr>
            <a:r>
              <a:rPr lang="en-GB" sz="1600">
                <a:latin typeface="Calibri"/>
                <a:ea typeface="Calibri"/>
                <a:cs typeface="Calibri"/>
              </a:rPr>
              <a:t>•Many children, especially girls, drop out due to poverty, child labour, or cultural barriers.</a:t>
            </a:r>
            <a:endParaRPr/>
          </a:p>
        </p:txBody>
      </p:sp>
      <p:sp>
        <p:nvSpPr>
          <p:cNvPr id="95721449" name="Rectangle: Rounded Corners 7"/>
          <p:cNvSpPr/>
          <p:nvPr/>
        </p:nvSpPr>
        <p:spPr bwMode="auto">
          <a:xfrm>
            <a:off x="6256418" y="3383918"/>
            <a:ext cx="5791201" cy="1689527"/>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3. Health Inequality</a:t>
            </a:r>
            <a:endParaRPr/>
          </a:p>
          <a:p>
            <a:pPr>
              <a:defRPr/>
            </a:pPr>
            <a:r>
              <a:rPr lang="en-GB" sz="1600">
                <a:latin typeface="Calibri"/>
                <a:ea typeface="Calibri"/>
                <a:cs typeface="Calibri"/>
              </a:rPr>
              <a:t>•Wealthy people go to private hospitals like Aga Khan or Shaukat Khanum.</a:t>
            </a:r>
            <a:endParaRPr/>
          </a:p>
          <a:p>
            <a:pPr>
              <a:defRPr/>
            </a:pPr>
            <a:r>
              <a:rPr lang="en-GB" sz="1600">
                <a:latin typeface="Calibri"/>
                <a:ea typeface="Calibri"/>
                <a:cs typeface="Calibri"/>
              </a:rPr>
              <a:t>•Poor people depend on government hospitals that often lack medicines, equipment, and specialists.</a:t>
            </a:r>
            <a:endParaRPr/>
          </a:p>
          <a:p>
            <a:pPr>
              <a:defRPr/>
            </a:pPr>
            <a:r>
              <a:rPr lang="en-GB" sz="1600">
                <a:latin typeface="Calibri"/>
                <a:ea typeface="Calibri"/>
                <a:cs typeface="Calibri"/>
              </a:rPr>
              <a:t>•Rural areas face extreme shortages of healthcare facilities.</a:t>
            </a:r>
            <a:endParaRPr/>
          </a:p>
        </p:txBody>
      </p:sp>
      <p:sp>
        <p:nvSpPr>
          <p:cNvPr id="890975623" name="Rectangle: Rounded Corners 4"/>
          <p:cNvSpPr/>
          <p:nvPr/>
        </p:nvSpPr>
        <p:spPr bwMode="auto">
          <a:xfrm>
            <a:off x="6256418" y="5073446"/>
            <a:ext cx="5791201" cy="1375634"/>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4. Job Opportunities</a:t>
            </a:r>
            <a:endParaRPr/>
          </a:p>
          <a:p>
            <a:pPr>
              <a:defRPr/>
            </a:pPr>
            <a:r>
              <a:rPr lang="en-GB" sz="1600">
                <a:latin typeface="Calibri"/>
                <a:ea typeface="Calibri"/>
                <a:cs typeface="Calibri"/>
              </a:rPr>
              <a:t>•Urban centres have more job opportunities in IT, banking, industry, and services.</a:t>
            </a:r>
            <a:endParaRPr/>
          </a:p>
          <a:p>
            <a:pPr>
              <a:defRPr/>
            </a:pPr>
            <a:r>
              <a:rPr lang="en-GB" sz="1600">
                <a:latin typeface="Calibri"/>
                <a:ea typeface="Calibri"/>
                <a:cs typeface="Calibri"/>
              </a:rPr>
              <a:t>•Rural areas depend on agriculture and informal jobs, which are low-paying and seasonal.</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A0A0A"/>
        </a:solidFill>
      </p:bgPr>
    </p:bg>
    <p:spTree>
      <p:nvGrpSpPr>
        <p:cNvPr id="1" name=""/>
        <p:cNvGrpSpPr/>
        <p:nvPr/>
      </p:nvGrpSpPr>
      <p:grpSpPr bwMode="auto">
        <a:xfrm>
          <a:off x="0" y="0"/>
          <a:ext cx="0" cy="0"/>
          <a:chOff x="0" y="0"/>
          <a:chExt cx="0" cy="0"/>
        </a:xfrm>
      </p:grpSpPr>
      <p:pic>
        <p:nvPicPr>
          <p:cNvPr id="196459691" name="Google Shape;161;p17"/>
          <p:cNvPicPr/>
          <p:nvPr/>
        </p:nvPicPr>
        <p:blipFill rotWithShape="1">
          <a:blip r:embed="rId3">
            <a:alphaModFix amt="50000"/>
          </a:blip>
          <a:srcRect l="3824" t="946" r="-170" b="-946"/>
          <a:stretch/>
        </p:blipFill>
        <p:spPr bwMode="auto">
          <a:xfrm flipH="0" flipV="0">
            <a:off x="-41079" y="64942"/>
            <a:ext cx="6147954" cy="6858000"/>
          </a:xfrm>
          <a:prstGeom prst="rect">
            <a:avLst/>
          </a:prstGeom>
          <a:noFill/>
          <a:ln>
            <a:noFill/>
          </a:ln>
        </p:spPr>
      </p:pic>
      <p:sp>
        <p:nvSpPr>
          <p:cNvPr id="596417372" name="Google Shape;103;p13"/>
          <p:cNvSpPr txBox="1"/>
          <p:nvPr/>
        </p:nvSpPr>
        <p:spPr bwMode="auto">
          <a:xfrm>
            <a:off x="6381750" y="408921"/>
            <a:ext cx="5066346"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GB" sz="2800" b="1" i="0" u="none" strike="noStrike" cap="none">
                <a:solidFill>
                  <a:srgbClr val="FFFFFF"/>
                </a:solidFill>
                <a:latin typeface="Calibri"/>
                <a:ea typeface="Calibri"/>
                <a:cs typeface="Calibri"/>
              </a:rPr>
              <a:t>Socio-Economic Inequality in Pakistan</a:t>
            </a:r>
            <a:endParaRPr sz="2800">
              <a:latin typeface="Calibri"/>
              <a:ea typeface="Calibri"/>
              <a:cs typeface="Calibri"/>
            </a:endParaRPr>
          </a:p>
        </p:txBody>
      </p:sp>
      <p:sp>
        <p:nvSpPr>
          <p:cNvPr id="784228225" name="Google Shape;102;p13"/>
          <p:cNvSpPr txBox="1"/>
          <p:nvPr/>
        </p:nvSpPr>
        <p:spPr bwMode="auto">
          <a:xfrm>
            <a:off x="6381750" y="1380470"/>
            <a:ext cx="255270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100" b="1" i="0" u="none" strike="noStrike" cap="none">
                <a:solidFill>
                  <a:srgbClr val="DEFF9A"/>
                </a:solidFill>
                <a:latin typeface="Calibri"/>
                <a:ea typeface="Calibri"/>
                <a:cs typeface="Calibri"/>
              </a:rPr>
              <a:t>Wajiha Eman</a:t>
            </a:r>
            <a:endParaRPr/>
          </a:p>
        </p:txBody>
      </p:sp>
      <p:sp>
        <p:nvSpPr>
          <p:cNvPr id="1921667195" name="Rectangle: Rounded Corners 1"/>
          <p:cNvSpPr/>
          <p:nvPr/>
        </p:nvSpPr>
        <p:spPr bwMode="auto">
          <a:xfrm>
            <a:off x="6256420" y="1659524"/>
            <a:ext cx="5791201" cy="1260658"/>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5. Living Conditions</a:t>
            </a:r>
            <a:endParaRPr/>
          </a:p>
          <a:p>
            <a:pPr lvl="0">
              <a:defRPr/>
            </a:pPr>
            <a:r>
              <a:rPr lang="en-GB" sz="1600">
                <a:latin typeface="Calibri"/>
                <a:ea typeface="Calibri"/>
                <a:cs typeface="Calibri"/>
              </a:rPr>
              <a:t>•Elite neighbourhoods have clean water, electricity, and security.</a:t>
            </a:r>
            <a:endParaRPr/>
          </a:p>
          <a:p>
            <a:pPr lvl="0">
              <a:defRPr/>
            </a:pPr>
            <a:r>
              <a:rPr lang="en-GB" sz="1600">
                <a:latin typeface="Calibri"/>
                <a:ea typeface="Calibri"/>
                <a:cs typeface="Calibri"/>
              </a:rPr>
              <a:t>•Slums in big cities and villages in remote areas face poor sanitation, unsafe housing, and lack of clean water.</a:t>
            </a:r>
            <a:endParaRPr/>
          </a:p>
        </p:txBody>
      </p:sp>
      <p:sp>
        <p:nvSpPr>
          <p:cNvPr id="1557295097" name="Rectangle: Rounded Corners 7"/>
          <p:cNvSpPr/>
          <p:nvPr/>
        </p:nvSpPr>
        <p:spPr bwMode="auto">
          <a:xfrm>
            <a:off x="6256417" y="3056998"/>
            <a:ext cx="5791201" cy="1689527"/>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6. Gender Inequality</a:t>
            </a:r>
            <a:endParaRPr/>
          </a:p>
          <a:p>
            <a:pPr>
              <a:defRPr/>
            </a:pPr>
            <a:r>
              <a:rPr lang="en-GB" sz="1600">
                <a:latin typeface="Calibri"/>
                <a:ea typeface="Calibri"/>
                <a:cs typeface="Calibri"/>
              </a:rPr>
              <a:t>•Women have lower literacy rates and fewer job opportunities.</a:t>
            </a:r>
            <a:endParaRPr/>
          </a:p>
          <a:p>
            <a:pPr>
              <a:defRPr/>
            </a:pPr>
            <a:r>
              <a:rPr lang="en-GB" sz="1600">
                <a:latin typeface="Calibri"/>
                <a:ea typeface="Calibri"/>
                <a:cs typeface="Calibri"/>
              </a:rPr>
              <a:t>•Cultural norms in some areas restrict women’s mobility and decision-making.</a:t>
            </a:r>
            <a:endParaRPr/>
          </a:p>
          <a:p>
            <a:pPr>
              <a:defRPr/>
            </a:pPr>
            <a:r>
              <a:rPr lang="en-GB" sz="1600">
                <a:latin typeface="Calibri"/>
                <a:ea typeface="Calibri"/>
                <a:cs typeface="Calibri"/>
              </a:rPr>
              <a:t>•Example: In rural Sindh or Balochistan, many girls are married young and cannot continue education.</a:t>
            </a:r>
            <a:endParaRPr/>
          </a:p>
        </p:txBody>
      </p:sp>
      <p:sp>
        <p:nvSpPr>
          <p:cNvPr id="1236047510" name="Rectangle: Rounded Corners 4"/>
          <p:cNvSpPr/>
          <p:nvPr/>
        </p:nvSpPr>
        <p:spPr bwMode="auto">
          <a:xfrm>
            <a:off x="6256416" y="4883340"/>
            <a:ext cx="5791201" cy="1689527"/>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7. Regional Opportunities</a:t>
            </a:r>
            <a:endParaRPr/>
          </a:p>
          <a:p>
            <a:pPr>
              <a:defRPr/>
            </a:pPr>
            <a:r>
              <a:rPr lang="en-GB" sz="1600">
                <a:latin typeface="Calibri"/>
                <a:ea typeface="Calibri"/>
                <a:cs typeface="Calibri"/>
              </a:rPr>
              <a:t>•Punjab and urban Sindh are more developed.</a:t>
            </a:r>
            <a:endParaRPr/>
          </a:p>
          <a:p>
            <a:pPr>
              <a:defRPr/>
            </a:pPr>
            <a:r>
              <a:rPr lang="en-GB" sz="1600">
                <a:latin typeface="Calibri"/>
                <a:ea typeface="Calibri"/>
                <a:cs typeface="Calibri"/>
              </a:rPr>
              <a:t>•Balochistan and northern rural areas have fewer schools, hospitals, and roads.</a:t>
            </a:r>
            <a:endParaRPr/>
          </a:p>
          <a:p>
            <a:pPr>
              <a:defRPr/>
            </a:pPr>
            <a:r>
              <a:rPr lang="en-GB" sz="1600">
                <a:latin typeface="Calibri"/>
                <a:ea typeface="Calibri"/>
                <a:cs typeface="Calibri"/>
              </a:rPr>
              <a:t>•This creates migration to cities, overcrowding, and pressure on urban services.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A0A0A"/>
        </a:solidFill>
      </p:bgPr>
    </p:bg>
    <p:spTree>
      <p:nvGrpSpPr>
        <p:cNvPr id="1" name=""/>
        <p:cNvGrpSpPr/>
        <p:nvPr/>
      </p:nvGrpSpPr>
      <p:grpSpPr bwMode="auto">
        <a:xfrm>
          <a:off x="0" y="0"/>
          <a:ext cx="0" cy="0"/>
          <a:chOff x="0" y="0"/>
          <a:chExt cx="0" cy="0"/>
        </a:xfrm>
      </p:grpSpPr>
      <p:pic>
        <p:nvPicPr>
          <p:cNvPr id="1730644579" name="Google Shape;161;p17"/>
          <p:cNvPicPr/>
          <p:nvPr/>
        </p:nvPicPr>
        <p:blipFill rotWithShape="1">
          <a:blip r:embed="rId3">
            <a:alphaModFix amt="50000"/>
          </a:blip>
          <a:srcRect l="4469" t="0" r="0" b="0"/>
          <a:stretch/>
        </p:blipFill>
        <p:spPr bwMode="auto">
          <a:xfrm>
            <a:off x="0" y="0"/>
            <a:ext cx="6096000" cy="6858000"/>
          </a:xfrm>
          <a:prstGeom prst="rect">
            <a:avLst/>
          </a:prstGeom>
          <a:noFill/>
          <a:ln>
            <a:noFill/>
          </a:ln>
        </p:spPr>
      </p:pic>
      <p:sp>
        <p:nvSpPr>
          <p:cNvPr id="327995276" name="Google Shape;103;p13"/>
          <p:cNvSpPr txBox="1"/>
          <p:nvPr/>
        </p:nvSpPr>
        <p:spPr bwMode="auto">
          <a:xfrm>
            <a:off x="6381750" y="408921"/>
            <a:ext cx="5066346"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GB" sz="2800" b="1" i="0" u="none" strike="noStrike" cap="none">
                <a:solidFill>
                  <a:srgbClr val="FFFFFF"/>
                </a:solidFill>
                <a:latin typeface="Calibri"/>
                <a:ea typeface="Calibri"/>
                <a:cs typeface="Calibri"/>
              </a:rPr>
              <a:t>Socio-Economic Inequality in Pakistan</a:t>
            </a:r>
            <a:endParaRPr sz="2800">
              <a:latin typeface="Calibri"/>
              <a:ea typeface="Calibri"/>
              <a:cs typeface="Calibri"/>
            </a:endParaRPr>
          </a:p>
        </p:txBody>
      </p:sp>
      <p:sp>
        <p:nvSpPr>
          <p:cNvPr id="1410583759" name="Google Shape;102;p13"/>
          <p:cNvSpPr txBox="1"/>
          <p:nvPr/>
        </p:nvSpPr>
        <p:spPr bwMode="auto">
          <a:xfrm>
            <a:off x="6381750" y="1380470"/>
            <a:ext cx="255270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100" b="1" i="0" u="none" strike="noStrike" cap="none">
                <a:solidFill>
                  <a:srgbClr val="DEFF9A"/>
                </a:solidFill>
                <a:latin typeface="Calibri"/>
                <a:ea typeface="Calibri"/>
                <a:cs typeface="Calibri"/>
              </a:rPr>
              <a:t>Wajiha Eman</a:t>
            </a:r>
            <a:endParaRPr/>
          </a:p>
        </p:txBody>
      </p:sp>
      <p:sp>
        <p:nvSpPr>
          <p:cNvPr id="2086840034" name="Rectangle: Rounded Corners 1"/>
          <p:cNvSpPr/>
          <p:nvPr/>
        </p:nvSpPr>
        <p:spPr bwMode="auto">
          <a:xfrm>
            <a:off x="6256420" y="1659522"/>
            <a:ext cx="5791201" cy="2120910"/>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Causes of Inequality</a:t>
            </a:r>
            <a:endParaRPr/>
          </a:p>
          <a:p>
            <a:pPr lvl="0">
              <a:defRPr/>
            </a:pPr>
            <a:r>
              <a:rPr lang="en-GB" sz="1600">
                <a:latin typeface="Calibri"/>
                <a:ea typeface="Calibri"/>
                <a:cs typeface="Calibri"/>
              </a:rPr>
              <a:t>•Unequal access to quality education.</a:t>
            </a:r>
            <a:endParaRPr/>
          </a:p>
          <a:p>
            <a:pPr lvl="0">
              <a:defRPr/>
            </a:pPr>
            <a:r>
              <a:rPr lang="en-GB" sz="1600">
                <a:latin typeface="Calibri"/>
                <a:ea typeface="Calibri"/>
                <a:cs typeface="Calibri"/>
              </a:rPr>
              <a:t>•Concentration of wealth among elites.</a:t>
            </a:r>
            <a:endParaRPr/>
          </a:p>
          <a:p>
            <a:pPr lvl="0">
              <a:defRPr/>
            </a:pPr>
            <a:r>
              <a:rPr lang="en-GB" sz="1600">
                <a:latin typeface="Calibri"/>
                <a:ea typeface="Calibri"/>
                <a:cs typeface="Calibri"/>
              </a:rPr>
              <a:t>•Poor government policies and corruption.</a:t>
            </a:r>
            <a:endParaRPr/>
          </a:p>
          <a:p>
            <a:pPr lvl="0">
              <a:defRPr/>
            </a:pPr>
            <a:r>
              <a:rPr lang="en-GB" sz="1600">
                <a:latin typeface="Calibri"/>
                <a:ea typeface="Calibri"/>
                <a:cs typeface="Calibri"/>
              </a:rPr>
              <a:t>•Lack of industrialization and job opportunities in rural areas.</a:t>
            </a:r>
            <a:endParaRPr/>
          </a:p>
          <a:p>
            <a:pPr lvl="0">
              <a:defRPr/>
            </a:pPr>
            <a:r>
              <a:rPr lang="en-GB" sz="1600">
                <a:latin typeface="Calibri"/>
                <a:ea typeface="Calibri"/>
                <a:cs typeface="Calibri"/>
              </a:rPr>
              <a:t>•Gender discrimination limits women’s contribution.</a:t>
            </a:r>
            <a:endParaRPr/>
          </a:p>
          <a:p>
            <a:pPr lvl="0">
              <a:defRPr/>
            </a:pPr>
            <a:r>
              <a:rPr lang="en-GB" sz="1600">
                <a:latin typeface="Calibri"/>
                <a:ea typeface="Calibri"/>
                <a:cs typeface="Calibri"/>
              </a:rPr>
              <a:t>•Political instability and weak governance.</a:t>
            </a:r>
            <a:endParaRPr/>
          </a:p>
        </p:txBody>
      </p:sp>
      <p:sp>
        <p:nvSpPr>
          <p:cNvPr id="1168687928" name="Rectangle: Rounded Corners 7"/>
          <p:cNvSpPr/>
          <p:nvPr/>
        </p:nvSpPr>
        <p:spPr bwMode="auto">
          <a:xfrm>
            <a:off x="6256418" y="3848100"/>
            <a:ext cx="5791201" cy="2719848"/>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Effects in Pakistan</a:t>
            </a:r>
            <a:endParaRPr/>
          </a:p>
          <a:p>
            <a:pPr>
              <a:defRPr/>
            </a:pPr>
            <a:r>
              <a:rPr lang="en-GB" sz="1600">
                <a:latin typeface="Calibri"/>
                <a:ea typeface="Calibri"/>
                <a:cs typeface="Calibri"/>
              </a:rPr>
              <a:t>•Extreme poverty rate: Millions live on less than $2 a day.</a:t>
            </a:r>
            <a:endParaRPr/>
          </a:p>
          <a:p>
            <a:pPr>
              <a:defRPr/>
            </a:pPr>
            <a:r>
              <a:rPr lang="en-GB" sz="1600">
                <a:latin typeface="Calibri"/>
                <a:ea typeface="Calibri"/>
                <a:cs typeface="Calibri"/>
              </a:rPr>
              <a:t>•Poor health and nutrition: Malnutrition and infant mortality are high in rural areas.</a:t>
            </a:r>
            <a:endParaRPr/>
          </a:p>
          <a:p>
            <a:pPr>
              <a:defRPr/>
            </a:pPr>
            <a:r>
              <a:rPr lang="en-GB" sz="1600">
                <a:latin typeface="Calibri"/>
                <a:ea typeface="Calibri"/>
                <a:cs typeface="Calibri"/>
              </a:rPr>
              <a:t>•Crime and unrest: Economic frustration leads to theft, gang violence, and protests.</a:t>
            </a:r>
            <a:endParaRPr/>
          </a:p>
          <a:p>
            <a:pPr>
              <a:defRPr/>
            </a:pPr>
            <a:r>
              <a:rPr lang="en-GB" sz="1600">
                <a:latin typeface="Calibri"/>
                <a:ea typeface="Calibri"/>
                <a:cs typeface="Calibri"/>
              </a:rPr>
              <a:t>•Slow economic growth: Inequality limits human capital and productivity.</a:t>
            </a:r>
            <a:endParaRPr/>
          </a:p>
          <a:p>
            <a:pPr>
              <a:defRPr/>
            </a:pPr>
            <a:r>
              <a:rPr lang="en-GB" sz="1600">
                <a:latin typeface="Calibri"/>
                <a:ea typeface="Calibri"/>
                <a:cs typeface="Calibri"/>
              </a:rPr>
              <a:t>•Social divisions: Tensions between rich and poor, urban vs rural, and different provinces.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A0A0A"/>
        </a:solidFill>
      </p:bgPr>
    </p:bg>
    <p:spTree>
      <p:nvGrpSpPr>
        <p:cNvPr id="1" name=""/>
        <p:cNvGrpSpPr/>
        <p:nvPr/>
      </p:nvGrpSpPr>
      <p:grpSpPr bwMode="auto">
        <a:xfrm>
          <a:off x="0" y="0"/>
          <a:ext cx="0" cy="0"/>
          <a:chOff x="0" y="0"/>
          <a:chExt cx="0" cy="0"/>
        </a:xfrm>
      </p:grpSpPr>
      <p:pic>
        <p:nvPicPr>
          <p:cNvPr id="2142478070" name="Google Shape;161;p17"/>
          <p:cNvPicPr/>
          <p:nvPr/>
        </p:nvPicPr>
        <p:blipFill rotWithShape="1">
          <a:blip r:embed="rId3">
            <a:alphaModFix amt="50000"/>
          </a:blip>
          <a:srcRect l="4469" t="0" r="0" b="0"/>
          <a:stretch/>
        </p:blipFill>
        <p:spPr bwMode="auto">
          <a:xfrm>
            <a:off x="0" y="0"/>
            <a:ext cx="6096000" cy="6858000"/>
          </a:xfrm>
          <a:prstGeom prst="rect">
            <a:avLst/>
          </a:prstGeom>
          <a:noFill/>
          <a:ln>
            <a:noFill/>
          </a:ln>
        </p:spPr>
      </p:pic>
      <p:sp>
        <p:nvSpPr>
          <p:cNvPr id="1318390329" name="Google Shape;103;p13"/>
          <p:cNvSpPr txBox="1"/>
          <p:nvPr/>
        </p:nvSpPr>
        <p:spPr bwMode="auto">
          <a:xfrm>
            <a:off x="6381750" y="408921"/>
            <a:ext cx="5066346"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GB" sz="2800" b="1" i="0" u="none" strike="noStrike" cap="none">
                <a:solidFill>
                  <a:srgbClr val="FFFFFF"/>
                </a:solidFill>
                <a:latin typeface="Calibri"/>
                <a:ea typeface="Calibri"/>
                <a:cs typeface="Calibri"/>
              </a:rPr>
              <a:t>Socio-Economic Inequality in Pakistan</a:t>
            </a:r>
            <a:endParaRPr sz="2800">
              <a:latin typeface="Calibri"/>
              <a:ea typeface="Calibri"/>
              <a:cs typeface="Calibri"/>
            </a:endParaRPr>
          </a:p>
        </p:txBody>
      </p:sp>
      <p:sp>
        <p:nvSpPr>
          <p:cNvPr id="1901035852" name="Google Shape;102;p13"/>
          <p:cNvSpPr txBox="1"/>
          <p:nvPr/>
        </p:nvSpPr>
        <p:spPr bwMode="auto">
          <a:xfrm>
            <a:off x="6381750" y="1380470"/>
            <a:ext cx="255270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defRPr/>
            </a:pPr>
            <a:r>
              <a:rPr lang="en-US" sz="1100" b="1" i="0" u="none" strike="noStrike" cap="none">
                <a:solidFill>
                  <a:srgbClr val="DEFF9A"/>
                </a:solidFill>
                <a:latin typeface="Calibri"/>
                <a:ea typeface="Calibri"/>
                <a:cs typeface="Calibri"/>
              </a:rPr>
              <a:t>Wajiha Eman</a:t>
            </a:r>
            <a:endParaRPr/>
          </a:p>
        </p:txBody>
      </p:sp>
      <p:sp>
        <p:nvSpPr>
          <p:cNvPr id="1945877469" name="Rectangle: Rounded Corners 1"/>
          <p:cNvSpPr/>
          <p:nvPr/>
        </p:nvSpPr>
        <p:spPr bwMode="auto">
          <a:xfrm>
            <a:off x="6256420" y="1659522"/>
            <a:ext cx="5791201" cy="2120910"/>
          </a:xfrm>
          <a:prstGeom prst="roundRect">
            <a:avLst>
              <a:gd name="adj" fmla="val 15852"/>
            </a:avLst>
          </a:prstGeom>
          <a:solidFill>
            <a:srgbClr val="1A1A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GB" sz="2000" b="1">
                <a:solidFill>
                  <a:srgbClr val="DEFF9A"/>
                </a:solidFill>
                <a:latin typeface="Calibri"/>
                <a:ea typeface="Calibri"/>
                <a:cs typeface="Calibri"/>
              </a:rPr>
              <a:t>Conclusion</a:t>
            </a:r>
            <a:endParaRPr/>
          </a:p>
          <a:p>
            <a:pPr lvl="0">
              <a:defRPr/>
            </a:pPr>
            <a:r>
              <a:rPr lang="en-GB" sz="1600">
                <a:latin typeface="Calibri"/>
                <a:ea typeface="Calibri"/>
                <a:cs typeface="Calibri"/>
              </a:rPr>
              <a:t>In Pakistan, socio-economic inequality is a severe problem because wealth, education, healthcare, and jobs are not evenly distributed. Urban elites thrive while rural populations and women often struggle. Addressing these issues requires better governance, education reforms, healthcare access, and policies for fair wealth distribution.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1000" advClick="1">
        <p:fade thruBlk="0"/>
      </p:transition>
    </mc:Choice>
    <mc:Fallback>
      <p:transition spd="med" advClick="1">
        <p:fade thruBlk="0"/>
      </p:transition>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ONLYOFFICE/9.2.1.43</Application>
  <PresentationFormat>On-screen Show (4:3)</PresentationFormat>
  <Paragraphs>0</Paragraphs>
  <Slides>28</Slides>
  <Notes>28</Notes>
  <HiddenSlides>0</HiddenSlides>
  <MMClips>2</MMClips>
  <ScaleCrop>0</ScaleCrop>
  <HeadingPairs>
    <vt:vector size="4" baseType="variant">
      <vt:variant>
        <vt:lpstr>Theme</vt:lpstr>
      </vt:variant>
      <vt:variant>
        <vt:i4>1</vt:i4>
      </vt:variant>
      <vt:variant>
        <vt:lpstr>Slide Titles</vt:lpstr>
      </vt:variant>
      <vt:variant>
        <vt:i4>28</vt:i4>
      </vt:variant>
    </vt:vector>
  </HeadingPairs>
  <TitlesOfParts>
    <vt:vector size="29"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revision>11</cp:revision>
  <dcterms:modified xsi:type="dcterms:W3CDTF">2026-01-02T16:35:13Z</dcterms:modified>
</cp:coreProperties>
</file>